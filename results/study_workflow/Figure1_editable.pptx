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b7f67be4014f6b" /><Relationship Type="http://schemas.openxmlformats.org/officeDocument/2006/relationships/extended-properties" Target="/docProps/app.xml" Id="Ref65d1e4c1004ec8" /><Relationship Type="http://schemas.openxmlformats.org/officeDocument/2006/relationships/officeDocument" Target="/ppt/presentation.xml" Id="R8f8c41e69b1b4e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057caa75694a9e"/>
  </p:sldMasterIdLst>
  <p:notesMasterIdLst>
    <p:notesMasterId xmlns:r="http://schemas.openxmlformats.org/officeDocument/2006/relationships" r:id="R3c817f536329450f"/>
  </p:notesMasterIdLst>
  <p:sldIdLst>
    <p:sldId xmlns:r="http://schemas.openxmlformats.org/officeDocument/2006/relationships" id="256" r:id="Rf57076858a964587"/>
  </p:sldIdLst>
  <p:sldSz cx="137160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71501a048c41b2" /><Relationship Type="http://schemas.openxmlformats.org/officeDocument/2006/relationships/slideMaster" Target="/ppt/slideMasters/slideMaster1.xml" Id="R9e057caa75694a9e" /><Relationship Type="http://schemas.openxmlformats.org/officeDocument/2006/relationships/notesMaster" Target="/ppt/notesMasters/notesMaster1.xml" Id="R3c817f536329450f" /><Relationship Type="http://schemas.openxmlformats.org/officeDocument/2006/relationships/presProps" Target="/ppt/presProps.xml" Id="R1571961e6bc2461c" /><Relationship Type="http://schemas.openxmlformats.org/officeDocument/2006/relationships/tableStyles" Target="/ppt/tableStyles.xml" Id="R5d00c887be304708" /><Relationship Type="http://schemas.openxmlformats.org/officeDocument/2006/relationships/slide" Target="/ppt/slides/slide1.xml" Id="Rf57076858a96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590683d5fb48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0dd8e136694856" /><Relationship Type="http://schemas.openxmlformats.org/officeDocument/2006/relationships/notesMaster" Target="/ppt/notesMasters/notesMaster1.xml" Id="Rc1309f3bc92f41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 workflow for the manuscript. Aggregate trial counts from the supplied manuscript; no patient-level data or model parameters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6315b2f7b4a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4a7f3af7e45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10ef3ad0b4e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a980d3d984a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dbd830a2b46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a54a9c85a47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D0B225-4730-4D43-9786-D06A44880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108960"/>
            <a:ext cx="10972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ED953E-6174-44FE-A6F8-7B18FB1086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526280"/>
            <a:ext cx="960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862042-7A7C-4616-A541-608EA0FB62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429000"/>
            <a:ext cx="10972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92B08C-8989-47AE-90B6-93E123AA6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40080"/>
            <a:ext cx="1217295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6FCFAA-ACFB-44C0-8676-8002521675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286000"/>
            <a:ext cx="1217295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B42574-EC19-4275-B568-BED14F44F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40080"/>
            <a:ext cx="1217295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46D986-946B-4C1C-A93C-B08D84BA07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286000"/>
            <a:ext cx="565785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183486-73F4-42D2-A4D8-5CCFC1783F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286000"/>
            <a:ext cx="565785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9793F7-F3C4-4055-88EB-53CEF0051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40080"/>
            <a:ext cx="1217295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44A4B9-6CEF-4423-BCD6-5F68768073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286000"/>
            <a:ext cx="565785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56f01be08a4a72" /><Relationship Type="http://schemas.openxmlformats.org/officeDocument/2006/relationships/slideLayout" Target="/ppt/slideLayouts/slideLayout1.xml" Id="R9097ddb4fa8846ed" /><Relationship Type="http://schemas.openxmlformats.org/officeDocument/2006/relationships/slideLayout" Target="/ppt/slideLayouts/slideLayout2.xml" Id="Rb2f398c52eee4606" /><Relationship Type="http://schemas.openxmlformats.org/officeDocument/2006/relationships/slideLayout" Target="/ppt/slideLayouts/slideLayout3.xml" Id="Rcf913bdd5b394bf6" /><Relationship Type="http://schemas.openxmlformats.org/officeDocument/2006/relationships/slideLayout" Target="/ppt/slideLayouts/slideLayout4.xml" Id="R5efba29dc9eb4250" /><Relationship Type="http://schemas.openxmlformats.org/officeDocument/2006/relationships/slideLayout" Target="/ppt/slideLayouts/slideLayout5.xml" Id="R942a8e3082174d50" /><Relationship Type="http://schemas.openxmlformats.org/officeDocument/2006/relationships/slideLayout" Target="/ppt/slideLayouts/slideLayout6.xml" Id="Rb4f3e9f89a87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7ddb4fa8846ed"/>
    <p:sldLayoutId xmlns:r="http://schemas.openxmlformats.org/officeDocument/2006/relationships" id="2147483650" r:id="Rb2f398c52eee4606"/>
    <p:sldLayoutId xmlns:r="http://schemas.openxmlformats.org/officeDocument/2006/relationships" id="2147483651" r:id="Rcf913bdd5b394bf6"/>
    <p:sldLayoutId xmlns:r="http://schemas.openxmlformats.org/officeDocument/2006/relationships" id="2147483652" r:id="R5efba29dc9eb4250"/>
    <p:sldLayoutId xmlns:r="http://schemas.openxmlformats.org/officeDocument/2006/relationships" id="2147483653" r:id="R942a8e3082174d50"/>
    <p:sldLayoutId xmlns:r="http://schemas.openxmlformats.org/officeDocument/2006/relationships" id="2147483654" r:id="Rb4f3e9f89a87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f1831139d4aab" /><Relationship Type="http://schemas.openxmlformats.org/officeDocument/2006/relationships/notesSlide" Target="/ppt/notesSlides/notesSlide1.xml" Id="R9562f34e988e44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Vector 1">
            <a:extLst xmlns:a="http://schemas.openxmlformats.org/drawingml/2006/main">
              <a:ext uri="{FF2B5EF4-FFF2-40B4-BE49-F238E27FC236}">
                <a16:creationId xmlns:a16="http://schemas.microsoft.com/office/drawing/2014/main" id="{36BE048A-0B7A-4CF1-AA8E-7B2BA5B6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8229600"/>
          </a:xfrm>
          <a:custGeom xmlns:a="http://schemas.openxmlformats.org/drawingml/2006/main">
            <a:pathLst>
              <a:path w="13716000" h="8229600">
                <a:moveTo>
                  <a:pt x="0" y="8229600"/>
                </a:moveTo>
                <a:lnTo>
                  <a:pt x="13716000" y="8229600"/>
                </a:lnTo>
                <a:lnTo>
                  <a:pt x="13716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Vector 2">
            <a:extLst xmlns:a="http://schemas.openxmlformats.org/drawingml/2006/main">
              <a:ext uri="{FF2B5EF4-FFF2-40B4-BE49-F238E27FC236}">
                <a16:creationId xmlns:a16="http://schemas.microsoft.com/office/drawing/2014/main" id="{39AE488B-FB6F-4CE5-B411-E990BCAA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1126541"/>
            <a:ext cx="3605022" cy="2293315"/>
          </a:xfrm>
          <a:custGeom xmlns:a="http://schemas.openxmlformats.org/drawingml/2006/main">
            <a:pathLst>
              <a:path w="3605022" h="2293315">
                <a:moveTo>
                  <a:pt x="0" y="2293315"/>
                </a:moveTo>
                <a:lnTo>
                  <a:pt x="3605022" y="2293315"/>
                </a:lnTo>
                <a:lnTo>
                  <a:pt x="36050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10160">
            <a:solidFill>
              <a:srgbClr val="A2B0BB"/>
            </a:solidFill>
            <a:prstDash val="solid"/>
          </a:ln>
        </p:spPr>
      </p:sp>
      <p:sp>
        <p:nvSpPr>
          <p:cNvPr id="3" name="Vector 3">
            <a:extLst xmlns:a="http://schemas.openxmlformats.org/drawingml/2006/main">
              <a:ext uri="{FF2B5EF4-FFF2-40B4-BE49-F238E27FC236}">
                <a16:creationId xmlns:a16="http://schemas.microsoft.com/office/drawing/2014/main" id="{291AD239-3EF1-4A53-BD74-F11644B8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748" y="1126541"/>
            <a:ext cx="3605022" cy="2293315"/>
          </a:xfrm>
          <a:custGeom xmlns:a="http://schemas.openxmlformats.org/drawingml/2006/main">
            <a:pathLst>
              <a:path w="3605022" h="2293315">
                <a:moveTo>
                  <a:pt x="0" y="2293315"/>
                </a:moveTo>
                <a:lnTo>
                  <a:pt x="3605022" y="2293315"/>
                </a:lnTo>
                <a:lnTo>
                  <a:pt x="36050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10160">
            <a:solidFill>
              <a:srgbClr val="A2B0BB"/>
            </a:solidFill>
            <a:prstDash val="solid"/>
          </a:ln>
        </p:spPr>
      </p:sp>
      <p:sp>
        <p:nvSpPr>
          <p:cNvPr id="4" name="Vector 4">
            <a:extLst xmlns:a="http://schemas.openxmlformats.org/drawingml/2006/main">
              <a:ext uri="{FF2B5EF4-FFF2-40B4-BE49-F238E27FC236}">
                <a16:creationId xmlns:a16="http://schemas.microsoft.com/office/drawing/2014/main" id="{856AD8CD-F4EF-44DB-BECC-E50F1D54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48" y="1126541"/>
            <a:ext cx="3995928" cy="2293315"/>
          </a:xfrm>
          <a:custGeom xmlns:a="http://schemas.openxmlformats.org/drawingml/2006/main">
            <a:pathLst>
              <a:path w="3995928" h="2293315">
                <a:moveTo>
                  <a:pt x="0" y="2293315"/>
                </a:moveTo>
                <a:lnTo>
                  <a:pt x="3995928" y="2293315"/>
                </a:lnTo>
                <a:lnTo>
                  <a:pt x="399592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10160">
            <a:solidFill>
              <a:srgbClr val="A2B0BB"/>
            </a:solidFill>
            <a:prstDash val="solid"/>
          </a:ln>
        </p:spPr>
      </p:sp>
      <p:sp>
        <p:nvSpPr>
          <p:cNvPr id="5" name="Vector 5">
            <a:extLst xmlns:a="http://schemas.openxmlformats.org/drawingml/2006/main">
              <a:ext uri="{FF2B5EF4-FFF2-40B4-BE49-F238E27FC236}">
                <a16:creationId xmlns:a16="http://schemas.microsoft.com/office/drawing/2014/main" id="{3FC57143-619B-48DA-A46A-A9EC0BF3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748" y="3975811"/>
            <a:ext cx="3605022" cy="1945843"/>
          </a:xfrm>
          <a:custGeom xmlns:a="http://schemas.openxmlformats.org/drawingml/2006/main">
            <a:pathLst>
              <a:path w="3605022" h="1945843">
                <a:moveTo>
                  <a:pt x="0" y="1945843"/>
                </a:moveTo>
                <a:lnTo>
                  <a:pt x="3605022" y="1945843"/>
                </a:lnTo>
                <a:lnTo>
                  <a:pt x="36050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10160">
            <a:solidFill>
              <a:srgbClr val="A2B0BB"/>
            </a:solidFill>
            <a:prstDash val="solid"/>
          </a:ln>
        </p:spPr>
      </p:sp>
      <p:sp>
        <p:nvSpPr>
          <p:cNvPr id="6" name="Vector 6">
            <a:extLst xmlns:a="http://schemas.openxmlformats.org/drawingml/2006/main">
              <a:ext uri="{FF2B5EF4-FFF2-40B4-BE49-F238E27FC236}">
                <a16:creationId xmlns:a16="http://schemas.microsoft.com/office/drawing/2014/main" id="{6E7732F2-6F74-4808-AAAB-DF3277D3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48" y="3975811"/>
            <a:ext cx="3995928" cy="1945843"/>
          </a:xfrm>
          <a:custGeom xmlns:a="http://schemas.openxmlformats.org/drawingml/2006/main">
            <a:pathLst>
              <a:path w="3995928" h="1945843">
                <a:moveTo>
                  <a:pt x="0" y="1945843"/>
                </a:moveTo>
                <a:lnTo>
                  <a:pt x="3995928" y="1945843"/>
                </a:lnTo>
                <a:lnTo>
                  <a:pt x="399592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10160">
            <a:solidFill>
              <a:srgbClr val="A2B0BB"/>
            </a:solidFill>
            <a:prstDash val="solid"/>
          </a:ln>
        </p:spPr>
      </p:sp>
      <p:sp>
        <p:nvSpPr>
          <p:cNvPr id="7" name="Text 7: H&amp;E representation">
            <a:extLst xmlns:a="http://schemas.openxmlformats.org/drawingml/2006/main">
              <a:ext uri="{FF2B5EF4-FFF2-40B4-BE49-F238E27FC236}">
                <a16:creationId xmlns:a16="http://schemas.microsoft.com/office/drawing/2014/main" id="{FC3CF0AB-5F74-4598-9C81-38887DDE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10" y="1306931"/>
            <a:ext cx="1566609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H&amp;E representation</a:t>
            </a:r>
          </a:p>
        </p:txBody>
      </p:sp>
      <p:sp>
        <p:nvSpPr>
          <p:cNvPr id="8" name="Text 8: Tissue segmentation">
            <a:extLst xmlns:a="http://schemas.openxmlformats.org/drawingml/2006/main">
              <a:ext uri="{FF2B5EF4-FFF2-40B4-BE49-F238E27FC236}">
                <a16:creationId xmlns:a16="http://schemas.microsoft.com/office/drawing/2014/main" id="{24F64349-FA76-4980-95C2-05442C40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10" y="1728220"/>
            <a:ext cx="1314191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Tissue segmentation</a:t>
            </a:r>
          </a:p>
        </p:txBody>
      </p:sp>
      <p:sp>
        <p:nvSpPr>
          <p:cNvPr id="9" name="Text 9: 20×, 256-pixel patches, 50% overlap">
            <a:extLst xmlns:a="http://schemas.openxmlformats.org/drawingml/2006/main">
              <a:ext uri="{FF2B5EF4-FFF2-40B4-BE49-F238E27FC236}">
                <a16:creationId xmlns:a16="http://schemas.microsoft.com/office/drawing/2014/main" id="{371BECF7-5CD6-4586-99A1-1A647111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10" y="1927113"/>
            <a:ext cx="2288959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20×, 256-pixel patches, 50% overlap</a:t>
            </a:r>
          </a:p>
        </p:txBody>
      </p:sp>
      <p:sp>
        <p:nvSpPr>
          <p:cNvPr id="10" name="Text 10: UNI-v2 → L2 normalization">
            <a:extLst xmlns:a="http://schemas.openxmlformats.org/drawingml/2006/main">
              <a:ext uri="{FF2B5EF4-FFF2-40B4-BE49-F238E27FC236}">
                <a16:creationId xmlns:a16="http://schemas.microsoft.com/office/drawing/2014/main" id="{9363F422-517C-494E-8503-CFEEB6D6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10" y="2126007"/>
            <a:ext cx="1702219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UNI-v2 → L2 normalization</a:t>
            </a:r>
          </a:p>
        </p:txBody>
      </p:sp>
      <p:sp>
        <p:nvSpPr>
          <p:cNvPr id="11" name="Text 11: Patient-balanced P50 sampling">
            <a:extLst xmlns:a="http://schemas.openxmlformats.org/drawingml/2006/main">
              <a:ext uri="{FF2B5EF4-FFF2-40B4-BE49-F238E27FC236}">
                <a16:creationId xmlns:a16="http://schemas.microsoft.com/office/drawing/2014/main" id="{1C8E4868-5136-4D28-BF77-11DA3DB9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10" y="2324900"/>
            <a:ext cx="1958848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Patient-balanced P50 sampling</a:t>
            </a:r>
          </a:p>
        </p:txBody>
      </p:sp>
      <p:sp>
        <p:nvSpPr>
          <p:cNvPr id="12" name="Text 12: PCA128 → K90 → centered CLR">
            <a:extLst xmlns:a="http://schemas.openxmlformats.org/drawingml/2006/main">
              <a:ext uri="{FF2B5EF4-FFF2-40B4-BE49-F238E27FC236}">
                <a16:creationId xmlns:a16="http://schemas.microsoft.com/office/drawing/2014/main" id="{C2133602-40F1-4BB1-BDAF-4831E9D1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10" y="2523794"/>
            <a:ext cx="2090725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PCA128 → K90 → centered CLR</a:t>
            </a:r>
          </a:p>
        </p:txBody>
      </p:sp>
      <p:sp>
        <p:nvSpPr>
          <p:cNvPr id="13" name="Text 13: JUPITER-06 development">
            <a:extLst xmlns:a="http://schemas.openxmlformats.org/drawingml/2006/main">
              <a:ext uri="{FF2B5EF4-FFF2-40B4-BE49-F238E27FC236}">
                <a16:creationId xmlns:a16="http://schemas.microsoft.com/office/drawing/2014/main" id="{79B64A27-E481-4855-9FC1-6EAC737A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1306931"/>
            <a:ext cx="2025421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JUPITER-06 development</a:t>
            </a:r>
          </a:p>
        </p:txBody>
      </p:sp>
      <p:sp>
        <p:nvSpPr>
          <p:cNvPr id="14" name="Text 14: 472 patients / 487 WSI">
            <a:extLst xmlns:a="http://schemas.openxmlformats.org/drawingml/2006/main">
              <a:ext uri="{FF2B5EF4-FFF2-40B4-BE49-F238E27FC236}">
                <a16:creationId xmlns:a16="http://schemas.microsoft.com/office/drawing/2014/main" id="{7DFCA749-45F6-4115-B407-E367197D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1728220"/>
            <a:ext cx="1438745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472 patients / 487 WSI</a:t>
            </a:r>
          </a:p>
        </p:txBody>
      </p:sp>
      <p:sp>
        <p:nvSpPr>
          <p:cNvPr id="15" name="Text 15: CT 233 / ICI+CT 239">
            <a:extLst xmlns:a="http://schemas.openxmlformats.org/drawingml/2006/main">
              <a:ext uri="{FF2B5EF4-FFF2-40B4-BE49-F238E27FC236}">
                <a16:creationId xmlns:a16="http://schemas.microsoft.com/office/drawing/2014/main" id="{CD83B5A7-203C-48F6-8B4A-49639B97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1927113"/>
            <a:ext cx="1318105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 233 / ICI+CT 239</a:t>
            </a:r>
          </a:p>
        </p:txBody>
      </p:sp>
      <p:sp>
        <p:nvSpPr>
          <p:cNvPr id="16" name="Text 16: PFS-trained ridge Cox (0.01)">
            <a:extLst xmlns:a="http://schemas.openxmlformats.org/drawingml/2006/main">
              <a:ext uri="{FF2B5EF4-FFF2-40B4-BE49-F238E27FC236}">
                <a16:creationId xmlns:a16="http://schemas.microsoft.com/office/drawing/2014/main" id="{D180EA33-8170-4E8E-8409-BFCCBDF0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2126007"/>
            <a:ext cx="1811045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PFS-trained ridge Cox (0.01)</a:t>
            </a:r>
          </a:p>
        </p:txBody>
      </p:sp>
      <p:sp>
        <p:nvSpPr>
          <p:cNvPr id="17" name="Text 17: Prognosis + treatment + interaction">
            <a:extLst xmlns:a="http://schemas.openxmlformats.org/drawingml/2006/main">
              <a:ext uri="{FF2B5EF4-FFF2-40B4-BE49-F238E27FC236}">
                <a16:creationId xmlns:a16="http://schemas.microsoft.com/office/drawing/2014/main" id="{2844E7D8-CB31-4E4B-B0DB-0F92D150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2324900"/>
            <a:ext cx="2199551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Prognosis + treatment + interaction</a:t>
            </a:r>
          </a:p>
        </p:txBody>
      </p:sp>
      <p:sp>
        <p:nvSpPr>
          <p:cNvPr id="18" name="Text 18: Fixed candidate and HR(z) threshold">
            <a:extLst xmlns:a="http://schemas.openxmlformats.org/drawingml/2006/main">
              <a:ext uri="{FF2B5EF4-FFF2-40B4-BE49-F238E27FC236}">
                <a16:creationId xmlns:a16="http://schemas.microsoft.com/office/drawing/2014/main" id="{0C7D6DF3-D2A6-4A1B-BBE9-98C373B1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2523794"/>
            <a:ext cx="2300275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candidate and HR(z) threshold</a:t>
            </a:r>
          </a:p>
        </p:txBody>
      </p:sp>
      <p:sp>
        <p:nvSpPr>
          <p:cNvPr id="19" name="Text 19: ESCORT-1ST external evaluation">
            <a:extLst xmlns:a="http://schemas.openxmlformats.org/drawingml/2006/main">
              <a:ext uri="{FF2B5EF4-FFF2-40B4-BE49-F238E27FC236}">
                <a16:creationId xmlns:a16="http://schemas.microsoft.com/office/drawing/2014/main" id="{7AD91597-D088-4BDB-BC1C-8EB1683A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1306931"/>
            <a:ext cx="2612540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ESCORT-1ST external evaluation</a:t>
            </a:r>
          </a:p>
        </p:txBody>
      </p:sp>
      <p:sp>
        <p:nvSpPr>
          <p:cNvPr id="20" name="Text 20: 482 patients / 515 WSI">
            <a:extLst xmlns:a="http://schemas.openxmlformats.org/drawingml/2006/main">
              <a:ext uri="{FF2B5EF4-FFF2-40B4-BE49-F238E27FC236}">
                <a16:creationId xmlns:a16="http://schemas.microsoft.com/office/drawing/2014/main" id="{C3F70134-EBAE-4DC2-B61E-1CD7383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1728220"/>
            <a:ext cx="1438745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482 patients / 515 WSI</a:t>
            </a:r>
          </a:p>
        </p:txBody>
      </p:sp>
      <p:sp>
        <p:nvSpPr>
          <p:cNvPr id="21" name="Text 21: CT 240 / ICI+CT 242">
            <a:extLst xmlns:a="http://schemas.openxmlformats.org/drawingml/2006/main">
              <a:ext uri="{FF2B5EF4-FFF2-40B4-BE49-F238E27FC236}">
                <a16:creationId xmlns:a16="http://schemas.microsoft.com/office/drawing/2014/main" id="{75E17A35-7494-46B0-9EB8-AD833A8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1927113"/>
            <a:ext cx="1318105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 240 / ICI+CT 242</a:t>
            </a:r>
          </a:p>
        </p:txBody>
      </p:sp>
      <p:sp>
        <p:nvSpPr>
          <p:cNvPr id="22" name="Text 22: Apply frozen JUPITER model">
            <a:extLst xmlns:a="http://schemas.openxmlformats.org/drawingml/2006/main">
              <a:ext uri="{FF2B5EF4-FFF2-40B4-BE49-F238E27FC236}">
                <a16:creationId xmlns:a16="http://schemas.microsoft.com/office/drawing/2014/main" id="{B21C8AC4-BBBF-4803-9029-1F7F8B03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2126007"/>
            <a:ext cx="1842059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frozen JUPITER model</a:t>
            </a:r>
          </a:p>
        </p:txBody>
      </p:sp>
      <p:sp>
        <p:nvSpPr>
          <p:cNvPr id="23" name="Text 23: No refitting or threshold adjustment">
            <a:extLst xmlns:a="http://schemas.openxmlformats.org/drawingml/2006/main">
              <a:ext uri="{FF2B5EF4-FFF2-40B4-BE49-F238E27FC236}">
                <a16:creationId xmlns:a16="http://schemas.microsoft.com/office/drawing/2014/main" id="{3E326A40-1FE6-4875-807D-39EDB225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2324900"/>
            <a:ext cx="2199411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refitting or threshold adjustment</a:t>
            </a:r>
          </a:p>
        </p:txBody>
      </p:sp>
      <p:sp>
        <p:nvSpPr>
          <p:cNvPr id="24" name="Text 24: No fold strata in evaluation Cox models">
            <a:extLst xmlns:a="http://schemas.openxmlformats.org/drawingml/2006/main">
              <a:ext uri="{FF2B5EF4-FFF2-40B4-BE49-F238E27FC236}">
                <a16:creationId xmlns:a16="http://schemas.microsoft.com/office/drawing/2014/main" id="{15900357-E076-4B6A-9E8D-7E6E2A3D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2523794"/>
            <a:ext cx="2455621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fold strata in evaluation Cox models</a:t>
            </a:r>
          </a:p>
        </p:txBody>
      </p:sp>
      <p:sp>
        <p:nvSpPr>
          <p:cNvPr id="25" name="Vector 25">
            <a:extLst xmlns:a="http://schemas.openxmlformats.org/drawingml/2006/main">
              <a:ext uri="{FF2B5EF4-FFF2-40B4-BE49-F238E27FC236}">
                <a16:creationId xmlns:a16="http://schemas.microsoft.com/office/drawing/2014/main" id="{48A3CCD6-E8A6-40DC-9F5C-5F533F77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214" y="2273198"/>
            <a:ext cx="580809" cy="10"/>
          </a:xfrm>
          <a:custGeom xmlns:a="http://schemas.openxmlformats.org/drawingml/2006/main">
            <a:pathLst>
              <a:path w="580809" h="10">
                <a:moveTo>
                  <a:pt x="0" y="0"/>
                </a:moveTo>
                <a:lnTo>
                  <a:pt x="49919" y="0"/>
                </a:lnTo>
                <a:lnTo>
                  <a:pt x="99562" y="0"/>
                </a:lnTo>
                <a:lnTo>
                  <a:pt x="148930" y="0"/>
                </a:lnTo>
                <a:lnTo>
                  <a:pt x="198021" y="0"/>
                </a:lnTo>
                <a:lnTo>
                  <a:pt x="246835" y="0"/>
                </a:lnTo>
                <a:lnTo>
                  <a:pt x="295374" y="0"/>
                </a:lnTo>
                <a:lnTo>
                  <a:pt x="343637" y="0"/>
                </a:lnTo>
                <a:lnTo>
                  <a:pt x="391624" y="0"/>
                </a:lnTo>
                <a:lnTo>
                  <a:pt x="439334" y="0"/>
                </a:lnTo>
                <a:lnTo>
                  <a:pt x="486769" y="0"/>
                </a:lnTo>
                <a:lnTo>
                  <a:pt x="533927" y="0"/>
                </a:lnTo>
                <a:lnTo>
                  <a:pt x="5808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26" name="Vector 26">
            <a:extLst xmlns:a="http://schemas.openxmlformats.org/drawingml/2006/main">
              <a:ext uri="{FF2B5EF4-FFF2-40B4-BE49-F238E27FC236}">
                <a16:creationId xmlns:a16="http://schemas.microsoft.com/office/drawing/2014/main" id="{EE61808F-6BEF-4239-BF2A-F02FD71B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223" y="2247798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0"/>
                </a:moveTo>
                <a:lnTo>
                  <a:pt x="50800" y="25400"/>
                </a:lnTo>
                <a:lnTo>
                  <a:pt x="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27" name="Vector 27">
            <a:extLst xmlns:a="http://schemas.openxmlformats.org/drawingml/2006/main">
              <a:ext uri="{FF2B5EF4-FFF2-40B4-BE49-F238E27FC236}">
                <a16:creationId xmlns:a16="http://schemas.microsoft.com/office/drawing/2014/main" id="{FA1D979A-52F6-408F-A130-9CEA1907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614" y="2273198"/>
            <a:ext cx="580809" cy="10"/>
          </a:xfrm>
          <a:custGeom xmlns:a="http://schemas.openxmlformats.org/drawingml/2006/main">
            <a:pathLst>
              <a:path w="580809" h="10">
                <a:moveTo>
                  <a:pt x="0" y="0"/>
                </a:moveTo>
                <a:lnTo>
                  <a:pt x="49919" y="0"/>
                </a:lnTo>
                <a:lnTo>
                  <a:pt x="99562" y="0"/>
                </a:lnTo>
                <a:lnTo>
                  <a:pt x="148930" y="0"/>
                </a:lnTo>
                <a:lnTo>
                  <a:pt x="198021" y="0"/>
                </a:lnTo>
                <a:lnTo>
                  <a:pt x="246835" y="0"/>
                </a:lnTo>
                <a:lnTo>
                  <a:pt x="295374" y="0"/>
                </a:lnTo>
                <a:lnTo>
                  <a:pt x="343637" y="0"/>
                </a:lnTo>
                <a:lnTo>
                  <a:pt x="391624" y="0"/>
                </a:lnTo>
                <a:lnTo>
                  <a:pt x="439334" y="0"/>
                </a:lnTo>
                <a:lnTo>
                  <a:pt x="486769" y="0"/>
                </a:lnTo>
                <a:lnTo>
                  <a:pt x="533927" y="0"/>
                </a:lnTo>
                <a:lnTo>
                  <a:pt x="5808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28" name="Vector 28">
            <a:extLst xmlns:a="http://schemas.openxmlformats.org/drawingml/2006/main">
              <a:ext uri="{FF2B5EF4-FFF2-40B4-BE49-F238E27FC236}">
                <a16:creationId xmlns:a16="http://schemas.microsoft.com/office/drawing/2014/main" id="{562A4865-8197-460D-A7B7-ED330EB8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623" y="2247798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0"/>
                </a:moveTo>
                <a:lnTo>
                  <a:pt x="50800" y="25400"/>
                </a:lnTo>
                <a:lnTo>
                  <a:pt x="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29" name="Text 29: Internal ten-fold evaluation">
            <a:extLst xmlns:a="http://schemas.openxmlformats.org/drawingml/2006/main">
              <a:ext uri="{FF2B5EF4-FFF2-40B4-BE49-F238E27FC236}">
                <a16:creationId xmlns:a16="http://schemas.microsoft.com/office/drawing/2014/main" id="{A9F4A780-B9FF-42D7-BAA8-1B024FA2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4156202"/>
            <a:ext cx="213537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Internal ten-fold evaluation</a:t>
            </a:r>
          </a:p>
        </p:txBody>
      </p:sp>
      <p:sp>
        <p:nvSpPr>
          <p:cNvPr id="30" name="Text 30: Refit representation within each fold">
            <a:extLst xmlns:a="http://schemas.openxmlformats.org/drawingml/2006/main">
              <a:ext uri="{FF2B5EF4-FFF2-40B4-BE49-F238E27FC236}">
                <a16:creationId xmlns:a16="http://schemas.microsoft.com/office/drawing/2014/main" id="{CAD0957E-9770-48B2-B328-2AC027BB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4577490"/>
            <a:ext cx="2246071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Refit representation within each fold</a:t>
            </a:r>
          </a:p>
        </p:txBody>
      </p:sp>
      <p:sp>
        <p:nvSpPr>
          <p:cNvPr id="31" name="Text 31: Refit Cox terms on training patients">
            <a:extLst xmlns:a="http://schemas.openxmlformats.org/drawingml/2006/main">
              <a:ext uri="{FF2B5EF4-FFF2-40B4-BE49-F238E27FC236}">
                <a16:creationId xmlns:a16="http://schemas.microsoft.com/office/drawing/2014/main" id="{3F6045DC-3A8C-4C67-B2B0-9E27C96D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4776383"/>
            <a:ext cx="2207095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Refit Cox terms on training patients</a:t>
            </a:r>
          </a:p>
        </p:txBody>
      </p:sp>
      <p:sp>
        <p:nvSpPr>
          <p:cNvPr id="32" name="Text 32: Pool out-of-fold predictions">
            <a:extLst xmlns:a="http://schemas.openxmlformats.org/drawingml/2006/main">
              <a:ext uri="{FF2B5EF4-FFF2-40B4-BE49-F238E27FC236}">
                <a16:creationId xmlns:a16="http://schemas.microsoft.com/office/drawing/2014/main" id="{E32CF2F4-D2B7-4170-AD79-1F233C4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4975277"/>
            <a:ext cx="1686992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Pool out-of-fold predictions</a:t>
            </a:r>
          </a:p>
        </p:txBody>
      </p:sp>
      <p:sp>
        <p:nvSpPr>
          <p:cNvPr id="33" name="Text 33: Evaluation Cox models stratify by fold">
            <a:extLst xmlns:a="http://schemas.openxmlformats.org/drawingml/2006/main">
              <a:ext uri="{FF2B5EF4-FFF2-40B4-BE49-F238E27FC236}">
                <a16:creationId xmlns:a16="http://schemas.microsoft.com/office/drawing/2014/main" id="{4E7F963B-F951-4D95-B791-3636D75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110" y="5174170"/>
            <a:ext cx="2354618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Evaluation Cox models stratify by fold</a:t>
            </a:r>
          </a:p>
        </p:txBody>
      </p:sp>
      <p:sp>
        <p:nvSpPr>
          <p:cNvPr id="34" name="Vector 34">
            <a:extLst xmlns:a="http://schemas.openxmlformats.org/drawingml/2006/main">
              <a:ext uri="{FF2B5EF4-FFF2-40B4-BE49-F238E27FC236}">
                <a16:creationId xmlns:a16="http://schemas.microsoft.com/office/drawing/2014/main" id="{0655DDC7-6E51-4474-AB51-4E59A8BD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3480023"/>
            <a:ext cx="10" cy="380969"/>
          </a:xfrm>
          <a:custGeom xmlns:a="http://schemas.openxmlformats.org/drawingml/2006/main">
            <a:pathLst>
              <a:path w="10" h="380969">
                <a:moveTo>
                  <a:pt x="0" y="0"/>
                </a:moveTo>
                <a:lnTo>
                  <a:pt x="0" y="33266"/>
                </a:lnTo>
                <a:lnTo>
                  <a:pt x="0" y="66256"/>
                </a:lnTo>
                <a:lnTo>
                  <a:pt x="0" y="98969"/>
                </a:lnTo>
                <a:lnTo>
                  <a:pt x="0" y="131407"/>
                </a:lnTo>
                <a:lnTo>
                  <a:pt x="0" y="163569"/>
                </a:lnTo>
                <a:lnTo>
                  <a:pt x="0" y="195454"/>
                </a:lnTo>
                <a:lnTo>
                  <a:pt x="0" y="227063"/>
                </a:lnTo>
                <a:lnTo>
                  <a:pt x="0" y="258397"/>
                </a:lnTo>
                <a:lnTo>
                  <a:pt x="0" y="289454"/>
                </a:lnTo>
                <a:lnTo>
                  <a:pt x="0" y="320235"/>
                </a:lnTo>
                <a:lnTo>
                  <a:pt x="0" y="350740"/>
                </a:lnTo>
                <a:lnTo>
                  <a:pt x="0" y="380969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35" name="Vector 35">
            <a:extLst xmlns:a="http://schemas.openxmlformats.org/drawingml/2006/main">
              <a:ext uri="{FF2B5EF4-FFF2-40B4-BE49-F238E27FC236}">
                <a16:creationId xmlns:a16="http://schemas.microsoft.com/office/drawing/2014/main" id="{5A51FDC1-03A0-4383-9373-384BD454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576" y="3810192"/>
            <a:ext cx="50800" cy="50800"/>
          </a:xfrm>
          <a:custGeom xmlns:a="http://schemas.openxmlformats.org/drawingml/2006/main"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36" name="Text 36: Clinical and spatial evaluation">
            <a:extLst xmlns:a="http://schemas.openxmlformats.org/drawingml/2006/main">
              <a:ext uri="{FF2B5EF4-FFF2-40B4-BE49-F238E27FC236}">
                <a16:creationId xmlns:a16="http://schemas.microsoft.com/office/drawing/2014/main" id="{9E002D97-559E-487F-B6CE-803954CF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4156202"/>
            <a:ext cx="2383523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Clinical and spatial evaluation</a:t>
            </a:r>
          </a:p>
        </p:txBody>
      </p:sp>
      <p:sp>
        <p:nvSpPr>
          <p:cNvPr id="37" name="Text 37: B: predicted HR(z) &lt; 1; NB: ≥ 1">
            <a:extLst xmlns:a="http://schemas.openxmlformats.org/drawingml/2006/main">
              <a:ext uri="{FF2B5EF4-FFF2-40B4-BE49-F238E27FC236}">
                <a16:creationId xmlns:a16="http://schemas.microsoft.com/office/drawing/2014/main" id="{6E96FB8D-84A4-48F3-AC7C-7882374A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4577490"/>
            <a:ext cx="1953819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B: predicted HR(z) &lt; 1; NB: ≥ 1</a:t>
            </a:r>
          </a:p>
        </p:txBody>
      </p:sp>
      <p:sp>
        <p:nvSpPr>
          <p:cNvPr id="38" name="Text 38: PFS / OS and treatment interactions">
            <a:extLst xmlns:a="http://schemas.openxmlformats.org/drawingml/2006/main">
              <a:ext uri="{FF2B5EF4-FFF2-40B4-BE49-F238E27FC236}">
                <a16:creationId xmlns:a16="http://schemas.microsoft.com/office/drawing/2014/main" id="{05343230-F92E-42A6-B008-EBA55A79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4776383"/>
            <a:ext cx="2269401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PFS / OS and treatment interactions</a:t>
            </a:r>
          </a:p>
        </p:txBody>
      </p:sp>
      <p:sp>
        <p:nvSpPr>
          <p:cNvPr id="39" name="Text 39: RMST / fixed-time survival differences">
            <a:extLst xmlns:a="http://schemas.openxmlformats.org/drawingml/2006/main">
              <a:ext uri="{FF2B5EF4-FFF2-40B4-BE49-F238E27FC236}">
                <a16:creationId xmlns:a16="http://schemas.microsoft.com/office/drawing/2014/main" id="{619E6FD9-3A2B-4F8C-A1BA-CB9162C2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4975277"/>
            <a:ext cx="237745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RMST / fixed-time survival differences</a:t>
            </a:r>
          </a:p>
        </p:txBody>
      </p:sp>
      <p:sp>
        <p:nvSpPr>
          <p:cNvPr id="40" name="Text 40: Response, TPS and exploratory maps">
            <a:extLst xmlns:a="http://schemas.openxmlformats.org/drawingml/2006/main">
              <a:ext uri="{FF2B5EF4-FFF2-40B4-BE49-F238E27FC236}">
                <a16:creationId xmlns:a16="http://schemas.microsoft.com/office/drawing/2014/main" id="{67E08EA2-C768-4A52-8A1D-D1F84DA6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10" y="5174170"/>
            <a:ext cx="2385732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Response, TPS and exploratory maps</a:t>
            </a:r>
          </a:p>
        </p:txBody>
      </p:sp>
      <p:sp>
        <p:nvSpPr>
          <p:cNvPr id="41" name="Vector 41">
            <a:extLst xmlns:a="http://schemas.openxmlformats.org/drawingml/2006/main">
              <a:ext uri="{FF2B5EF4-FFF2-40B4-BE49-F238E27FC236}">
                <a16:creationId xmlns:a16="http://schemas.microsoft.com/office/drawing/2014/main" id="{6A939661-EB0E-4C81-93D3-E7CDF6EE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3480023"/>
            <a:ext cx="10" cy="380969"/>
          </a:xfrm>
          <a:custGeom xmlns:a="http://schemas.openxmlformats.org/drawingml/2006/main">
            <a:pathLst>
              <a:path w="10" h="380969">
                <a:moveTo>
                  <a:pt x="0" y="0"/>
                </a:moveTo>
                <a:lnTo>
                  <a:pt x="0" y="33266"/>
                </a:lnTo>
                <a:lnTo>
                  <a:pt x="0" y="66256"/>
                </a:lnTo>
                <a:lnTo>
                  <a:pt x="0" y="98969"/>
                </a:lnTo>
                <a:lnTo>
                  <a:pt x="0" y="131407"/>
                </a:lnTo>
                <a:lnTo>
                  <a:pt x="0" y="163569"/>
                </a:lnTo>
                <a:lnTo>
                  <a:pt x="0" y="195454"/>
                </a:lnTo>
                <a:lnTo>
                  <a:pt x="0" y="227063"/>
                </a:lnTo>
                <a:lnTo>
                  <a:pt x="0" y="258397"/>
                </a:lnTo>
                <a:lnTo>
                  <a:pt x="0" y="289454"/>
                </a:lnTo>
                <a:lnTo>
                  <a:pt x="0" y="320235"/>
                </a:lnTo>
                <a:lnTo>
                  <a:pt x="0" y="350740"/>
                </a:lnTo>
                <a:lnTo>
                  <a:pt x="0" y="380969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42" name="Vector 42">
            <a:extLst xmlns:a="http://schemas.openxmlformats.org/drawingml/2006/main">
              <a:ext uri="{FF2B5EF4-FFF2-40B4-BE49-F238E27FC236}">
                <a16:creationId xmlns:a16="http://schemas.microsoft.com/office/drawing/2014/main" id="{4AF4672A-5E95-4F8C-B25D-118EE8B1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7712" y="3810192"/>
            <a:ext cx="50800" cy="50800"/>
          </a:xfrm>
          <a:custGeom xmlns:a="http://schemas.openxmlformats.org/drawingml/2006/main">
            <a:pathLst>
              <a:path w="50800" h="50800">
                <a:moveTo>
                  <a:pt x="50800" y="0"/>
                </a:moveTo>
                <a:lnTo>
                  <a:pt x="25400" y="508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43" name="Vector 43">
            <a:extLst xmlns:a="http://schemas.openxmlformats.org/drawingml/2006/main">
              <a:ext uri="{FF2B5EF4-FFF2-40B4-BE49-F238E27FC236}">
                <a16:creationId xmlns:a16="http://schemas.microsoft.com/office/drawing/2014/main" id="{3E3A55A1-9E74-4F7A-82F9-DD421322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614" y="4948733"/>
            <a:ext cx="580809" cy="10"/>
          </a:xfrm>
          <a:custGeom xmlns:a="http://schemas.openxmlformats.org/drawingml/2006/main">
            <a:pathLst>
              <a:path w="580809" h="10">
                <a:moveTo>
                  <a:pt x="0" y="0"/>
                </a:moveTo>
                <a:lnTo>
                  <a:pt x="49919" y="0"/>
                </a:lnTo>
                <a:lnTo>
                  <a:pt x="99562" y="0"/>
                </a:lnTo>
                <a:lnTo>
                  <a:pt x="148930" y="0"/>
                </a:lnTo>
                <a:lnTo>
                  <a:pt x="198021" y="0"/>
                </a:lnTo>
                <a:lnTo>
                  <a:pt x="246835" y="0"/>
                </a:lnTo>
                <a:lnTo>
                  <a:pt x="295374" y="0"/>
                </a:lnTo>
                <a:lnTo>
                  <a:pt x="343637" y="0"/>
                </a:lnTo>
                <a:lnTo>
                  <a:pt x="391624" y="0"/>
                </a:lnTo>
                <a:lnTo>
                  <a:pt x="439334" y="0"/>
                </a:lnTo>
                <a:lnTo>
                  <a:pt x="486769" y="0"/>
                </a:lnTo>
                <a:lnTo>
                  <a:pt x="533927" y="0"/>
                </a:lnTo>
                <a:lnTo>
                  <a:pt x="5808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44" name="Vector 44">
            <a:extLst xmlns:a="http://schemas.openxmlformats.org/drawingml/2006/main">
              <a:ext uri="{FF2B5EF4-FFF2-40B4-BE49-F238E27FC236}">
                <a16:creationId xmlns:a16="http://schemas.microsoft.com/office/drawing/2014/main" id="{784C6DD9-F8DB-4EE7-8D91-0FCA4FC8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623" y="4923333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0"/>
                </a:moveTo>
                <a:lnTo>
                  <a:pt x="50800" y="25400"/>
                </a:lnTo>
                <a:lnTo>
                  <a:pt x="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7780">
            <a:solidFill>
              <a:srgbClr val="526170"/>
            </a:solidFill>
            <a:prstDash val="solid"/>
          </a:ln>
        </p:spPr>
      </p:sp>
      <p:sp>
        <p:nvSpPr>
          <p:cNvPr id="45" name="Text 45: Public demonstration">
            <a:extLst xmlns:a="http://schemas.openxmlformats.org/drawingml/2006/main">
              <a:ext uri="{FF2B5EF4-FFF2-40B4-BE49-F238E27FC236}">
                <a16:creationId xmlns:a16="http://schemas.microsoft.com/office/drawing/2014/main" id="{ECDA2046-9638-4C0B-AADE-EA5DE884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16" y="4134993"/>
            <a:ext cx="1713382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demonstration</a:t>
            </a:r>
          </a:p>
        </p:txBody>
      </p:sp>
      <p:sp>
        <p:nvSpPr>
          <p:cNvPr id="46" name="Text 46: 3 open TCGA ESCC slides">
            <a:extLst xmlns:a="http://schemas.openxmlformats.org/drawingml/2006/main">
              <a:ext uri="{FF2B5EF4-FFF2-40B4-BE49-F238E27FC236}">
                <a16:creationId xmlns:a16="http://schemas.microsoft.com/office/drawing/2014/main" id="{A2E6183A-C295-44FB-9C51-4C3EF65D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16" y="4681732"/>
            <a:ext cx="1702199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open TCGA ESCC slides</a:t>
            </a:r>
          </a:p>
        </p:txBody>
      </p:sp>
      <p:sp>
        <p:nvSpPr>
          <p:cNvPr id="47" name="Text 47: 1 fabricated clinical template row">
            <a:extLst xmlns:a="http://schemas.openxmlformats.org/drawingml/2006/main">
              <a:ext uri="{FF2B5EF4-FFF2-40B4-BE49-F238E27FC236}">
                <a16:creationId xmlns:a16="http://schemas.microsoft.com/office/drawing/2014/main" id="{E77FDC3E-CFAF-43CB-9BA0-449F283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16" y="4880625"/>
            <a:ext cx="2051749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fabricated clinical template row</a:t>
            </a:r>
          </a:p>
        </p:txBody>
      </p:sp>
      <p:sp>
        <p:nvSpPr>
          <p:cNvPr id="48" name="Text 48: Optional independent synthetic cohort">
            <a:extLst xmlns:a="http://schemas.openxmlformats.org/drawingml/2006/main">
              <a:ext uri="{FF2B5EF4-FFF2-40B4-BE49-F238E27FC236}">
                <a16:creationId xmlns:a16="http://schemas.microsoft.com/office/drawing/2014/main" id="{974F8838-D6A8-44C9-8E26-639C5DA9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16" y="5079519"/>
            <a:ext cx="2370544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 independent synthetic cohort</a:t>
            </a:r>
          </a:p>
        </p:txBody>
      </p:sp>
      <p:sp>
        <p:nvSpPr>
          <p:cNvPr id="49" name="Text 49: No paper-trained model parameters">
            <a:extLst xmlns:a="http://schemas.openxmlformats.org/drawingml/2006/main">
              <a:ext uri="{FF2B5EF4-FFF2-40B4-BE49-F238E27FC236}">
                <a16:creationId xmlns:a16="http://schemas.microsoft.com/office/drawing/2014/main" id="{8EADC166-2C85-493A-A2ED-7E20C86B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16" y="5278412"/>
            <a:ext cx="2238108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paper-trained model parameters</a:t>
            </a:r>
          </a:p>
        </p:txBody>
      </p:sp>
      <p:sp>
        <p:nvSpPr>
          <p:cNvPr id="50" name="Text 50: Figure 1 | Histology-based prediction of relative treatment benefit">
            <a:extLst xmlns:a="http://schemas.openxmlformats.org/drawingml/2006/main">
              <a:ext uri="{FF2B5EF4-FFF2-40B4-BE49-F238E27FC236}">
                <a16:creationId xmlns:a16="http://schemas.microsoft.com/office/drawing/2014/main" id="{09FD11AF-6B51-4306-B029-925AC8E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353" y="204780"/>
            <a:ext cx="7305294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1 | Histology-based prediction of relative treatment benefit</a:t>
            </a:r>
          </a:p>
        </p:txBody>
      </p:sp>
      <p:sp>
        <p:nvSpPr>
          <p:cNvPr id="51" name="Text 51: Study workflow and the public reproduction package">
            <a:extLst xmlns:a="http://schemas.openxmlformats.org/drawingml/2006/main">
              <a:ext uri="{FF2B5EF4-FFF2-40B4-BE49-F238E27FC236}">
                <a16:creationId xmlns:a16="http://schemas.microsoft.com/office/drawing/2014/main" id="{895B9DEA-E736-4309-96D1-7E2276D3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7784"/>
            <a:ext cx="3549193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Study workflow and the public reproduction package</a:t>
            </a:r>
          </a:p>
        </p:txBody>
      </p:sp>
      <p:sp>
        <p:nvSpPr>
          <p:cNvPr id="52" name="Text 52: External support for treatment-benefit stratification does not establish that NB patients lack clinically meaningful benefit">
            <a:extLst xmlns:a="http://schemas.openxmlformats.org/drawingml/2006/main">
              <a:ext uri="{FF2B5EF4-FFF2-40B4-BE49-F238E27FC236}">
                <a16:creationId xmlns:a16="http://schemas.microsoft.com/office/drawing/2014/main" id="{57BD27A9-6E7E-4A33-B64A-2FA6AAA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516650"/>
            <a:ext cx="66817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support for treatment-benefit stratification does not establish that NB patients lack clinically meaningful benefit</a:t>
            </a:r>
          </a:p>
        </p:txBody>
      </p:sp>
      <p:sp>
        <p:nvSpPr>
          <p:cNvPr id="53" name="Text 53: or that ICI can be omitted. Public examples do not reproduce trial numerical results.">
            <a:extLst xmlns:a="http://schemas.openxmlformats.org/drawingml/2006/main">
              <a:ext uri="{FF2B5EF4-FFF2-40B4-BE49-F238E27FC236}">
                <a16:creationId xmlns:a16="http://schemas.microsoft.com/office/drawing/2014/main" id="{70DEF960-807A-4F13-AD76-6E78BF7D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658862"/>
            <a:ext cx="471220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 that ICI can be omitted. Public examples do not reproduce trial numerical results.</a:t>
            </a:r>
          </a:p>
        </p:txBody>
      </p:sp>
    </p:spTree>
    <p:extLst>
      <p:ext uri="{BB962C8B-B14F-4D97-AF65-F5344CB8AC3E}">
        <p14:creationId xmlns:p14="http://schemas.microsoft.com/office/powerpoint/2010/main" val="1533474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2026-10-12T11:44:55.1510000Z</dcterms:created>
  <dcterms:modified xsi:type="dcterms:W3CDTF">2026-10-12T11:44:55.1510000Z</dcterms:modified>
</coreProperties>
</file>