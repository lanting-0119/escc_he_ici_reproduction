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435204a13481f" /><Relationship Type="http://schemas.openxmlformats.org/officeDocument/2006/relationships/extended-properties" Target="/docProps/app.xml" Id="R48f014d919144bbc" /><Relationship Type="http://schemas.openxmlformats.org/officeDocument/2006/relationships/officeDocument" Target="/ppt/presentation.xml" Id="R68143aff2b764d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20dfe68814689"/>
  </p:sldMasterIdLst>
  <p:notesMasterIdLst>
    <p:notesMasterId xmlns:r="http://schemas.openxmlformats.org/officeDocument/2006/relationships" r:id="Rbfccf3df133f4eb4"/>
  </p:notesMasterIdLst>
  <p:sldIdLst>
    <p:sldId xmlns:r="http://schemas.openxmlformats.org/officeDocument/2006/relationships" id="256" r:id="R3fc543a956d24b35"/>
  </p:sldIdLst>
  <p:sldSz cx="11430000" cy="960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7d7b9b7834153" /><Relationship Type="http://schemas.openxmlformats.org/officeDocument/2006/relationships/slideMaster" Target="/ppt/slideMasters/slideMaster1.xml" Id="Rdcf20dfe68814689" /><Relationship Type="http://schemas.openxmlformats.org/officeDocument/2006/relationships/notesMaster" Target="/ppt/notesMasters/notesMaster1.xml" Id="Rbfccf3df133f4eb4" /><Relationship Type="http://schemas.openxmlformats.org/officeDocument/2006/relationships/presProps" Target="/ppt/presProps.xml" Id="Rafaf343c9e38418e" /><Relationship Type="http://schemas.openxmlformats.org/officeDocument/2006/relationships/tableStyles" Target="/ppt/tableStyles.xml" Id="Rcbe8d0d50f8c48aa" /><Relationship Type="http://schemas.openxmlformats.org/officeDocument/2006/relationships/slide" Target="/ppt/slides/slide1.xml" Id="R3fc543a956d2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1f6b247a6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54f797f47a461a" /><Relationship Type="http://schemas.openxmlformats.org/officeDocument/2006/relationships/notesMaster" Target="/ppt/notesMasters/notesMaster1.xml" Id="Rdba047d8f978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Synthetic-data demonstration of the v32 analysis workflow. These are not trial results. See README and the corresponding notebook for estimators, denominators and inference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f5ad1a7b94e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4965d66914e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fdd6b463d42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37c17eaaa4b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8145613784e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999cf5a9447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139D4E-6C2E-4EE1-B2EF-B79BE997D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627120"/>
            <a:ext cx="9144000" cy="138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A12291-F961-47AD-A9BF-6CD8FC0BE3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528066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C30E52-AF87-4D47-BE3C-7B2CD1C055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4000500"/>
            <a:ext cx="9144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DBEF5B-6FFD-489F-B2EB-B5C3A0116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746760"/>
            <a:ext cx="10144125" cy="117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601B03-355F-4F08-B6B2-C49F68518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667000"/>
            <a:ext cx="10144125" cy="597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23C36B-0935-4060-BCCA-21EAA10F3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746760"/>
            <a:ext cx="10144125" cy="117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B1D55A-56CD-42FD-8224-14D7B8DA4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667000"/>
            <a:ext cx="4714875" cy="597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1CDFA6-ED45-4BF9-93B9-481EA99D00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667000"/>
            <a:ext cx="4714875" cy="597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FC137-3D6E-482E-A1DF-DCA9AF2C1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746760"/>
            <a:ext cx="10144125" cy="117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910260-DD2F-44A5-8FA7-9D1C85AC2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667000"/>
            <a:ext cx="4714875" cy="597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eb563af7b44700" /><Relationship Type="http://schemas.openxmlformats.org/officeDocument/2006/relationships/slideLayout" Target="/ppt/slideLayouts/slideLayout1.xml" Id="R7c4b51d399be438c" /><Relationship Type="http://schemas.openxmlformats.org/officeDocument/2006/relationships/slideLayout" Target="/ppt/slideLayouts/slideLayout2.xml" Id="R6eeb4d6262cd4050" /><Relationship Type="http://schemas.openxmlformats.org/officeDocument/2006/relationships/slideLayout" Target="/ppt/slideLayouts/slideLayout3.xml" Id="R895519f64c1547f8" /><Relationship Type="http://schemas.openxmlformats.org/officeDocument/2006/relationships/slideLayout" Target="/ppt/slideLayouts/slideLayout4.xml" Id="Rc1f1ecb7383349f5" /><Relationship Type="http://schemas.openxmlformats.org/officeDocument/2006/relationships/slideLayout" Target="/ppt/slideLayouts/slideLayout5.xml" Id="Rf936379bbf0d455d" /><Relationship Type="http://schemas.openxmlformats.org/officeDocument/2006/relationships/slideLayout" Target="/ppt/slideLayouts/slideLayout6.xml" Id="R4554ea0ee3b249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b51d399be438c"/>
    <p:sldLayoutId xmlns:r="http://schemas.openxmlformats.org/officeDocument/2006/relationships" id="2147483650" r:id="R6eeb4d6262cd4050"/>
    <p:sldLayoutId xmlns:r="http://schemas.openxmlformats.org/officeDocument/2006/relationships" id="2147483651" r:id="R895519f64c1547f8"/>
    <p:sldLayoutId xmlns:r="http://schemas.openxmlformats.org/officeDocument/2006/relationships" id="2147483652" r:id="Rc1f1ecb7383349f5"/>
    <p:sldLayoutId xmlns:r="http://schemas.openxmlformats.org/officeDocument/2006/relationships" id="2147483653" r:id="Rf936379bbf0d455d"/>
    <p:sldLayoutId xmlns:r="http://schemas.openxmlformats.org/officeDocument/2006/relationships" id="2147483654" r:id="R4554ea0ee3b249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89e8403a84ab5" /><Relationship Type="http://schemas.openxmlformats.org/officeDocument/2006/relationships/notesSlide" Target="/ppt/notesSlides/notesSlide1.xml" Id="Rfbad514029ad41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Vector 1">
            <a:extLst xmlns:a="http://schemas.openxmlformats.org/drawingml/2006/main">
              <a:ext uri="{FF2B5EF4-FFF2-40B4-BE49-F238E27FC236}">
                <a16:creationId xmlns:a16="http://schemas.microsoft.com/office/drawing/2014/main" id="{4532B009-157E-4BA1-8D1F-2D6D13E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9601200"/>
          </a:xfrm>
          <a:custGeom xmlns:a="http://schemas.openxmlformats.org/drawingml/2006/main">
            <a:pathLst>
              <a:path w="11430000" h="9601200">
                <a:moveTo>
                  <a:pt x="0" y="9601200"/>
                </a:moveTo>
                <a:lnTo>
                  <a:pt x="11430000" y="9601200"/>
                </a:lnTo>
                <a:lnTo>
                  <a:pt x="1143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2657CF8F-A654-46D0-9C34-44F3FCDD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56132"/>
            <a:ext cx="4422913" cy="1906997"/>
          </a:xfrm>
          <a:custGeom xmlns:a="http://schemas.openxmlformats.org/drawingml/2006/main">
            <a:pathLst>
              <a:path w="4422913" h="1906997">
                <a:moveTo>
                  <a:pt x="0" y="1906997"/>
                </a:moveTo>
                <a:lnTo>
                  <a:pt x="4422913" y="1906997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mee54a1b7b3 3">
            <a:extLst xmlns:a="http://schemas.openxmlformats.org/drawingml/2006/main">
              <a:ext uri="{FF2B5EF4-FFF2-40B4-BE49-F238E27FC236}">
                <a16:creationId xmlns:a16="http://schemas.microsoft.com/office/drawing/2014/main" id="{5F4D5894-93D7-4713-B496-0C981239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733" y="1719801"/>
            <a:ext cx="1509438" cy="1156646"/>
          </a:xfrm>
          <a:custGeom xmlns:a="http://schemas.openxmlformats.org/drawingml/2006/main">
            <a:pathLst>
              <a:path w="1509438" h="1156646">
                <a:moveTo>
                  <a:pt x="0" y="380337"/>
                </a:moveTo>
                <a:lnTo>
                  <a:pt x="0" y="1156646"/>
                </a:lnTo>
                <a:lnTo>
                  <a:pt x="17142" y="1146057"/>
                </a:lnTo>
                <a:lnTo>
                  <a:pt x="34283" y="1135476"/>
                </a:lnTo>
                <a:lnTo>
                  <a:pt x="51425" y="1124904"/>
                </a:lnTo>
                <a:lnTo>
                  <a:pt x="68566" y="1114341"/>
                </a:lnTo>
                <a:lnTo>
                  <a:pt x="85708" y="1103787"/>
                </a:lnTo>
                <a:lnTo>
                  <a:pt x="102849" y="1093243"/>
                </a:lnTo>
                <a:lnTo>
                  <a:pt x="119991" y="1082708"/>
                </a:lnTo>
                <a:lnTo>
                  <a:pt x="137132" y="1072184"/>
                </a:lnTo>
                <a:lnTo>
                  <a:pt x="154274" y="1061671"/>
                </a:lnTo>
                <a:lnTo>
                  <a:pt x="171415" y="1051168"/>
                </a:lnTo>
                <a:lnTo>
                  <a:pt x="188557" y="1040676"/>
                </a:lnTo>
                <a:lnTo>
                  <a:pt x="205698" y="1030196"/>
                </a:lnTo>
                <a:lnTo>
                  <a:pt x="222840" y="1019728"/>
                </a:lnTo>
                <a:lnTo>
                  <a:pt x="239981" y="1009272"/>
                </a:lnTo>
                <a:lnTo>
                  <a:pt x="257123" y="998828"/>
                </a:lnTo>
                <a:lnTo>
                  <a:pt x="274264" y="988398"/>
                </a:lnTo>
                <a:lnTo>
                  <a:pt x="291406" y="977982"/>
                </a:lnTo>
                <a:lnTo>
                  <a:pt x="308547" y="967579"/>
                </a:lnTo>
                <a:lnTo>
                  <a:pt x="325689" y="957191"/>
                </a:lnTo>
                <a:lnTo>
                  <a:pt x="342830" y="946818"/>
                </a:lnTo>
                <a:lnTo>
                  <a:pt x="359972" y="936460"/>
                </a:lnTo>
                <a:lnTo>
                  <a:pt x="377113" y="926118"/>
                </a:lnTo>
                <a:lnTo>
                  <a:pt x="394255" y="915793"/>
                </a:lnTo>
                <a:lnTo>
                  <a:pt x="411396" y="905485"/>
                </a:lnTo>
                <a:lnTo>
                  <a:pt x="428538" y="895195"/>
                </a:lnTo>
                <a:lnTo>
                  <a:pt x="445679" y="884923"/>
                </a:lnTo>
                <a:lnTo>
                  <a:pt x="462821" y="874670"/>
                </a:lnTo>
                <a:lnTo>
                  <a:pt x="479962" y="864437"/>
                </a:lnTo>
                <a:lnTo>
                  <a:pt x="497104" y="854224"/>
                </a:lnTo>
                <a:lnTo>
                  <a:pt x="514245" y="844032"/>
                </a:lnTo>
                <a:lnTo>
                  <a:pt x="531387" y="833862"/>
                </a:lnTo>
                <a:lnTo>
                  <a:pt x="548528" y="823715"/>
                </a:lnTo>
                <a:lnTo>
                  <a:pt x="565670" y="813592"/>
                </a:lnTo>
                <a:lnTo>
                  <a:pt x="582811" y="803493"/>
                </a:lnTo>
                <a:lnTo>
                  <a:pt x="599953" y="793419"/>
                </a:lnTo>
                <a:lnTo>
                  <a:pt x="617094" y="783372"/>
                </a:lnTo>
                <a:lnTo>
                  <a:pt x="634236" y="773352"/>
                </a:lnTo>
                <a:lnTo>
                  <a:pt x="651377" y="763360"/>
                </a:lnTo>
                <a:lnTo>
                  <a:pt x="668519" y="753397"/>
                </a:lnTo>
                <a:lnTo>
                  <a:pt x="685660" y="743465"/>
                </a:lnTo>
                <a:lnTo>
                  <a:pt x="702802" y="733565"/>
                </a:lnTo>
                <a:lnTo>
                  <a:pt x="719943" y="723697"/>
                </a:lnTo>
                <a:lnTo>
                  <a:pt x="737085" y="713864"/>
                </a:lnTo>
                <a:lnTo>
                  <a:pt x="754226" y="704066"/>
                </a:lnTo>
                <a:lnTo>
                  <a:pt x="771368" y="694305"/>
                </a:lnTo>
                <a:lnTo>
                  <a:pt x="788509" y="684582"/>
                </a:lnTo>
                <a:lnTo>
                  <a:pt x="805651" y="674899"/>
                </a:lnTo>
                <a:lnTo>
                  <a:pt x="822793" y="665256"/>
                </a:lnTo>
                <a:lnTo>
                  <a:pt x="839934" y="655657"/>
                </a:lnTo>
                <a:lnTo>
                  <a:pt x="857076" y="646102"/>
                </a:lnTo>
                <a:lnTo>
                  <a:pt x="874217" y="636593"/>
                </a:lnTo>
                <a:lnTo>
                  <a:pt x="891359" y="627131"/>
                </a:lnTo>
                <a:lnTo>
                  <a:pt x="908500" y="617719"/>
                </a:lnTo>
                <a:lnTo>
                  <a:pt x="925642" y="608359"/>
                </a:lnTo>
                <a:lnTo>
                  <a:pt x="942783" y="599052"/>
                </a:lnTo>
                <a:lnTo>
                  <a:pt x="959925" y="589800"/>
                </a:lnTo>
                <a:lnTo>
                  <a:pt x="977066" y="580605"/>
                </a:lnTo>
                <a:lnTo>
                  <a:pt x="994208" y="571470"/>
                </a:lnTo>
                <a:lnTo>
                  <a:pt x="1011349" y="562396"/>
                </a:lnTo>
                <a:lnTo>
                  <a:pt x="1028491" y="553385"/>
                </a:lnTo>
                <a:lnTo>
                  <a:pt x="1045632" y="544440"/>
                </a:lnTo>
                <a:lnTo>
                  <a:pt x="1062774" y="535563"/>
                </a:lnTo>
                <a:lnTo>
                  <a:pt x="1079915" y="526756"/>
                </a:lnTo>
                <a:lnTo>
                  <a:pt x="1097057" y="518021"/>
                </a:lnTo>
                <a:lnTo>
                  <a:pt x="1114198" y="509361"/>
                </a:lnTo>
                <a:lnTo>
                  <a:pt x="1131340" y="500778"/>
                </a:lnTo>
                <a:lnTo>
                  <a:pt x="1148481" y="492273"/>
                </a:lnTo>
                <a:lnTo>
                  <a:pt x="1165623" y="483850"/>
                </a:lnTo>
                <a:lnTo>
                  <a:pt x="1182764" y="475511"/>
                </a:lnTo>
                <a:lnTo>
                  <a:pt x="1199906" y="467256"/>
                </a:lnTo>
                <a:lnTo>
                  <a:pt x="1217047" y="459090"/>
                </a:lnTo>
                <a:lnTo>
                  <a:pt x="1234189" y="451013"/>
                </a:lnTo>
                <a:lnTo>
                  <a:pt x="1251330" y="443028"/>
                </a:lnTo>
                <a:lnTo>
                  <a:pt x="1268472" y="435137"/>
                </a:lnTo>
                <a:lnTo>
                  <a:pt x="1285613" y="427340"/>
                </a:lnTo>
                <a:lnTo>
                  <a:pt x="1302755" y="419641"/>
                </a:lnTo>
                <a:lnTo>
                  <a:pt x="1319896" y="412039"/>
                </a:lnTo>
                <a:lnTo>
                  <a:pt x="1337038" y="404538"/>
                </a:lnTo>
                <a:lnTo>
                  <a:pt x="1354179" y="397138"/>
                </a:lnTo>
                <a:lnTo>
                  <a:pt x="1371321" y="389839"/>
                </a:lnTo>
                <a:lnTo>
                  <a:pt x="1388462" y="382643"/>
                </a:lnTo>
                <a:lnTo>
                  <a:pt x="1405604" y="375551"/>
                </a:lnTo>
                <a:lnTo>
                  <a:pt x="1422745" y="368563"/>
                </a:lnTo>
                <a:lnTo>
                  <a:pt x="1439887" y="361679"/>
                </a:lnTo>
                <a:lnTo>
                  <a:pt x="1457028" y="354900"/>
                </a:lnTo>
                <a:lnTo>
                  <a:pt x="1474170" y="348225"/>
                </a:lnTo>
                <a:lnTo>
                  <a:pt x="1491311" y="341654"/>
                </a:lnTo>
                <a:lnTo>
                  <a:pt x="1508453" y="335187"/>
                </a:lnTo>
                <a:lnTo>
                  <a:pt x="1509438" y="334818"/>
                </a:lnTo>
                <a:lnTo>
                  <a:pt x="1509438" y="0"/>
                </a:lnTo>
                <a:lnTo>
                  <a:pt x="1509438" y="0"/>
                </a:lnTo>
                <a:lnTo>
                  <a:pt x="1508453" y="416"/>
                </a:lnTo>
                <a:lnTo>
                  <a:pt x="1491311" y="7601"/>
                </a:lnTo>
                <a:lnTo>
                  <a:pt x="1474170" y="14682"/>
                </a:lnTo>
                <a:lnTo>
                  <a:pt x="1457028" y="21659"/>
                </a:lnTo>
                <a:lnTo>
                  <a:pt x="1439887" y="28531"/>
                </a:lnTo>
                <a:lnTo>
                  <a:pt x="1422745" y="35300"/>
                </a:lnTo>
                <a:lnTo>
                  <a:pt x="1405604" y="41964"/>
                </a:lnTo>
                <a:lnTo>
                  <a:pt x="1388462" y="48524"/>
                </a:lnTo>
                <a:lnTo>
                  <a:pt x="1371321" y="54980"/>
                </a:lnTo>
                <a:lnTo>
                  <a:pt x="1354179" y="61333"/>
                </a:lnTo>
                <a:lnTo>
                  <a:pt x="1337038" y="67585"/>
                </a:lnTo>
                <a:lnTo>
                  <a:pt x="1319896" y="73736"/>
                </a:lnTo>
                <a:lnTo>
                  <a:pt x="1302755" y="79787"/>
                </a:lnTo>
                <a:lnTo>
                  <a:pt x="1285613" y="85739"/>
                </a:lnTo>
                <a:lnTo>
                  <a:pt x="1268472" y="91595"/>
                </a:lnTo>
                <a:lnTo>
                  <a:pt x="1251330" y="97355"/>
                </a:lnTo>
                <a:lnTo>
                  <a:pt x="1234189" y="103022"/>
                </a:lnTo>
                <a:lnTo>
                  <a:pt x="1217047" y="108597"/>
                </a:lnTo>
                <a:lnTo>
                  <a:pt x="1199906" y="114083"/>
                </a:lnTo>
                <a:lnTo>
                  <a:pt x="1182764" y="119481"/>
                </a:lnTo>
                <a:lnTo>
                  <a:pt x="1165623" y="124793"/>
                </a:lnTo>
                <a:lnTo>
                  <a:pt x="1148481" y="130022"/>
                </a:lnTo>
                <a:lnTo>
                  <a:pt x="1131340" y="135170"/>
                </a:lnTo>
                <a:lnTo>
                  <a:pt x="1114198" y="140239"/>
                </a:lnTo>
                <a:lnTo>
                  <a:pt x="1097057" y="145230"/>
                </a:lnTo>
                <a:lnTo>
                  <a:pt x="1079915" y="150148"/>
                </a:lnTo>
                <a:lnTo>
                  <a:pt x="1062774" y="154993"/>
                </a:lnTo>
                <a:lnTo>
                  <a:pt x="1045632" y="159768"/>
                </a:lnTo>
                <a:lnTo>
                  <a:pt x="1028491" y="164475"/>
                </a:lnTo>
                <a:lnTo>
                  <a:pt x="1011349" y="169116"/>
                </a:lnTo>
                <a:lnTo>
                  <a:pt x="994208" y="173694"/>
                </a:lnTo>
                <a:lnTo>
                  <a:pt x="977066" y="178211"/>
                </a:lnTo>
                <a:lnTo>
                  <a:pt x="959925" y="182668"/>
                </a:lnTo>
                <a:lnTo>
                  <a:pt x="942783" y="187068"/>
                </a:lnTo>
                <a:lnTo>
                  <a:pt x="925642" y="191413"/>
                </a:lnTo>
                <a:lnTo>
                  <a:pt x="908500" y="195705"/>
                </a:lnTo>
                <a:lnTo>
                  <a:pt x="891359" y="199945"/>
                </a:lnTo>
                <a:lnTo>
                  <a:pt x="874217" y="204136"/>
                </a:lnTo>
                <a:lnTo>
                  <a:pt x="857076" y="208279"/>
                </a:lnTo>
                <a:lnTo>
                  <a:pt x="839934" y="212376"/>
                </a:lnTo>
                <a:lnTo>
                  <a:pt x="822793" y="216428"/>
                </a:lnTo>
                <a:lnTo>
                  <a:pt x="805651" y="220438"/>
                </a:lnTo>
                <a:lnTo>
                  <a:pt x="788509" y="224407"/>
                </a:lnTo>
                <a:lnTo>
                  <a:pt x="771368" y="228336"/>
                </a:lnTo>
                <a:lnTo>
                  <a:pt x="754226" y="232227"/>
                </a:lnTo>
                <a:lnTo>
                  <a:pt x="737085" y="236081"/>
                </a:lnTo>
                <a:lnTo>
                  <a:pt x="719943" y="239899"/>
                </a:lnTo>
                <a:lnTo>
                  <a:pt x="702802" y="243684"/>
                </a:lnTo>
                <a:lnTo>
                  <a:pt x="685660" y="247436"/>
                </a:lnTo>
                <a:lnTo>
                  <a:pt x="668519" y="251156"/>
                </a:lnTo>
                <a:lnTo>
                  <a:pt x="651377" y="254845"/>
                </a:lnTo>
                <a:lnTo>
                  <a:pt x="634236" y="258505"/>
                </a:lnTo>
                <a:lnTo>
                  <a:pt x="617094" y="262137"/>
                </a:lnTo>
                <a:lnTo>
                  <a:pt x="599953" y="265742"/>
                </a:lnTo>
                <a:lnTo>
                  <a:pt x="582811" y="269320"/>
                </a:lnTo>
                <a:lnTo>
                  <a:pt x="565670" y="272873"/>
                </a:lnTo>
                <a:lnTo>
                  <a:pt x="548528" y="276402"/>
                </a:lnTo>
                <a:lnTo>
                  <a:pt x="531387" y="279907"/>
                </a:lnTo>
                <a:lnTo>
                  <a:pt x="514245" y="283389"/>
                </a:lnTo>
                <a:lnTo>
                  <a:pt x="497104" y="286850"/>
                </a:lnTo>
                <a:lnTo>
                  <a:pt x="479962" y="290289"/>
                </a:lnTo>
                <a:lnTo>
                  <a:pt x="462821" y="293708"/>
                </a:lnTo>
                <a:lnTo>
                  <a:pt x="445679" y="297107"/>
                </a:lnTo>
                <a:lnTo>
                  <a:pt x="428538" y="300487"/>
                </a:lnTo>
                <a:lnTo>
                  <a:pt x="411396" y="303849"/>
                </a:lnTo>
                <a:lnTo>
                  <a:pt x="394255" y="307193"/>
                </a:lnTo>
                <a:lnTo>
                  <a:pt x="377113" y="310520"/>
                </a:lnTo>
                <a:lnTo>
                  <a:pt x="359972" y="313830"/>
                </a:lnTo>
                <a:lnTo>
                  <a:pt x="342830" y="317124"/>
                </a:lnTo>
                <a:lnTo>
                  <a:pt x="325689" y="320403"/>
                </a:lnTo>
                <a:lnTo>
                  <a:pt x="308547" y="323667"/>
                </a:lnTo>
                <a:lnTo>
                  <a:pt x="291406" y="326916"/>
                </a:lnTo>
                <a:lnTo>
                  <a:pt x="274264" y="330152"/>
                </a:lnTo>
                <a:lnTo>
                  <a:pt x="257123" y="333374"/>
                </a:lnTo>
                <a:lnTo>
                  <a:pt x="239981" y="336582"/>
                </a:lnTo>
                <a:lnTo>
                  <a:pt x="222840" y="339779"/>
                </a:lnTo>
                <a:lnTo>
                  <a:pt x="205698" y="342962"/>
                </a:lnTo>
                <a:lnTo>
                  <a:pt x="188557" y="346134"/>
                </a:lnTo>
                <a:lnTo>
                  <a:pt x="171415" y="349295"/>
                </a:lnTo>
                <a:lnTo>
                  <a:pt x="154274" y="352444"/>
                </a:lnTo>
                <a:lnTo>
                  <a:pt x="137132" y="355582"/>
                </a:lnTo>
                <a:lnTo>
                  <a:pt x="119991" y="358710"/>
                </a:lnTo>
                <a:lnTo>
                  <a:pt x="102849" y="361828"/>
                </a:lnTo>
                <a:lnTo>
                  <a:pt x="85708" y="364936"/>
                </a:lnTo>
                <a:lnTo>
                  <a:pt x="68566" y="368034"/>
                </a:lnTo>
                <a:lnTo>
                  <a:pt x="51425" y="371123"/>
                </a:lnTo>
                <a:lnTo>
                  <a:pt x="34283" y="374203"/>
                </a:lnTo>
                <a:lnTo>
                  <a:pt x="17142" y="377274"/>
                </a:lnTo>
                <a:lnTo>
                  <a:pt x="0" y="380337"/>
                </a:lnTo>
                <a:close/>
              </a:path>
            </a:pathLst>
          </a:custGeom>
          <a:solidFill xmlns:a="http://schemas.openxmlformats.org/drawingml/2006/main">
            <a:srgbClr val="697480">
              <a:alpha val="18000"/>
            </a:srgbClr>
          </a:solidFill>
          <a:ln xmlns:a="http://schemas.openxmlformats.org/drawingml/2006/main" w="12700">
            <a:solidFill>
              <a:srgbClr val="697480">
                <a:alpha val="18000"/>
              </a:srgbClr>
            </a:solidFill>
            <a:prstDash val="solid"/>
          </a:ln>
        </p:spPr>
      </p:sp>
      <p:sp>
        <p:nvSpPr>
          <p:cNvPr id="4" name="me82e80e237 4">
            <a:extLst xmlns:a="http://schemas.openxmlformats.org/drawingml/2006/main">
              <a:ext uri="{FF2B5EF4-FFF2-40B4-BE49-F238E27FC236}">
                <a16:creationId xmlns:a16="http://schemas.microsoft.com/office/drawing/2014/main" id="{497603EE-18CC-44FA-9491-80CF134F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171" y="1142814"/>
            <a:ext cx="1061788" cy="911805"/>
          </a:xfrm>
          <a:custGeom xmlns:a="http://schemas.openxmlformats.org/drawingml/2006/main">
            <a:pathLst>
              <a:path w="1061788" h="911805">
                <a:moveTo>
                  <a:pt x="0" y="576988"/>
                </a:moveTo>
                <a:lnTo>
                  <a:pt x="0" y="911805"/>
                </a:lnTo>
                <a:lnTo>
                  <a:pt x="16156" y="905810"/>
                </a:lnTo>
                <a:lnTo>
                  <a:pt x="33298" y="899547"/>
                </a:lnTo>
                <a:lnTo>
                  <a:pt x="50439" y="893386"/>
                </a:lnTo>
                <a:lnTo>
                  <a:pt x="67581" y="887324"/>
                </a:lnTo>
                <a:lnTo>
                  <a:pt x="84722" y="881361"/>
                </a:lnTo>
                <a:lnTo>
                  <a:pt x="101864" y="875495"/>
                </a:lnTo>
                <a:lnTo>
                  <a:pt x="119005" y="869725"/>
                </a:lnTo>
                <a:lnTo>
                  <a:pt x="136147" y="864048"/>
                </a:lnTo>
                <a:lnTo>
                  <a:pt x="153288" y="858463"/>
                </a:lnTo>
                <a:lnTo>
                  <a:pt x="170430" y="852968"/>
                </a:lnTo>
                <a:lnTo>
                  <a:pt x="187571" y="847561"/>
                </a:lnTo>
                <a:lnTo>
                  <a:pt x="204713" y="842240"/>
                </a:lnTo>
                <a:lnTo>
                  <a:pt x="221854" y="837002"/>
                </a:lnTo>
                <a:lnTo>
                  <a:pt x="238996" y="831846"/>
                </a:lnTo>
                <a:lnTo>
                  <a:pt x="256137" y="826769"/>
                </a:lnTo>
                <a:lnTo>
                  <a:pt x="273279" y="821769"/>
                </a:lnTo>
                <a:lnTo>
                  <a:pt x="290421" y="816843"/>
                </a:lnTo>
                <a:lnTo>
                  <a:pt x="307562" y="811991"/>
                </a:lnTo>
                <a:lnTo>
                  <a:pt x="324704" y="807208"/>
                </a:lnTo>
                <a:lnTo>
                  <a:pt x="341845" y="802494"/>
                </a:lnTo>
                <a:lnTo>
                  <a:pt x="358987" y="797846"/>
                </a:lnTo>
                <a:lnTo>
                  <a:pt x="376128" y="793261"/>
                </a:lnTo>
                <a:lnTo>
                  <a:pt x="393270" y="788738"/>
                </a:lnTo>
                <a:lnTo>
                  <a:pt x="410411" y="784274"/>
                </a:lnTo>
                <a:lnTo>
                  <a:pt x="427553" y="779868"/>
                </a:lnTo>
                <a:lnTo>
                  <a:pt x="444694" y="775518"/>
                </a:lnTo>
                <a:lnTo>
                  <a:pt x="461836" y="771220"/>
                </a:lnTo>
                <a:lnTo>
                  <a:pt x="478977" y="766975"/>
                </a:lnTo>
                <a:lnTo>
                  <a:pt x="496119" y="762779"/>
                </a:lnTo>
                <a:lnTo>
                  <a:pt x="513260" y="758631"/>
                </a:lnTo>
                <a:lnTo>
                  <a:pt x="530402" y="754529"/>
                </a:lnTo>
                <a:lnTo>
                  <a:pt x="547543" y="750472"/>
                </a:lnTo>
                <a:lnTo>
                  <a:pt x="564685" y="746458"/>
                </a:lnTo>
                <a:lnTo>
                  <a:pt x="581826" y="742485"/>
                </a:lnTo>
                <a:lnTo>
                  <a:pt x="598968" y="738552"/>
                </a:lnTo>
                <a:lnTo>
                  <a:pt x="616109" y="734657"/>
                </a:lnTo>
                <a:lnTo>
                  <a:pt x="633251" y="730799"/>
                </a:lnTo>
                <a:lnTo>
                  <a:pt x="650392" y="726976"/>
                </a:lnTo>
                <a:lnTo>
                  <a:pt x="667534" y="723188"/>
                </a:lnTo>
                <a:lnTo>
                  <a:pt x="684675" y="719433"/>
                </a:lnTo>
                <a:lnTo>
                  <a:pt x="701817" y="715710"/>
                </a:lnTo>
                <a:lnTo>
                  <a:pt x="718958" y="712017"/>
                </a:lnTo>
                <a:lnTo>
                  <a:pt x="736100" y="708354"/>
                </a:lnTo>
                <a:lnTo>
                  <a:pt x="753241" y="704719"/>
                </a:lnTo>
                <a:lnTo>
                  <a:pt x="770383" y="701111"/>
                </a:lnTo>
                <a:lnTo>
                  <a:pt x="787524" y="697530"/>
                </a:lnTo>
                <a:lnTo>
                  <a:pt x="804666" y="693975"/>
                </a:lnTo>
                <a:lnTo>
                  <a:pt x="821807" y="690443"/>
                </a:lnTo>
                <a:lnTo>
                  <a:pt x="838949" y="686936"/>
                </a:lnTo>
                <a:lnTo>
                  <a:pt x="856090" y="683451"/>
                </a:lnTo>
                <a:lnTo>
                  <a:pt x="873232" y="679989"/>
                </a:lnTo>
                <a:lnTo>
                  <a:pt x="890373" y="676547"/>
                </a:lnTo>
                <a:lnTo>
                  <a:pt x="907515" y="673126"/>
                </a:lnTo>
                <a:lnTo>
                  <a:pt x="924656" y="669725"/>
                </a:lnTo>
                <a:lnTo>
                  <a:pt x="941798" y="666343"/>
                </a:lnTo>
                <a:lnTo>
                  <a:pt x="958939" y="662979"/>
                </a:lnTo>
                <a:lnTo>
                  <a:pt x="976081" y="659633"/>
                </a:lnTo>
                <a:lnTo>
                  <a:pt x="993222" y="656305"/>
                </a:lnTo>
                <a:lnTo>
                  <a:pt x="1010364" y="652993"/>
                </a:lnTo>
                <a:lnTo>
                  <a:pt x="1027505" y="649697"/>
                </a:lnTo>
                <a:lnTo>
                  <a:pt x="1044647" y="646416"/>
                </a:lnTo>
                <a:lnTo>
                  <a:pt x="1061788" y="643151"/>
                </a:lnTo>
                <a:lnTo>
                  <a:pt x="1061788" y="0"/>
                </a:lnTo>
                <a:lnTo>
                  <a:pt x="1061788" y="0"/>
                </a:lnTo>
                <a:lnTo>
                  <a:pt x="1044647" y="10387"/>
                </a:lnTo>
                <a:lnTo>
                  <a:pt x="1027505" y="20758"/>
                </a:lnTo>
                <a:lnTo>
                  <a:pt x="1010364" y="31114"/>
                </a:lnTo>
                <a:lnTo>
                  <a:pt x="993222" y="41454"/>
                </a:lnTo>
                <a:lnTo>
                  <a:pt x="976081" y="51778"/>
                </a:lnTo>
                <a:lnTo>
                  <a:pt x="958939" y="62084"/>
                </a:lnTo>
                <a:lnTo>
                  <a:pt x="941798" y="72372"/>
                </a:lnTo>
                <a:lnTo>
                  <a:pt x="924656" y="82642"/>
                </a:lnTo>
                <a:lnTo>
                  <a:pt x="907515" y="92893"/>
                </a:lnTo>
                <a:lnTo>
                  <a:pt x="890373" y="103124"/>
                </a:lnTo>
                <a:lnTo>
                  <a:pt x="873232" y="113335"/>
                </a:lnTo>
                <a:lnTo>
                  <a:pt x="856090" y="123524"/>
                </a:lnTo>
                <a:lnTo>
                  <a:pt x="838949" y="133691"/>
                </a:lnTo>
                <a:lnTo>
                  <a:pt x="821807" y="143836"/>
                </a:lnTo>
                <a:lnTo>
                  <a:pt x="804666" y="153957"/>
                </a:lnTo>
                <a:lnTo>
                  <a:pt x="787524" y="164053"/>
                </a:lnTo>
                <a:lnTo>
                  <a:pt x="770383" y="174124"/>
                </a:lnTo>
                <a:lnTo>
                  <a:pt x="753241" y="184169"/>
                </a:lnTo>
                <a:lnTo>
                  <a:pt x="736100" y="194186"/>
                </a:lnTo>
                <a:lnTo>
                  <a:pt x="718958" y="204175"/>
                </a:lnTo>
                <a:lnTo>
                  <a:pt x="701817" y="214134"/>
                </a:lnTo>
                <a:lnTo>
                  <a:pt x="684675" y="224063"/>
                </a:lnTo>
                <a:lnTo>
                  <a:pt x="667534" y="233959"/>
                </a:lnTo>
                <a:lnTo>
                  <a:pt x="650392" y="243823"/>
                </a:lnTo>
                <a:lnTo>
                  <a:pt x="633251" y="253653"/>
                </a:lnTo>
                <a:lnTo>
                  <a:pt x="616109" y="263447"/>
                </a:lnTo>
                <a:lnTo>
                  <a:pt x="598968" y="273204"/>
                </a:lnTo>
                <a:lnTo>
                  <a:pt x="581826" y="282923"/>
                </a:lnTo>
                <a:lnTo>
                  <a:pt x="564685" y="292602"/>
                </a:lnTo>
                <a:lnTo>
                  <a:pt x="547543" y="302240"/>
                </a:lnTo>
                <a:lnTo>
                  <a:pt x="530402" y="311835"/>
                </a:lnTo>
                <a:lnTo>
                  <a:pt x="513260" y="321385"/>
                </a:lnTo>
                <a:lnTo>
                  <a:pt x="496119" y="330889"/>
                </a:lnTo>
                <a:lnTo>
                  <a:pt x="478977" y="340345"/>
                </a:lnTo>
                <a:lnTo>
                  <a:pt x="461836" y="349752"/>
                </a:lnTo>
                <a:lnTo>
                  <a:pt x="444694" y="359107"/>
                </a:lnTo>
                <a:lnTo>
                  <a:pt x="427553" y="368408"/>
                </a:lnTo>
                <a:lnTo>
                  <a:pt x="410411" y="377654"/>
                </a:lnTo>
                <a:lnTo>
                  <a:pt x="393270" y="386842"/>
                </a:lnTo>
                <a:lnTo>
                  <a:pt x="376128" y="395971"/>
                </a:lnTo>
                <a:lnTo>
                  <a:pt x="358987" y="405039"/>
                </a:lnTo>
                <a:lnTo>
                  <a:pt x="341845" y="414043"/>
                </a:lnTo>
                <a:lnTo>
                  <a:pt x="324704" y="422980"/>
                </a:lnTo>
                <a:lnTo>
                  <a:pt x="307562" y="431850"/>
                </a:lnTo>
                <a:lnTo>
                  <a:pt x="290421" y="440649"/>
                </a:lnTo>
                <a:lnTo>
                  <a:pt x="273279" y="449376"/>
                </a:lnTo>
                <a:lnTo>
                  <a:pt x="256137" y="458028"/>
                </a:lnTo>
                <a:lnTo>
                  <a:pt x="238996" y="466603"/>
                </a:lnTo>
                <a:lnTo>
                  <a:pt x="221854" y="475099"/>
                </a:lnTo>
                <a:lnTo>
                  <a:pt x="204713" y="483513"/>
                </a:lnTo>
                <a:lnTo>
                  <a:pt x="187571" y="491844"/>
                </a:lnTo>
                <a:lnTo>
                  <a:pt x="170430" y="500089"/>
                </a:lnTo>
                <a:lnTo>
                  <a:pt x="153288" y="508246"/>
                </a:lnTo>
                <a:lnTo>
                  <a:pt x="136147" y="516313"/>
                </a:lnTo>
                <a:lnTo>
                  <a:pt x="119005" y="524288"/>
                </a:lnTo>
                <a:lnTo>
                  <a:pt x="101864" y="532170"/>
                </a:lnTo>
                <a:lnTo>
                  <a:pt x="84722" y="539956"/>
                </a:lnTo>
                <a:lnTo>
                  <a:pt x="67581" y="547645"/>
                </a:lnTo>
                <a:lnTo>
                  <a:pt x="50439" y="555236"/>
                </a:lnTo>
                <a:lnTo>
                  <a:pt x="33298" y="562726"/>
                </a:lnTo>
                <a:lnTo>
                  <a:pt x="16156" y="570116"/>
                </a:lnTo>
                <a:lnTo>
                  <a:pt x="0" y="576988"/>
                </a:lnTo>
                <a:close/>
              </a:path>
            </a:pathLst>
          </a:custGeom>
          <a:solidFill xmlns:a="http://schemas.openxmlformats.org/drawingml/2006/main">
            <a:srgbClr val="D55E00">
              <a:alpha val="18000"/>
            </a:srgbClr>
          </a:solidFill>
          <a:ln xmlns:a="http://schemas.openxmlformats.org/drawingml/2006/main" w="12700">
            <a:solidFill>
              <a:srgbClr val="D55E00">
                <a:alpha val="18000"/>
              </a:srgbClr>
            </a:solidFill>
            <a:prstDash val="solid"/>
          </a:ln>
        </p:spPr>
      </p:sp>
      <p:sp>
        <p:nvSpPr>
          <p:cNvPr id="5" name="m2fe37c5cf0 5">
            <a:extLst xmlns:a="http://schemas.openxmlformats.org/drawingml/2006/main">
              <a:ext uri="{FF2B5EF4-FFF2-40B4-BE49-F238E27FC236}">
                <a16:creationId xmlns:a16="http://schemas.microsoft.com/office/drawing/2014/main" id="{FC6498C3-81CE-4114-B4F1-8ACBF10A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32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" name="m2fe37c5cf0 6">
            <a:extLst xmlns:a="http://schemas.openxmlformats.org/drawingml/2006/main">
              <a:ext uri="{FF2B5EF4-FFF2-40B4-BE49-F238E27FC236}">
                <a16:creationId xmlns:a16="http://schemas.microsoft.com/office/drawing/2014/main" id="{B6CFE3A3-3A0C-4892-8C9A-E2C1D80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317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" name="m2fe37c5cf0 7">
            <a:extLst xmlns:a="http://schemas.openxmlformats.org/drawingml/2006/main">
              <a:ext uri="{FF2B5EF4-FFF2-40B4-BE49-F238E27FC236}">
                <a16:creationId xmlns:a16="http://schemas.microsoft.com/office/drawing/2014/main" id="{2CA7FE0F-09A7-450E-A307-7AEC8AD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02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m2fe37c5cf0 8">
            <a:extLst xmlns:a="http://schemas.openxmlformats.org/drawingml/2006/main">
              <a:ext uri="{FF2B5EF4-FFF2-40B4-BE49-F238E27FC236}">
                <a16:creationId xmlns:a16="http://schemas.microsoft.com/office/drawing/2014/main" id="{2021D8BA-E13F-4C42-8C61-BEB6B91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86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" name="m2fe37c5cf0 9">
            <a:extLst xmlns:a="http://schemas.openxmlformats.org/drawingml/2006/main">
              <a:ext uri="{FF2B5EF4-FFF2-40B4-BE49-F238E27FC236}">
                <a16:creationId xmlns:a16="http://schemas.microsoft.com/office/drawing/2014/main" id="{DFB1CECF-8C46-41D5-8554-963A2D2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171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" name="m2fe37c5cf0 10">
            <a:extLst xmlns:a="http://schemas.openxmlformats.org/drawingml/2006/main">
              <a:ext uri="{FF2B5EF4-FFF2-40B4-BE49-F238E27FC236}">
                <a16:creationId xmlns:a16="http://schemas.microsoft.com/office/drawing/2014/main" id="{2620BF5D-DCD5-48AF-9840-666C7746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456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" name="m2fe37c5cf0 11">
            <a:extLst xmlns:a="http://schemas.openxmlformats.org/drawingml/2006/main">
              <a:ext uri="{FF2B5EF4-FFF2-40B4-BE49-F238E27FC236}">
                <a16:creationId xmlns:a16="http://schemas.microsoft.com/office/drawing/2014/main" id="{CAD16B88-9875-4B83-92E0-F29294D2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41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" name="m2fe37c5cf0 12">
            <a:extLst xmlns:a="http://schemas.openxmlformats.org/drawingml/2006/main">
              <a:ext uri="{FF2B5EF4-FFF2-40B4-BE49-F238E27FC236}">
                <a16:creationId xmlns:a16="http://schemas.microsoft.com/office/drawing/2014/main" id="{6097B0FA-B93E-4BFF-918A-27487A87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26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" name="m5b7ecc52a7 13">
            <a:extLst xmlns:a="http://schemas.openxmlformats.org/drawingml/2006/main">
              <a:ext uri="{FF2B5EF4-FFF2-40B4-BE49-F238E27FC236}">
                <a16:creationId xmlns:a16="http://schemas.microsoft.com/office/drawing/2014/main" id="{D31D3911-BDDF-4738-B3EF-D6DE54E9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270786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" name="Text 14: 0.25">
            <a:extLst xmlns:a="http://schemas.openxmlformats.org/drawingml/2006/main">
              <a:ext uri="{FF2B5EF4-FFF2-40B4-BE49-F238E27FC236}">
                <a16:creationId xmlns:a16="http://schemas.microsoft.com/office/drawing/2014/main" id="{A34BDDB7-2D91-4FA5-8BB3-5647278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258" y="2638009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5" name="m5b7ecc52a7 15">
            <a:extLst xmlns:a="http://schemas.openxmlformats.org/drawingml/2006/main">
              <a:ext uri="{FF2B5EF4-FFF2-40B4-BE49-F238E27FC236}">
                <a16:creationId xmlns:a16="http://schemas.microsoft.com/office/drawing/2014/main" id="{81A6EFB9-7FB4-416E-9663-C3E3EF8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220001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" name="Text 16: 0.5">
            <a:extLst xmlns:a="http://schemas.openxmlformats.org/drawingml/2006/main">
              <a:ext uri="{FF2B5EF4-FFF2-40B4-BE49-F238E27FC236}">
                <a16:creationId xmlns:a16="http://schemas.microsoft.com/office/drawing/2014/main" id="{20340C0D-2DB4-4469-A4C1-F74BD26E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70" y="2130151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7" name="m5b7ecc52a7 17">
            <a:extLst xmlns:a="http://schemas.openxmlformats.org/drawingml/2006/main">
              <a:ext uri="{FF2B5EF4-FFF2-40B4-BE49-F238E27FC236}">
                <a16:creationId xmlns:a16="http://schemas.microsoft.com/office/drawing/2014/main" id="{47A836CE-F966-49FA-8556-3625EB6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169215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" name="Text 18: 1">
            <a:extLst xmlns:a="http://schemas.openxmlformats.org/drawingml/2006/main">
              <a:ext uri="{FF2B5EF4-FFF2-40B4-BE49-F238E27FC236}">
                <a16:creationId xmlns:a16="http://schemas.microsoft.com/office/drawing/2014/main" id="{099771D2-1F7C-4D53-9281-5161E929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1622293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m5b7ecc52a7 19">
            <a:extLst xmlns:a="http://schemas.openxmlformats.org/drawingml/2006/main">
              <a:ext uri="{FF2B5EF4-FFF2-40B4-BE49-F238E27FC236}">
                <a16:creationId xmlns:a16="http://schemas.microsoft.com/office/drawing/2014/main" id="{09E05E3C-0579-430D-ACBC-9412D25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118429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" name="Text 20: 2">
            <a:extLst xmlns:a="http://schemas.openxmlformats.org/drawingml/2006/main">
              <a:ext uri="{FF2B5EF4-FFF2-40B4-BE49-F238E27FC236}">
                <a16:creationId xmlns:a16="http://schemas.microsoft.com/office/drawing/2014/main" id="{3865FBFE-3157-4282-823E-4AFF034F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1114435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 21: Treatment HR (ICI+CT / CT)">
            <a:extLst xmlns:a="http://schemas.openxmlformats.org/drawingml/2006/main">
              <a:ext uri="{FF2B5EF4-FFF2-40B4-BE49-F238E27FC236}">
                <a16:creationId xmlns:a16="http://schemas.microsoft.com/office/drawing/2014/main" id="{E24CC5A9-3B04-48B4-8B3A-CC9A745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267538" y="1927080"/>
            <a:ext cx="162358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Treatment HR (ICI+CT / CT)</a:t>
            </a:r>
          </a:p>
        </p:txBody>
      </p:sp>
      <p:sp>
        <p:nvSpPr>
          <p:cNvPr id="22" name="Vector 22">
            <a:extLst xmlns:a="http://schemas.openxmlformats.org/drawingml/2006/main">
              <a:ext uri="{FF2B5EF4-FFF2-40B4-BE49-F238E27FC236}">
                <a16:creationId xmlns:a16="http://schemas.microsoft.com/office/drawing/2014/main" id="{5237D3CF-07FC-47CF-B7BE-6853092E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733" y="1887210"/>
            <a:ext cx="1509438" cy="601082"/>
          </a:xfrm>
          <a:custGeom xmlns:a="http://schemas.openxmlformats.org/drawingml/2006/main">
            <a:pathLst>
              <a:path w="1509438" h="601082">
                <a:moveTo>
                  <a:pt x="0" y="601082"/>
                </a:moveTo>
                <a:lnTo>
                  <a:pt x="17142" y="594256"/>
                </a:lnTo>
                <a:lnTo>
                  <a:pt x="34283" y="587430"/>
                </a:lnTo>
                <a:lnTo>
                  <a:pt x="51425" y="580604"/>
                </a:lnTo>
                <a:lnTo>
                  <a:pt x="68566" y="573778"/>
                </a:lnTo>
                <a:lnTo>
                  <a:pt x="85708" y="566952"/>
                </a:lnTo>
                <a:lnTo>
                  <a:pt x="102849" y="560126"/>
                </a:lnTo>
                <a:lnTo>
                  <a:pt x="119991" y="553300"/>
                </a:lnTo>
                <a:lnTo>
                  <a:pt x="137132" y="546474"/>
                </a:lnTo>
                <a:lnTo>
                  <a:pt x="154274" y="539648"/>
                </a:lnTo>
                <a:lnTo>
                  <a:pt x="171415" y="532822"/>
                </a:lnTo>
                <a:lnTo>
                  <a:pt x="188557" y="525996"/>
                </a:lnTo>
                <a:lnTo>
                  <a:pt x="205698" y="519170"/>
                </a:lnTo>
                <a:lnTo>
                  <a:pt x="222840" y="512344"/>
                </a:lnTo>
                <a:lnTo>
                  <a:pt x="239981" y="505518"/>
                </a:lnTo>
                <a:lnTo>
                  <a:pt x="257123" y="498692"/>
                </a:lnTo>
                <a:lnTo>
                  <a:pt x="274264" y="491866"/>
                </a:lnTo>
                <a:lnTo>
                  <a:pt x="291406" y="485040"/>
                </a:lnTo>
                <a:lnTo>
                  <a:pt x="308547" y="478214"/>
                </a:lnTo>
                <a:lnTo>
                  <a:pt x="325689" y="471388"/>
                </a:lnTo>
                <a:lnTo>
                  <a:pt x="342830" y="464562"/>
                </a:lnTo>
                <a:lnTo>
                  <a:pt x="359972" y="457736"/>
                </a:lnTo>
                <a:lnTo>
                  <a:pt x="377113" y="450910"/>
                </a:lnTo>
                <a:lnTo>
                  <a:pt x="394255" y="444084"/>
                </a:lnTo>
                <a:lnTo>
                  <a:pt x="411396" y="437258"/>
                </a:lnTo>
                <a:lnTo>
                  <a:pt x="428538" y="430432"/>
                </a:lnTo>
                <a:lnTo>
                  <a:pt x="445679" y="423606"/>
                </a:lnTo>
                <a:lnTo>
                  <a:pt x="462821" y="416780"/>
                </a:lnTo>
                <a:lnTo>
                  <a:pt x="479962" y="409954"/>
                </a:lnTo>
                <a:lnTo>
                  <a:pt x="497104" y="403128"/>
                </a:lnTo>
                <a:lnTo>
                  <a:pt x="514245" y="396302"/>
                </a:lnTo>
                <a:lnTo>
                  <a:pt x="531387" y="389476"/>
                </a:lnTo>
                <a:lnTo>
                  <a:pt x="548528" y="382650"/>
                </a:lnTo>
                <a:lnTo>
                  <a:pt x="565670" y="375824"/>
                </a:lnTo>
                <a:lnTo>
                  <a:pt x="582811" y="368998"/>
                </a:lnTo>
                <a:lnTo>
                  <a:pt x="599953" y="362172"/>
                </a:lnTo>
                <a:lnTo>
                  <a:pt x="617094" y="355346"/>
                </a:lnTo>
                <a:lnTo>
                  <a:pt x="634236" y="348520"/>
                </a:lnTo>
                <a:lnTo>
                  <a:pt x="651377" y="341694"/>
                </a:lnTo>
                <a:lnTo>
                  <a:pt x="668519" y="334867"/>
                </a:lnTo>
                <a:lnTo>
                  <a:pt x="685660" y="328041"/>
                </a:lnTo>
                <a:lnTo>
                  <a:pt x="702802" y="321215"/>
                </a:lnTo>
                <a:lnTo>
                  <a:pt x="719943" y="314389"/>
                </a:lnTo>
                <a:lnTo>
                  <a:pt x="737085" y="307563"/>
                </a:lnTo>
                <a:lnTo>
                  <a:pt x="754226" y="300737"/>
                </a:lnTo>
                <a:lnTo>
                  <a:pt x="771368" y="293911"/>
                </a:lnTo>
                <a:lnTo>
                  <a:pt x="788509" y="287085"/>
                </a:lnTo>
                <a:lnTo>
                  <a:pt x="805651" y="280259"/>
                </a:lnTo>
                <a:lnTo>
                  <a:pt x="822793" y="273433"/>
                </a:lnTo>
                <a:lnTo>
                  <a:pt x="839934" y="266607"/>
                </a:lnTo>
                <a:lnTo>
                  <a:pt x="857076" y="259781"/>
                </a:lnTo>
                <a:lnTo>
                  <a:pt x="874217" y="252955"/>
                </a:lnTo>
                <a:lnTo>
                  <a:pt x="891359" y="246129"/>
                </a:lnTo>
                <a:lnTo>
                  <a:pt x="908500" y="239303"/>
                </a:lnTo>
                <a:lnTo>
                  <a:pt x="925642" y="232477"/>
                </a:lnTo>
                <a:lnTo>
                  <a:pt x="942783" y="225651"/>
                </a:lnTo>
                <a:lnTo>
                  <a:pt x="959925" y="218825"/>
                </a:lnTo>
                <a:lnTo>
                  <a:pt x="977066" y="211999"/>
                </a:lnTo>
                <a:lnTo>
                  <a:pt x="994208" y="205173"/>
                </a:lnTo>
                <a:lnTo>
                  <a:pt x="1011349" y="198347"/>
                </a:lnTo>
                <a:lnTo>
                  <a:pt x="1028491" y="191521"/>
                </a:lnTo>
                <a:lnTo>
                  <a:pt x="1045632" y="184695"/>
                </a:lnTo>
                <a:lnTo>
                  <a:pt x="1062774" y="177869"/>
                </a:lnTo>
                <a:lnTo>
                  <a:pt x="1079915" y="171043"/>
                </a:lnTo>
                <a:lnTo>
                  <a:pt x="1097057" y="164217"/>
                </a:lnTo>
                <a:lnTo>
                  <a:pt x="1114198" y="157391"/>
                </a:lnTo>
                <a:lnTo>
                  <a:pt x="1131340" y="150565"/>
                </a:lnTo>
                <a:lnTo>
                  <a:pt x="1148481" y="143739"/>
                </a:lnTo>
                <a:lnTo>
                  <a:pt x="1165623" y="136913"/>
                </a:lnTo>
                <a:lnTo>
                  <a:pt x="1182764" y="130087"/>
                </a:lnTo>
                <a:lnTo>
                  <a:pt x="1199906" y="123261"/>
                </a:lnTo>
                <a:lnTo>
                  <a:pt x="1217047" y="116435"/>
                </a:lnTo>
                <a:lnTo>
                  <a:pt x="1234189" y="109609"/>
                </a:lnTo>
                <a:lnTo>
                  <a:pt x="1251330" y="102783"/>
                </a:lnTo>
                <a:lnTo>
                  <a:pt x="1268472" y="95957"/>
                </a:lnTo>
                <a:lnTo>
                  <a:pt x="1285613" y="89131"/>
                </a:lnTo>
                <a:lnTo>
                  <a:pt x="1302755" y="82305"/>
                </a:lnTo>
                <a:lnTo>
                  <a:pt x="1319896" y="75479"/>
                </a:lnTo>
                <a:lnTo>
                  <a:pt x="1337038" y="68653"/>
                </a:lnTo>
                <a:lnTo>
                  <a:pt x="1354179" y="61827"/>
                </a:lnTo>
                <a:lnTo>
                  <a:pt x="1371321" y="55000"/>
                </a:lnTo>
                <a:lnTo>
                  <a:pt x="1388462" y="48174"/>
                </a:lnTo>
                <a:lnTo>
                  <a:pt x="1405604" y="41348"/>
                </a:lnTo>
                <a:lnTo>
                  <a:pt x="1422745" y="34522"/>
                </a:lnTo>
                <a:lnTo>
                  <a:pt x="1439887" y="27696"/>
                </a:lnTo>
                <a:lnTo>
                  <a:pt x="1457028" y="20870"/>
                </a:lnTo>
                <a:lnTo>
                  <a:pt x="1474170" y="14044"/>
                </a:lnTo>
                <a:lnTo>
                  <a:pt x="1491311" y="7218"/>
                </a:lnTo>
                <a:lnTo>
                  <a:pt x="1508453" y="392"/>
                </a:lnTo>
                <a:lnTo>
                  <a:pt x="1509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97480"/>
            </a:solidFill>
            <a:prstDash val="solid"/>
          </a:ln>
        </p:spPr>
      </p:sp>
      <p:sp>
        <p:nvSpPr>
          <p:cNvPr id="23" name="Vector 23">
            <a:extLst xmlns:a="http://schemas.openxmlformats.org/drawingml/2006/main">
              <a:ext uri="{FF2B5EF4-FFF2-40B4-BE49-F238E27FC236}">
                <a16:creationId xmlns:a16="http://schemas.microsoft.com/office/drawing/2014/main" id="{BC8AFFC6-0092-4BF3-B91C-DFC0F776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171" y="1464389"/>
            <a:ext cx="1061788" cy="422821"/>
          </a:xfrm>
          <a:custGeom xmlns:a="http://schemas.openxmlformats.org/drawingml/2006/main">
            <a:pathLst>
              <a:path w="1061788" h="422821">
                <a:moveTo>
                  <a:pt x="0" y="422821"/>
                </a:moveTo>
                <a:lnTo>
                  <a:pt x="16156" y="416387"/>
                </a:lnTo>
                <a:lnTo>
                  <a:pt x="33298" y="409561"/>
                </a:lnTo>
                <a:lnTo>
                  <a:pt x="50439" y="402735"/>
                </a:lnTo>
                <a:lnTo>
                  <a:pt x="67581" y="395909"/>
                </a:lnTo>
                <a:lnTo>
                  <a:pt x="84722" y="389083"/>
                </a:lnTo>
                <a:lnTo>
                  <a:pt x="101864" y="382257"/>
                </a:lnTo>
                <a:lnTo>
                  <a:pt x="119005" y="375431"/>
                </a:lnTo>
                <a:lnTo>
                  <a:pt x="136147" y="368605"/>
                </a:lnTo>
                <a:lnTo>
                  <a:pt x="153288" y="361779"/>
                </a:lnTo>
                <a:lnTo>
                  <a:pt x="170430" y="354953"/>
                </a:lnTo>
                <a:lnTo>
                  <a:pt x="187571" y="348127"/>
                </a:lnTo>
                <a:lnTo>
                  <a:pt x="204713" y="341301"/>
                </a:lnTo>
                <a:lnTo>
                  <a:pt x="221854" y="334475"/>
                </a:lnTo>
                <a:lnTo>
                  <a:pt x="238996" y="327649"/>
                </a:lnTo>
                <a:lnTo>
                  <a:pt x="256137" y="320823"/>
                </a:lnTo>
                <a:lnTo>
                  <a:pt x="273279" y="313997"/>
                </a:lnTo>
                <a:lnTo>
                  <a:pt x="290421" y="307171"/>
                </a:lnTo>
                <a:lnTo>
                  <a:pt x="307562" y="300345"/>
                </a:lnTo>
                <a:lnTo>
                  <a:pt x="324704" y="293519"/>
                </a:lnTo>
                <a:lnTo>
                  <a:pt x="341845" y="286693"/>
                </a:lnTo>
                <a:lnTo>
                  <a:pt x="358987" y="279867"/>
                </a:lnTo>
                <a:lnTo>
                  <a:pt x="376128" y="273041"/>
                </a:lnTo>
                <a:lnTo>
                  <a:pt x="393270" y="266215"/>
                </a:lnTo>
                <a:lnTo>
                  <a:pt x="410411" y="259389"/>
                </a:lnTo>
                <a:lnTo>
                  <a:pt x="427553" y="252563"/>
                </a:lnTo>
                <a:lnTo>
                  <a:pt x="444694" y="245737"/>
                </a:lnTo>
                <a:lnTo>
                  <a:pt x="461836" y="238911"/>
                </a:lnTo>
                <a:lnTo>
                  <a:pt x="478977" y="232085"/>
                </a:lnTo>
                <a:lnTo>
                  <a:pt x="496119" y="225259"/>
                </a:lnTo>
                <a:lnTo>
                  <a:pt x="513260" y="218433"/>
                </a:lnTo>
                <a:lnTo>
                  <a:pt x="530402" y="211607"/>
                </a:lnTo>
                <a:lnTo>
                  <a:pt x="547543" y="204781"/>
                </a:lnTo>
                <a:lnTo>
                  <a:pt x="564685" y="197955"/>
                </a:lnTo>
                <a:lnTo>
                  <a:pt x="581826" y="191129"/>
                </a:lnTo>
                <a:lnTo>
                  <a:pt x="598968" y="184303"/>
                </a:lnTo>
                <a:lnTo>
                  <a:pt x="616109" y="177477"/>
                </a:lnTo>
                <a:lnTo>
                  <a:pt x="633251" y="170651"/>
                </a:lnTo>
                <a:lnTo>
                  <a:pt x="650392" y="163825"/>
                </a:lnTo>
                <a:lnTo>
                  <a:pt x="667534" y="156999"/>
                </a:lnTo>
                <a:lnTo>
                  <a:pt x="684675" y="150173"/>
                </a:lnTo>
                <a:lnTo>
                  <a:pt x="701817" y="143347"/>
                </a:lnTo>
                <a:lnTo>
                  <a:pt x="718958" y="136520"/>
                </a:lnTo>
                <a:lnTo>
                  <a:pt x="736100" y="129694"/>
                </a:lnTo>
                <a:lnTo>
                  <a:pt x="753241" y="122868"/>
                </a:lnTo>
                <a:lnTo>
                  <a:pt x="770383" y="116042"/>
                </a:lnTo>
                <a:lnTo>
                  <a:pt x="787524" y="109216"/>
                </a:lnTo>
                <a:lnTo>
                  <a:pt x="804666" y="102390"/>
                </a:lnTo>
                <a:lnTo>
                  <a:pt x="821807" y="95564"/>
                </a:lnTo>
                <a:lnTo>
                  <a:pt x="838949" y="88738"/>
                </a:lnTo>
                <a:lnTo>
                  <a:pt x="856090" y="81912"/>
                </a:lnTo>
                <a:lnTo>
                  <a:pt x="873232" y="75086"/>
                </a:lnTo>
                <a:lnTo>
                  <a:pt x="890373" y="68260"/>
                </a:lnTo>
                <a:lnTo>
                  <a:pt x="907515" y="61434"/>
                </a:lnTo>
                <a:lnTo>
                  <a:pt x="924656" y="54608"/>
                </a:lnTo>
                <a:lnTo>
                  <a:pt x="941798" y="47782"/>
                </a:lnTo>
                <a:lnTo>
                  <a:pt x="958939" y="40956"/>
                </a:lnTo>
                <a:lnTo>
                  <a:pt x="976081" y="34130"/>
                </a:lnTo>
                <a:lnTo>
                  <a:pt x="993222" y="27304"/>
                </a:lnTo>
                <a:lnTo>
                  <a:pt x="1010364" y="20478"/>
                </a:lnTo>
                <a:lnTo>
                  <a:pt x="1027505" y="13652"/>
                </a:lnTo>
                <a:lnTo>
                  <a:pt x="1044647" y="6826"/>
                </a:lnTo>
                <a:lnTo>
                  <a:pt x="1061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5E00"/>
            </a:solidFill>
            <a:prstDash val="solid"/>
          </a:ln>
        </p:spPr>
      </p:sp>
      <p:sp>
        <p:nvSpPr>
          <p:cNvPr id="24" name="Vector 24">
            <a:extLst xmlns:a="http://schemas.openxmlformats.org/drawingml/2006/main">
              <a:ext uri="{FF2B5EF4-FFF2-40B4-BE49-F238E27FC236}">
                <a16:creationId xmlns:a16="http://schemas.microsoft.com/office/drawing/2014/main" id="{109DD144-0C48-4F45-BDAD-0FEC864B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2153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dash"/>
          </a:ln>
        </p:spPr>
      </p:sp>
      <p:sp>
        <p:nvSpPr>
          <p:cNvPr id="25" name="Vector 25">
            <a:extLst xmlns:a="http://schemas.openxmlformats.org/drawingml/2006/main">
              <a:ext uri="{FF2B5EF4-FFF2-40B4-BE49-F238E27FC236}">
                <a16:creationId xmlns:a16="http://schemas.microsoft.com/office/drawing/2014/main" id="{A188CF5D-FC3C-44EF-9971-FCAB1E4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171" y="1056132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dot"/>
          </a:ln>
        </p:spPr>
      </p:sp>
      <p:sp>
        <p:nvSpPr>
          <p:cNvPr id="26" name="Vector 26">
            <a:extLst xmlns:a="http://schemas.openxmlformats.org/drawingml/2006/main">
              <a:ext uri="{FF2B5EF4-FFF2-40B4-BE49-F238E27FC236}">
                <a16:creationId xmlns:a16="http://schemas.microsoft.com/office/drawing/2014/main" id="{EA67A623-A3CF-45B5-857C-0647441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56132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" name="Vector 27">
            <a:extLst xmlns:a="http://schemas.openxmlformats.org/drawingml/2006/main">
              <a:ext uri="{FF2B5EF4-FFF2-40B4-BE49-F238E27FC236}">
                <a16:creationId xmlns:a16="http://schemas.microsoft.com/office/drawing/2014/main" id="{8628FBF9-25BB-4FCD-AEEA-9B1400CE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63129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" name="Text 28: Interaction HR 1.132 (1.049–1.220)">
            <a:extLst xmlns:a="http://schemas.openxmlformats.org/drawingml/2006/main">
              <a:ext uri="{FF2B5EF4-FFF2-40B4-BE49-F238E27FC236}">
                <a16:creationId xmlns:a16="http://schemas.microsoft.com/office/drawing/2014/main" id="{2401E9B4-DCAF-49B9-8DF2-29E76E3E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87" y="1112963"/>
            <a:ext cx="181705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HR 1.132 (1.049–1.220)</a:t>
            </a:r>
          </a:p>
        </p:txBody>
      </p:sp>
      <p:sp>
        <p:nvSpPr>
          <p:cNvPr id="29" name="Text 29: P .001">
            <a:extLst xmlns:a="http://schemas.openxmlformats.org/drawingml/2006/main">
              <a:ext uri="{FF2B5EF4-FFF2-40B4-BE49-F238E27FC236}">
                <a16:creationId xmlns:a16="http://schemas.microsoft.com/office/drawing/2014/main" id="{81F2A3DE-3E52-45D0-8370-F2282FAA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87" y="1240954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.001</a:t>
            </a:r>
          </a:p>
        </p:txBody>
      </p:sp>
      <p:sp>
        <p:nvSpPr>
          <p:cNvPr id="30" name="Text 30: A  JUPITER-06 | PFS">
            <a:extLst xmlns:a="http://schemas.openxmlformats.org/drawingml/2006/main">
              <a:ext uri="{FF2B5EF4-FFF2-40B4-BE49-F238E27FC236}">
                <a16:creationId xmlns:a16="http://schemas.microsoft.com/office/drawing/2014/main" id="{11435520-856D-4C12-ADCC-F770071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50011"/>
            <a:ext cx="136584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JUPITER-06 | PFS</a:t>
            </a:r>
          </a:p>
        </p:txBody>
      </p:sp>
      <p:sp>
        <p:nvSpPr>
          <p:cNvPr id="31" name="Vector 31">
            <a:extLst xmlns:a="http://schemas.openxmlformats.org/drawingml/2006/main">
              <a:ext uri="{FF2B5EF4-FFF2-40B4-BE49-F238E27FC236}">
                <a16:creationId xmlns:a16="http://schemas.microsoft.com/office/drawing/2014/main" id="{216D2FD7-8620-44AE-AE05-5FFCA649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8253"/>
            <a:ext cx="4422913" cy="476749"/>
          </a:xfrm>
          <a:custGeom xmlns:a="http://schemas.openxmlformats.org/drawingml/2006/main">
            <a:pathLst>
              <a:path w="4422913" h="476749">
                <a:moveTo>
                  <a:pt x="0" y="476749"/>
                </a:moveTo>
                <a:lnTo>
                  <a:pt x="4422913" y="476749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2" name="Vector 32">
            <a:extLst xmlns:a="http://schemas.openxmlformats.org/drawingml/2006/main">
              <a:ext uri="{FF2B5EF4-FFF2-40B4-BE49-F238E27FC236}">
                <a16:creationId xmlns:a16="http://schemas.microsoft.com/office/drawing/2014/main" id="{51DBC876-5C84-4F66-873A-0D7C617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42" y="4139867"/>
            <a:ext cx="127539" cy="15135"/>
          </a:xfrm>
          <a:custGeom xmlns:a="http://schemas.openxmlformats.org/drawingml/2006/main">
            <a:pathLst>
              <a:path w="127539" h="15135">
                <a:moveTo>
                  <a:pt x="0" y="15135"/>
                </a:moveTo>
                <a:lnTo>
                  <a:pt x="127539" y="1513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3" name="Vector 33">
            <a:extLst xmlns:a="http://schemas.openxmlformats.org/drawingml/2006/main">
              <a:ext uri="{FF2B5EF4-FFF2-40B4-BE49-F238E27FC236}">
                <a16:creationId xmlns:a16="http://schemas.microsoft.com/office/drawing/2014/main" id="{3F26F9BF-24A2-4AF6-860C-EED920E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93" y="4124732"/>
            <a:ext cx="127539" cy="30270"/>
          </a:xfrm>
          <a:custGeom xmlns:a="http://schemas.openxmlformats.org/drawingml/2006/main">
            <a:pathLst>
              <a:path w="127539" h="30270">
                <a:moveTo>
                  <a:pt x="0" y="30270"/>
                </a:moveTo>
                <a:lnTo>
                  <a:pt x="127539" y="3027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4" name="Vector 34">
            <a:extLst xmlns:a="http://schemas.openxmlformats.org/drawingml/2006/main">
              <a:ext uri="{FF2B5EF4-FFF2-40B4-BE49-F238E27FC236}">
                <a16:creationId xmlns:a16="http://schemas.microsoft.com/office/drawing/2014/main" id="{80F8BD53-63F6-42E9-9534-079E19B2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44" y="4094462"/>
            <a:ext cx="127539" cy="60540"/>
          </a:xfrm>
          <a:custGeom xmlns:a="http://schemas.openxmlformats.org/drawingml/2006/main">
            <a:pathLst>
              <a:path w="127539" h="60540">
                <a:moveTo>
                  <a:pt x="0" y="60540"/>
                </a:moveTo>
                <a:lnTo>
                  <a:pt x="127539" y="6054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5" name="Vector 35">
            <a:extLst xmlns:a="http://schemas.openxmlformats.org/drawingml/2006/main">
              <a:ext uri="{FF2B5EF4-FFF2-40B4-BE49-F238E27FC236}">
                <a16:creationId xmlns:a16="http://schemas.microsoft.com/office/drawing/2014/main" id="{A9C93B6A-28D0-477C-B9B3-68997014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6" y="4139867"/>
            <a:ext cx="127539" cy="15135"/>
          </a:xfrm>
          <a:custGeom xmlns:a="http://schemas.openxmlformats.org/drawingml/2006/main">
            <a:pathLst>
              <a:path w="127539" h="15135">
                <a:moveTo>
                  <a:pt x="0" y="15135"/>
                </a:moveTo>
                <a:lnTo>
                  <a:pt x="127539" y="1513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6" name="Vector 36">
            <a:extLst xmlns:a="http://schemas.openxmlformats.org/drawingml/2006/main">
              <a:ext uri="{FF2B5EF4-FFF2-40B4-BE49-F238E27FC236}">
                <a16:creationId xmlns:a16="http://schemas.microsoft.com/office/drawing/2014/main" id="{519000EE-49A9-4391-90A8-28806C6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47" y="4109597"/>
            <a:ext cx="127539" cy="45405"/>
          </a:xfrm>
          <a:custGeom xmlns:a="http://schemas.openxmlformats.org/drawingml/2006/main">
            <a:pathLst>
              <a:path w="127539" h="45405">
                <a:moveTo>
                  <a:pt x="0" y="45405"/>
                </a:moveTo>
                <a:lnTo>
                  <a:pt x="127539" y="4540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7" name="Vector 37">
            <a:extLst xmlns:a="http://schemas.openxmlformats.org/drawingml/2006/main">
              <a:ext uri="{FF2B5EF4-FFF2-40B4-BE49-F238E27FC236}">
                <a16:creationId xmlns:a16="http://schemas.microsoft.com/office/drawing/2014/main" id="{CD280D53-DD21-4A69-982E-1B67CD0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999" y="4064193"/>
            <a:ext cx="127539" cy="90809"/>
          </a:xfrm>
          <a:custGeom xmlns:a="http://schemas.openxmlformats.org/drawingml/2006/main">
            <a:pathLst>
              <a:path w="127539" h="90809">
                <a:moveTo>
                  <a:pt x="0" y="90809"/>
                </a:moveTo>
                <a:lnTo>
                  <a:pt x="127539" y="9080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8" name="Vector 38">
            <a:extLst xmlns:a="http://schemas.openxmlformats.org/drawingml/2006/main">
              <a:ext uri="{FF2B5EF4-FFF2-40B4-BE49-F238E27FC236}">
                <a16:creationId xmlns:a16="http://schemas.microsoft.com/office/drawing/2014/main" id="{E343B758-A531-4CCD-B52E-FF30C8D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50" y="4064193"/>
            <a:ext cx="127539" cy="90809"/>
          </a:xfrm>
          <a:custGeom xmlns:a="http://schemas.openxmlformats.org/drawingml/2006/main">
            <a:pathLst>
              <a:path w="127539" h="90809">
                <a:moveTo>
                  <a:pt x="0" y="90809"/>
                </a:moveTo>
                <a:lnTo>
                  <a:pt x="127539" y="9080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9" name="Vector 39">
            <a:extLst xmlns:a="http://schemas.openxmlformats.org/drawingml/2006/main">
              <a:ext uri="{FF2B5EF4-FFF2-40B4-BE49-F238E27FC236}">
                <a16:creationId xmlns:a16="http://schemas.microsoft.com/office/drawing/2014/main" id="{48ACDDC8-8098-4C4D-BE9B-C765158D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501" y="3988518"/>
            <a:ext cx="127539" cy="166484"/>
          </a:xfrm>
          <a:custGeom xmlns:a="http://schemas.openxmlformats.org/drawingml/2006/main">
            <a:pathLst>
              <a:path w="127539" h="166484">
                <a:moveTo>
                  <a:pt x="0" y="166484"/>
                </a:moveTo>
                <a:lnTo>
                  <a:pt x="127539" y="16648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0" name="Vector 40">
            <a:extLst xmlns:a="http://schemas.openxmlformats.org/drawingml/2006/main">
              <a:ext uri="{FF2B5EF4-FFF2-40B4-BE49-F238E27FC236}">
                <a16:creationId xmlns:a16="http://schemas.microsoft.com/office/drawing/2014/main" id="{EA2D696E-1E97-4163-BE44-A27939C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53" y="3988518"/>
            <a:ext cx="127539" cy="166484"/>
          </a:xfrm>
          <a:custGeom xmlns:a="http://schemas.openxmlformats.org/drawingml/2006/main">
            <a:pathLst>
              <a:path w="127539" h="166484">
                <a:moveTo>
                  <a:pt x="0" y="166484"/>
                </a:moveTo>
                <a:lnTo>
                  <a:pt x="127539" y="16648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1" name="Vector 41">
            <a:extLst xmlns:a="http://schemas.openxmlformats.org/drawingml/2006/main">
              <a:ext uri="{FF2B5EF4-FFF2-40B4-BE49-F238E27FC236}">
                <a16:creationId xmlns:a16="http://schemas.microsoft.com/office/drawing/2014/main" id="{D9962EC7-B9DE-4657-A3FF-BE4B450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004" y="3943114"/>
            <a:ext cx="127539" cy="211889"/>
          </a:xfrm>
          <a:custGeom xmlns:a="http://schemas.openxmlformats.org/drawingml/2006/main">
            <a:pathLst>
              <a:path w="127539" h="211889">
                <a:moveTo>
                  <a:pt x="0" y="211889"/>
                </a:moveTo>
                <a:lnTo>
                  <a:pt x="127539" y="21188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2" name="Vector 42">
            <a:extLst xmlns:a="http://schemas.openxmlformats.org/drawingml/2006/main">
              <a:ext uri="{FF2B5EF4-FFF2-40B4-BE49-F238E27FC236}">
                <a16:creationId xmlns:a16="http://schemas.microsoft.com/office/drawing/2014/main" id="{BAF09D7A-F67C-4669-97BE-C5D996FD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256" y="3852304"/>
            <a:ext cx="127539" cy="302698"/>
          </a:xfrm>
          <a:custGeom xmlns:a="http://schemas.openxmlformats.org/drawingml/2006/main">
            <a:pathLst>
              <a:path w="127539" h="302698">
                <a:moveTo>
                  <a:pt x="0" y="302698"/>
                </a:moveTo>
                <a:lnTo>
                  <a:pt x="127539" y="302698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3" name="Vector 43">
            <a:extLst xmlns:a="http://schemas.openxmlformats.org/drawingml/2006/main">
              <a:ext uri="{FF2B5EF4-FFF2-40B4-BE49-F238E27FC236}">
                <a16:creationId xmlns:a16="http://schemas.microsoft.com/office/drawing/2014/main" id="{B6E0A63F-5ECD-44E4-922C-9B00534C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507" y="3897709"/>
            <a:ext cx="127539" cy="257293"/>
          </a:xfrm>
          <a:custGeom xmlns:a="http://schemas.openxmlformats.org/drawingml/2006/main">
            <a:pathLst>
              <a:path w="127539" h="257293">
                <a:moveTo>
                  <a:pt x="0" y="257293"/>
                </a:moveTo>
                <a:lnTo>
                  <a:pt x="127539" y="25729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4" name="Vector 44">
            <a:extLst xmlns:a="http://schemas.openxmlformats.org/drawingml/2006/main">
              <a:ext uri="{FF2B5EF4-FFF2-40B4-BE49-F238E27FC236}">
                <a16:creationId xmlns:a16="http://schemas.microsoft.com/office/drawing/2014/main" id="{B93A8143-96FC-4820-8901-9DBE232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759" y="3806899"/>
            <a:ext cx="127539" cy="348103"/>
          </a:xfrm>
          <a:custGeom xmlns:a="http://schemas.openxmlformats.org/drawingml/2006/main">
            <a:pathLst>
              <a:path w="127539" h="348103">
                <a:moveTo>
                  <a:pt x="0" y="348103"/>
                </a:moveTo>
                <a:lnTo>
                  <a:pt x="127539" y="34810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5" name="Vector 45">
            <a:extLst xmlns:a="http://schemas.openxmlformats.org/drawingml/2006/main">
              <a:ext uri="{FF2B5EF4-FFF2-40B4-BE49-F238E27FC236}">
                <a16:creationId xmlns:a16="http://schemas.microsoft.com/office/drawing/2014/main" id="{C595703C-0CE9-43CE-89AE-3777EB6A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010" y="3776630"/>
            <a:ext cx="127539" cy="378372"/>
          </a:xfrm>
          <a:custGeom xmlns:a="http://schemas.openxmlformats.org/drawingml/2006/main">
            <a:pathLst>
              <a:path w="127539" h="378372">
                <a:moveTo>
                  <a:pt x="0" y="378372"/>
                </a:moveTo>
                <a:lnTo>
                  <a:pt x="127539" y="378372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6" name="Vector 46">
            <a:extLst xmlns:a="http://schemas.openxmlformats.org/drawingml/2006/main">
              <a:ext uri="{FF2B5EF4-FFF2-40B4-BE49-F238E27FC236}">
                <a16:creationId xmlns:a16="http://schemas.microsoft.com/office/drawing/2014/main" id="{D81AF5ED-EFB3-4CF2-ACEE-6A0000D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61" y="3746360"/>
            <a:ext cx="127539" cy="408642"/>
          </a:xfrm>
          <a:custGeom xmlns:a="http://schemas.openxmlformats.org/drawingml/2006/main">
            <a:pathLst>
              <a:path w="127539" h="408642">
                <a:moveTo>
                  <a:pt x="0" y="408642"/>
                </a:moveTo>
                <a:lnTo>
                  <a:pt x="127539" y="408642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7" name="Vector 47">
            <a:extLst xmlns:a="http://schemas.openxmlformats.org/drawingml/2006/main">
              <a:ext uri="{FF2B5EF4-FFF2-40B4-BE49-F238E27FC236}">
                <a16:creationId xmlns:a16="http://schemas.microsoft.com/office/drawing/2014/main" id="{0E55D2D4-CA14-4B2C-8D65-6CECA8FE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513" y="3746360"/>
            <a:ext cx="127539" cy="408642"/>
          </a:xfrm>
          <a:custGeom xmlns:a="http://schemas.openxmlformats.org/drawingml/2006/main">
            <a:pathLst>
              <a:path w="127539" h="408642">
                <a:moveTo>
                  <a:pt x="0" y="408642"/>
                </a:moveTo>
                <a:lnTo>
                  <a:pt x="127539" y="408642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8" name="Vector 48">
            <a:extLst xmlns:a="http://schemas.openxmlformats.org/drawingml/2006/main">
              <a:ext uri="{FF2B5EF4-FFF2-40B4-BE49-F238E27FC236}">
                <a16:creationId xmlns:a16="http://schemas.microsoft.com/office/drawing/2014/main" id="{551F5FC7-19C7-4F95-8E07-60A7077D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64" y="3761495"/>
            <a:ext cx="127539" cy="393507"/>
          </a:xfrm>
          <a:custGeom xmlns:a="http://schemas.openxmlformats.org/drawingml/2006/main">
            <a:pathLst>
              <a:path w="127539" h="393507">
                <a:moveTo>
                  <a:pt x="0" y="393507"/>
                </a:moveTo>
                <a:lnTo>
                  <a:pt x="127539" y="39350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9" name="Vector 49">
            <a:extLst xmlns:a="http://schemas.openxmlformats.org/drawingml/2006/main">
              <a:ext uri="{FF2B5EF4-FFF2-40B4-BE49-F238E27FC236}">
                <a16:creationId xmlns:a16="http://schemas.microsoft.com/office/drawing/2014/main" id="{BFF1F5D0-C59A-4FB1-884E-C2E6422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16" y="3791765"/>
            <a:ext cx="127539" cy="363238"/>
          </a:xfrm>
          <a:custGeom xmlns:a="http://schemas.openxmlformats.org/drawingml/2006/main">
            <a:pathLst>
              <a:path w="127539" h="363238">
                <a:moveTo>
                  <a:pt x="0" y="363238"/>
                </a:moveTo>
                <a:lnTo>
                  <a:pt x="127539" y="363238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0" name="Vector 50">
            <a:extLst xmlns:a="http://schemas.openxmlformats.org/drawingml/2006/main">
              <a:ext uri="{FF2B5EF4-FFF2-40B4-BE49-F238E27FC236}">
                <a16:creationId xmlns:a16="http://schemas.microsoft.com/office/drawing/2014/main" id="{C59D13EB-0BE8-4A67-9AB2-9091136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267" y="3700955"/>
            <a:ext cx="127539" cy="454047"/>
          </a:xfrm>
          <a:custGeom xmlns:a="http://schemas.openxmlformats.org/drawingml/2006/main">
            <a:pathLst>
              <a:path w="127539" h="454047">
                <a:moveTo>
                  <a:pt x="0" y="454047"/>
                </a:moveTo>
                <a:lnTo>
                  <a:pt x="127539" y="4540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1" name="Vector 51">
            <a:extLst xmlns:a="http://schemas.openxmlformats.org/drawingml/2006/main">
              <a:ext uri="{FF2B5EF4-FFF2-40B4-BE49-F238E27FC236}">
                <a16:creationId xmlns:a16="http://schemas.microsoft.com/office/drawing/2014/main" id="{CD550B8E-7C8E-4329-A4B8-081B1E9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18" y="3882574"/>
            <a:ext cx="127539" cy="272428"/>
          </a:xfrm>
          <a:custGeom xmlns:a="http://schemas.openxmlformats.org/drawingml/2006/main">
            <a:pathLst>
              <a:path w="127539" h="272428">
                <a:moveTo>
                  <a:pt x="0" y="272428"/>
                </a:moveTo>
                <a:lnTo>
                  <a:pt x="127539" y="272428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2" name="Vector 52">
            <a:extLst xmlns:a="http://schemas.openxmlformats.org/drawingml/2006/main">
              <a:ext uri="{FF2B5EF4-FFF2-40B4-BE49-F238E27FC236}">
                <a16:creationId xmlns:a16="http://schemas.microsoft.com/office/drawing/2014/main" id="{70A66219-F2B0-4AE1-B52F-C7372AB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0" y="3806899"/>
            <a:ext cx="127539" cy="348103"/>
          </a:xfrm>
          <a:custGeom xmlns:a="http://schemas.openxmlformats.org/drawingml/2006/main">
            <a:pathLst>
              <a:path w="127539" h="348103">
                <a:moveTo>
                  <a:pt x="0" y="348103"/>
                </a:moveTo>
                <a:lnTo>
                  <a:pt x="127539" y="34810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3" name="Vector 53">
            <a:extLst xmlns:a="http://schemas.openxmlformats.org/drawingml/2006/main">
              <a:ext uri="{FF2B5EF4-FFF2-40B4-BE49-F238E27FC236}">
                <a16:creationId xmlns:a16="http://schemas.microsoft.com/office/drawing/2014/main" id="{8D003989-0571-4493-AFD9-AFA55D69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021" y="4003653"/>
            <a:ext cx="127539" cy="151349"/>
          </a:xfrm>
          <a:custGeom xmlns:a="http://schemas.openxmlformats.org/drawingml/2006/main">
            <a:pathLst>
              <a:path w="127539" h="151349">
                <a:moveTo>
                  <a:pt x="0" y="151349"/>
                </a:moveTo>
                <a:lnTo>
                  <a:pt x="127539" y="15134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4" name="Vector 54">
            <a:extLst xmlns:a="http://schemas.openxmlformats.org/drawingml/2006/main">
              <a:ext uri="{FF2B5EF4-FFF2-40B4-BE49-F238E27FC236}">
                <a16:creationId xmlns:a16="http://schemas.microsoft.com/office/drawing/2014/main" id="{9CFBA742-193D-432B-B56E-363BD181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273" y="4018788"/>
            <a:ext cx="127539" cy="136214"/>
          </a:xfrm>
          <a:custGeom xmlns:a="http://schemas.openxmlformats.org/drawingml/2006/main">
            <a:pathLst>
              <a:path w="127539" h="136214">
                <a:moveTo>
                  <a:pt x="0" y="136214"/>
                </a:moveTo>
                <a:lnTo>
                  <a:pt x="127539" y="13621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5" name="Vector 55">
            <a:extLst xmlns:a="http://schemas.openxmlformats.org/drawingml/2006/main">
              <a:ext uri="{FF2B5EF4-FFF2-40B4-BE49-F238E27FC236}">
                <a16:creationId xmlns:a16="http://schemas.microsoft.com/office/drawing/2014/main" id="{587C0D90-1CA2-49F4-AA9D-C8BD9D6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524" y="3958248"/>
            <a:ext cx="127539" cy="196754"/>
          </a:xfrm>
          <a:custGeom xmlns:a="http://schemas.openxmlformats.org/drawingml/2006/main">
            <a:pathLst>
              <a:path w="127539" h="196754">
                <a:moveTo>
                  <a:pt x="0" y="196754"/>
                </a:moveTo>
                <a:lnTo>
                  <a:pt x="127539" y="19675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6" name="Vector 56">
            <a:extLst xmlns:a="http://schemas.openxmlformats.org/drawingml/2006/main">
              <a:ext uri="{FF2B5EF4-FFF2-40B4-BE49-F238E27FC236}">
                <a16:creationId xmlns:a16="http://schemas.microsoft.com/office/drawing/2014/main" id="{EBEF32C2-6D18-4182-8B8F-900C3CE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776" y="4094462"/>
            <a:ext cx="127539" cy="60540"/>
          </a:xfrm>
          <a:custGeom xmlns:a="http://schemas.openxmlformats.org/drawingml/2006/main">
            <a:pathLst>
              <a:path w="127539" h="60540">
                <a:moveTo>
                  <a:pt x="0" y="60540"/>
                </a:moveTo>
                <a:lnTo>
                  <a:pt x="127539" y="6054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7" name="Vector 57">
            <a:extLst xmlns:a="http://schemas.openxmlformats.org/drawingml/2006/main">
              <a:ext uri="{FF2B5EF4-FFF2-40B4-BE49-F238E27FC236}">
                <a16:creationId xmlns:a16="http://schemas.microsoft.com/office/drawing/2014/main" id="{1F1283F7-EB48-4091-8B34-49EA45A5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027" y="4155002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8" name="Vector 58">
            <a:extLst xmlns:a="http://schemas.openxmlformats.org/drawingml/2006/main">
              <a:ext uri="{FF2B5EF4-FFF2-40B4-BE49-F238E27FC236}">
                <a16:creationId xmlns:a16="http://schemas.microsoft.com/office/drawing/2014/main" id="{CD4CEF98-DBF4-4C5B-A740-0A89C0C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78" y="4124732"/>
            <a:ext cx="127539" cy="30270"/>
          </a:xfrm>
          <a:custGeom xmlns:a="http://schemas.openxmlformats.org/drawingml/2006/main">
            <a:pathLst>
              <a:path w="127539" h="30270">
                <a:moveTo>
                  <a:pt x="0" y="30270"/>
                </a:moveTo>
                <a:lnTo>
                  <a:pt x="127539" y="3027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9" name="Vector 59">
            <a:extLst xmlns:a="http://schemas.openxmlformats.org/drawingml/2006/main">
              <a:ext uri="{FF2B5EF4-FFF2-40B4-BE49-F238E27FC236}">
                <a16:creationId xmlns:a16="http://schemas.microsoft.com/office/drawing/2014/main" id="{F07F45D2-DB1B-44DE-8FBB-BCB4D1CD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530" y="4155002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0" name="Vector 60">
            <a:extLst xmlns:a="http://schemas.openxmlformats.org/drawingml/2006/main">
              <a:ext uri="{FF2B5EF4-FFF2-40B4-BE49-F238E27FC236}">
                <a16:creationId xmlns:a16="http://schemas.microsoft.com/office/drawing/2014/main" id="{FFC91E22-EB29-4A8C-B441-67DD2D69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81" y="4139867"/>
            <a:ext cx="127539" cy="15135"/>
          </a:xfrm>
          <a:custGeom xmlns:a="http://schemas.openxmlformats.org/drawingml/2006/main">
            <a:pathLst>
              <a:path w="127539" h="15135">
                <a:moveTo>
                  <a:pt x="0" y="15135"/>
                </a:moveTo>
                <a:lnTo>
                  <a:pt x="127539" y="1513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1" name="Vector 61">
            <a:extLst xmlns:a="http://schemas.openxmlformats.org/drawingml/2006/main">
              <a:ext uri="{FF2B5EF4-FFF2-40B4-BE49-F238E27FC236}">
                <a16:creationId xmlns:a16="http://schemas.microsoft.com/office/drawing/2014/main" id="{3F63051D-8728-4EE1-AE31-9BC527E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033" y="4124732"/>
            <a:ext cx="127539" cy="30270"/>
          </a:xfrm>
          <a:custGeom xmlns:a="http://schemas.openxmlformats.org/drawingml/2006/main">
            <a:pathLst>
              <a:path w="127539" h="30270">
                <a:moveTo>
                  <a:pt x="0" y="30270"/>
                </a:moveTo>
                <a:lnTo>
                  <a:pt x="127539" y="3027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2" name="m2fe37c5cf0 62">
            <a:extLst xmlns:a="http://schemas.openxmlformats.org/drawingml/2006/main">
              <a:ext uri="{FF2B5EF4-FFF2-40B4-BE49-F238E27FC236}">
                <a16:creationId xmlns:a16="http://schemas.microsoft.com/office/drawing/2014/main" id="{199A7C7E-9BE1-484C-80D1-8A9EB977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32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3" name="Text 63: −10.0">
            <a:extLst xmlns:a="http://schemas.openxmlformats.org/drawingml/2006/main">
              <a:ext uri="{FF2B5EF4-FFF2-40B4-BE49-F238E27FC236}">
                <a16:creationId xmlns:a16="http://schemas.microsoft.com/office/drawing/2014/main" id="{CC16997C-EE84-46CB-BC96-F6F3A59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677" y="4222292"/>
            <a:ext cx="346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−10.0</a:t>
            </a:r>
          </a:p>
        </p:txBody>
      </p:sp>
      <p:sp>
        <p:nvSpPr>
          <p:cNvPr id="64" name="m2fe37c5cf0 64">
            <a:extLst xmlns:a="http://schemas.openxmlformats.org/drawingml/2006/main">
              <a:ext uri="{FF2B5EF4-FFF2-40B4-BE49-F238E27FC236}">
                <a16:creationId xmlns:a16="http://schemas.microsoft.com/office/drawing/2014/main" id="{E38A7586-538F-4482-99F5-1B24C1C8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317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5" name="Text 65: −7.5">
            <a:extLst xmlns:a="http://schemas.openxmlformats.org/drawingml/2006/main">
              <a:ext uri="{FF2B5EF4-FFF2-40B4-BE49-F238E27FC236}">
                <a16:creationId xmlns:a16="http://schemas.microsoft.com/office/drawing/2014/main" id="{6AB11F50-5FD8-4340-916B-E86D778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4268" y="4222292"/>
            <a:ext cx="27609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−7.5</a:t>
            </a:r>
          </a:p>
        </p:txBody>
      </p:sp>
      <p:sp>
        <p:nvSpPr>
          <p:cNvPr id="66" name="m2fe37c5cf0 66">
            <a:extLst xmlns:a="http://schemas.openxmlformats.org/drawingml/2006/main">
              <a:ext uri="{FF2B5EF4-FFF2-40B4-BE49-F238E27FC236}">
                <a16:creationId xmlns:a16="http://schemas.microsoft.com/office/drawing/2014/main" id="{2CB90DC1-93CB-492D-898E-89A26D6C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02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7" name="Text 67: −5.0">
            <a:extLst xmlns:a="http://schemas.openxmlformats.org/drawingml/2006/main">
              <a:ext uri="{FF2B5EF4-FFF2-40B4-BE49-F238E27FC236}">
                <a16:creationId xmlns:a16="http://schemas.microsoft.com/office/drawing/2014/main" id="{8BFD13AE-2569-4FB7-8359-452DC8C9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2553" y="4222292"/>
            <a:ext cx="27609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−5.0</a:t>
            </a:r>
          </a:p>
        </p:txBody>
      </p:sp>
      <p:sp>
        <p:nvSpPr>
          <p:cNvPr id="68" name="m2fe37c5cf0 68">
            <a:extLst xmlns:a="http://schemas.openxmlformats.org/drawingml/2006/main">
              <a:ext uri="{FF2B5EF4-FFF2-40B4-BE49-F238E27FC236}">
                <a16:creationId xmlns:a16="http://schemas.microsoft.com/office/drawing/2014/main" id="{963FFDC3-B2A1-4D9B-9357-4FF15D15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86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9" name="Text 69: −2.5">
            <a:extLst xmlns:a="http://schemas.openxmlformats.org/drawingml/2006/main">
              <a:ext uri="{FF2B5EF4-FFF2-40B4-BE49-F238E27FC236}">
                <a16:creationId xmlns:a16="http://schemas.microsoft.com/office/drawing/2014/main" id="{B2CFFD68-0F5F-431F-9C9C-89051CB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0837" y="4222292"/>
            <a:ext cx="27609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−2.5</a:t>
            </a:r>
          </a:p>
        </p:txBody>
      </p:sp>
      <p:sp>
        <p:nvSpPr>
          <p:cNvPr id="70" name="m2fe37c5cf0 70">
            <a:extLst xmlns:a="http://schemas.openxmlformats.org/drawingml/2006/main">
              <a:ext uri="{FF2B5EF4-FFF2-40B4-BE49-F238E27FC236}">
                <a16:creationId xmlns:a16="http://schemas.microsoft.com/office/drawing/2014/main" id="{324ECDFD-B06F-4E18-AD82-8C94E95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171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1" name="Text 71: 0.0">
            <a:extLst xmlns:a="http://schemas.openxmlformats.org/drawingml/2006/main">
              <a:ext uri="{FF2B5EF4-FFF2-40B4-BE49-F238E27FC236}">
                <a16:creationId xmlns:a16="http://schemas.microsoft.com/office/drawing/2014/main" id="{30A199C2-A592-47DA-AC99-AB1381A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206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72" name="m2fe37c5cf0 72">
            <a:extLst xmlns:a="http://schemas.openxmlformats.org/drawingml/2006/main">
              <a:ext uri="{FF2B5EF4-FFF2-40B4-BE49-F238E27FC236}">
                <a16:creationId xmlns:a16="http://schemas.microsoft.com/office/drawing/2014/main" id="{E695A720-331E-4990-8412-EA25F38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456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3" name="Text 73: 2.5">
            <a:extLst xmlns:a="http://schemas.openxmlformats.org/drawingml/2006/main">
              <a:ext uri="{FF2B5EF4-FFF2-40B4-BE49-F238E27FC236}">
                <a16:creationId xmlns:a16="http://schemas.microsoft.com/office/drawing/2014/main" id="{D9D8661C-269A-4162-A166-2B0B4F8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4491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74" name="m2fe37c5cf0 74">
            <a:extLst xmlns:a="http://schemas.openxmlformats.org/drawingml/2006/main">
              <a:ext uri="{FF2B5EF4-FFF2-40B4-BE49-F238E27FC236}">
                <a16:creationId xmlns:a16="http://schemas.microsoft.com/office/drawing/2014/main" id="{5CA0FC39-E43B-4E01-9A9B-4153AE0D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41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5" name="Text 75: 5.0">
            <a:extLst xmlns:a="http://schemas.openxmlformats.org/drawingml/2006/main">
              <a:ext uri="{FF2B5EF4-FFF2-40B4-BE49-F238E27FC236}">
                <a16:creationId xmlns:a16="http://schemas.microsoft.com/office/drawing/2014/main" id="{BECCED1C-5712-497E-BDC4-43E71BD0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2776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5.0</a:t>
            </a:r>
          </a:p>
        </p:txBody>
      </p:sp>
      <p:sp>
        <p:nvSpPr>
          <p:cNvPr id="76" name="m2fe37c5cf0 76">
            <a:extLst xmlns:a="http://schemas.openxmlformats.org/drawingml/2006/main">
              <a:ext uri="{FF2B5EF4-FFF2-40B4-BE49-F238E27FC236}">
                <a16:creationId xmlns:a16="http://schemas.microsoft.com/office/drawing/2014/main" id="{BAA5B770-9F2F-469F-B4CF-63BAEA3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26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7" name="Text 77: 7.5">
            <a:extLst xmlns:a="http://schemas.openxmlformats.org/drawingml/2006/main">
              <a:ext uri="{FF2B5EF4-FFF2-40B4-BE49-F238E27FC236}">
                <a16:creationId xmlns:a16="http://schemas.microsoft.com/office/drawing/2014/main" id="{FB4941A6-10BA-4C51-84FD-12C0FFC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061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7.5</a:t>
            </a:r>
          </a:p>
        </p:txBody>
      </p:sp>
      <p:sp>
        <p:nvSpPr>
          <p:cNvPr id="78" name="Text 78: Predicted log HR(z)">
            <a:extLst xmlns:a="http://schemas.openxmlformats.org/drawingml/2006/main">
              <a:ext uri="{FF2B5EF4-FFF2-40B4-BE49-F238E27FC236}">
                <a16:creationId xmlns:a16="http://schemas.microsoft.com/office/drawing/2014/main" id="{66350AB2-AC4A-4559-9DE0-7CC2A818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3483" y="4396004"/>
            <a:ext cx="113334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Predicted log HR(z)</a:t>
            </a:r>
          </a:p>
        </p:txBody>
      </p:sp>
      <p:sp>
        <p:nvSpPr>
          <p:cNvPr id="79" name="m5b7ecc52a7 79">
            <a:extLst xmlns:a="http://schemas.openxmlformats.org/drawingml/2006/main">
              <a:ext uri="{FF2B5EF4-FFF2-40B4-BE49-F238E27FC236}">
                <a16:creationId xmlns:a16="http://schemas.microsoft.com/office/drawing/2014/main" id="{2E2F740B-3E74-464F-B396-00DB5111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415500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0" name="Text 80: 0">
            <a:extLst xmlns:a="http://schemas.openxmlformats.org/drawingml/2006/main">
              <a:ext uri="{FF2B5EF4-FFF2-40B4-BE49-F238E27FC236}">
                <a16:creationId xmlns:a16="http://schemas.microsoft.com/office/drawing/2014/main" id="{24F95704-5EC5-43E4-9A42-2750827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4085142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1" name="m5b7ecc52a7 81">
            <a:extLst xmlns:a="http://schemas.openxmlformats.org/drawingml/2006/main">
              <a:ext uri="{FF2B5EF4-FFF2-40B4-BE49-F238E27FC236}">
                <a16:creationId xmlns:a16="http://schemas.microsoft.com/office/drawing/2014/main" id="{E4E5EE76-4173-42FE-9103-8EA5CFA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377663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2" name="Text 82: 25">
            <a:extLst xmlns:a="http://schemas.openxmlformats.org/drawingml/2006/main">
              <a:ext uri="{FF2B5EF4-FFF2-40B4-BE49-F238E27FC236}">
                <a16:creationId xmlns:a16="http://schemas.microsoft.com/office/drawing/2014/main" id="{3D84090E-F24D-47B5-8C09-0A9C1F1E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176" y="3706770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3" name="Text 83: Patients">
            <a:extLst xmlns:a="http://schemas.openxmlformats.org/drawingml/2006/main">
              <a:ext uri="{FF2B5EF4-FFF2-40B4-BE49-F238E27FC236}">
                <a16:creationId xmlns:a16="http://schemas.microsoft.com/office/drawing/2014/main" id="{0D4005E0-09D9-44D7-91BA-0C24898A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52435" y="3842332"/>
            <a:ext cx="43836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84" name="Vector 84">
            <a:extLst xmlns:a="http://schemas.openxmlformats.org/drawingml/2006/main">
              <a:ext uri="{FF2B5EF4-FFF2-40B4-BE49-F238E27FC236}">
                <a16:creationId xmlns:a16="http://schemas.microsoft.com/office/drawing/2014/main" id="{ACB3DCE7-2A60-4FB5-871B-94A2412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8253"/>
            <a:ext cx="10" cy="476749"/>
          </a:xfrm>
          <a:custGeom xmlns:a="http://schemas.openxmlformats.org/drawingml/2006/main">
            <a:pathLst>
              <a:path w="10" h="476749">
                <a:moveTo>
                  <a:pt x="0" y="4767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5" name="Vector 85">
            <a:extLst xmlns:a="http://schemas.openxmlformats.org/drawingml/2006/main">
              <a:ext uri="{FF2B5EF4-FFF2-40B4-BE49-F238E27FC236}">
                <a16:creationId xmlns:a16="http://schemas.microsoft.com/office/drawing/2014/main" id="{C823A8D3-7492-4DC3-AEF7-89BF1A8B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5002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6" name="Vector 86">
            <a:extLst xmlns:a="http://schemas.openxmlformats.org/drawingml/2006/main">
              <a:ext uri="{FF2B5EF4-FFF2-40B4-BE49-F238E27FC236}">
                <a16:creationId xmlns:a16="http://schemas.microsoft.com/office/drawing/2014/main" id="{774096B4-A7B4-440E-9CDF-A11F4B33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1056132"/>
            <a:ext cx="4422913" cy="1906997"/>
          </a:xfrm>
          <a:custGeom xmlns:a="http://schemas.openxmlformats.org/drawingml/2006/main">
            <a:pathLst>
              <a:path w="4422913" h="1906997">
                <a:moveTo>
                  <a:pt x="0" y="1906997"/>
                </a:moveTo>
                <a:lnTo>
                  <a:pt x="4422913" y="1906997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87" name="me103afbf3e 87">
            <a:extLst xmlns:a="http://schemas.openxmlformats.org/drawingml/2006/main">
              <a:ext uri="{FF2B5EF4-FFF2-40B4-BE49-F238E27FC236}">
                <a16:creationId xmlns:a16="http://schemas.microsoft.com/office/drawing/2014/main" id="{08D38059-2AFF-4A76-A348-4B6ED77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520" y="1655781"/>
            <a:ext cx="1509438" cy="1220666"/>
          </a:xfrm>
          <a:custGeom xmlns:a="http://schemas.openxmlformats.org/drawingml/2006/main">
            <a:pathLst>
              <a:path w="1509438" h="1220666">
                <a:moveTo>
                  <a:pt x="0" y="191896"/>
                </a:moveTo>
                <a:lnTo>
                  <a:pt x="0" y="1220666"/>
                </a:lnTo>
                <a:lnTo>
                  <a:pt x="17142" y="1210350"/>
                </a:lnTo>
                <a:lnTo>
                  <a:pt x="34283" y="1200043"/>
                </a:lnTo>
                <a:lnTo>
                  <a:pt x="51425" y="1189746"/>
                </a:lnTo>
                <a:lnTo>
                  <a:pt x="68566" y="1179459"/>
                </a:lnTo>
                <a:lnTo>
                  <a:pt x="85708" y="1169182"/>
                </a:lnTo>
                <a:lnTo>
                  <a:pt x="102849" y="1158916"/>
                </a:lnTo>
                <a:lnTo>
                  <a:pt x="119991" y="1148661"/>
                </a:lnTo>
                <a:lnTo>
                  <a:pt x="137132" y="1138418"/>
                </a:lnTo>
                <a:lnTo>
                  <a:pt x="154274" y="1128186"/>
                </a:lnTo>
                <a:lnTo>
                  <a:pt x="171415" y="1117966"/>
                </a:lnTo>
                <a:lnTo>
                  <a:pt x="188557" y="1107759"/>
                </a:lnTo>
                <a:lnTo>
                  <a:pt x="205698" y="1097564"/>
                </a:lnTo>
                <a:lnTo>
                  <a:pt x="222840" y="1087383"/>
                </a:lnTo>
                <a:lnTo>
                  <a:pt x="239981" y="1077215"/>
                </a:lnTo>
                <a:lnTo>
                  <a:pt x="257123" y="1067061"/>
                </a:lnTo>
                <a:lnTo>
                  <a:pt x="274264" y="1056922"/>
                </a:lnTo>
                <a:lnTo>
                  <a:pt x="291406" y="1046797"/>
                </a:lnTo>
                <a:lnTo>
                  <a:pt x="308547" y="1036688"/>
                </a:lnTo>
                <a:lnTo>
                  <a:pt x="325689" y="1026595"/>
                </a:lnTo>
                <a:lnTo>
                  <a:pt x="342830" y="1016518"/>
                </a:lnTo>
                <a:lnTo>
                  <a:pt x="359972" y="1006458"/>
                </a:lnTo>
                <a:lnTo>
                  <a:pt x="377113" y="996415"/>
                </a:lnTo>
                <a:lnTo>
                  <a:pt x="394255" y="986390"/>
                </a:lnTo>
                <a:lnTo>
                  <a:pt x="411396" y="976384"/>
                </a:lnTo>
                <a:lnTo>
                  <a:pt x="428538" y="966398"/>
                </a:lnTo>
                <a:lnTo>
                  <a:pt x="445679" y="956431"/>
                </a:lnTo>
                <a:lnTo>
                  <a:pt x="462821" y="946484"/>
                </a:lnTo>
                <a:lnTo>
                  <a:pt x="479962" y="936559"/>
                </a:lnTo>
                <a:lnTo>
                  <a:pt x="497104" y="926656"/>
                </a:lnTo>
                <a:lnTo>
                  <a:pt x="514245" y="916776"/>
                </a:lnTo>
                <a:lnTo>
                  <a:pt x="531387" y="906919"/>
                </a:lnTo>
                <a:lnTo>
                  <a:pt x="548528" y="897086"/>
                </a:lnTo>
                <a:lnTo>
                  <a:pt x="565670" y="887278"/>
                </a:lnTo>
                <a:lnTo>
                  <a:pt x="582811" y="877497"/>
                </a:lnTo>
                <a:lnTo>
                  <a:pt x="599953" y="867743"/>
                </a:lnTo>
                <a:lnTo>
                  <a:pt x="617094" y="858016"/>
                </a:lnTo>
                <a:lnTo>
                  <a:pt x="634236" y="848319"/>
                </a:lnTo>
                <a:lnTo>
                  <a:pt x="651377" y="838651"/>
                </a:lnTo>
                <a:lnTo>
                  <a:pt x="668519" y="829014"/>
                </a:lnTo>
                <a:lnTo>
                  <a:pt x="685660" y="819410"/>
                </a:lnTo>
                <a:lnTo>
                  <a:pt x="702802" y="809839"/>
                </a:lnTo>
                <a:lnTo>
                  <a:pt x="719943" y="800303"/>
                </a:lnTo>
                <a:lnTo>
                  <a:pt x="737085" y="790802"/>
                </a:lnTo>
                <a:lnTo>
                  <a:pt x="754226" y="781339"/>
                </a:lnTo>
                <a:lnTo>
                  <a:pt x="771368" y="771914"/>
                </a:lnTo>
                <a:lnTo>
                  <a:pt x="788509" y="762529"/>
                </a:lnTo>
                <a:lnTo>
                  <a:pt x="805651" y="753186"/>
                </a:lnTo>
                <a:lnTo>
                  <a:pt x="822793" y="743885"/>
                </a:lnTo>
                <a:lnTo>
                  <a:pt x="839934" y="734629"/>
                </a:lnTo>
                <a:lnTo>
                  <a:pt x="857076" y="725420"/>
                </a:lnTo>
                <a:lnTo>
                  <a:pt x="874217" y="716258"/>
                </a:lnTo>
                <a:lnTo>
                  <a:pt x="891359" y="707146"/>
                </a:lnTo>
                <a:lnTo>
                  <a:pt x="908500" y="698086"/>
                </a:lnTo>
                <a:lnTo>
                  <a:pt x="925642" y="689079"/>
                </a:lnTo>
                <a:lnTo>
                  <a:pt x="942783" y="680127"/>
                </a:lnTo>
                <a:lnTo>
                  <a:pt x="959925" y="671233"/>
                </a:lnTo>
                <a:lnTo>
                  <a:pt x="977066" y="662398"/>
                </a:lnTo>
                <a:lnTo>
                  <a:pt x="994208" y="653625"/>
                </a:lnTo>
                <a:lnTo>
                  <a:pt x="1011349" y="644916"/>
                </a:lnTo>
                <a:lnTo>
                  <a:pt x="1028491" y="636273"/>
                </a:lnTo>
                <a:lnTo>
                  <a:pt x="1045632" y="627698"/>
                </a:lnTo>
                <a:lnTo>
                  <a:pt x="1062774" y="619195"/>
                </a:lnTo>
                <a:lnTo>
                  <a:pt x="1079915" y="610765"/>
                </a:lnTo>
                <a:lnTo>
                  <a:pt x="1097057" y="602410"/>
                </a:lnTo>
                <a:lnTo>
                  <a:pt x="1114198" y="594134"/>
                </a:lnTo>
                <a:lnTo>
                  <a:pt x="1131340" y="585939"/>
                </a:lnTo>
                <a:lnTo>
                  <a:pt x="1148481" y="577827"/>
                </a:lnTo>
                <a:lnTo>
                  <a:pt x="1165623" y="569801"/>
                </a:lnTo>
                <a:lnTo>
                  <a:pt x="1182764" y="561864"/>
                </a:lnTo>
                <a:lnTo>
                  <a:pt x="1199906" y="554018"/>
                </a:lnTo>
                <a:lnTo>
                  <a:pt x="1217047" y="546267"/>
                </a:lnTo>
                <a:lnTo>
                  <a:pt x="1234189" y="538612"/>
                </a:lnTo>
                <a:lnTo>
                  <a:pt x="1251330" y="531056"/>
                </a:lnTo>
                <a:lnTo>
                  <a:pt x="1268472" y="523602"/>
                </a:lnTo>
                <a:lnTo>
                  <a:pt x="1285613" y="516253"/>
                </a:lnTo>
                <a:lnTo>
                  <a:pt x="1302755" y="509010"/>
                </a:lnTo>
                <a:lnTo>
                  <a:pt x="1319896" y="501876"/>
                </a:lnTo>
                <a:lnTo>
                  <a:pt x="1337038" y="494854"/>
                </a:lnTo>
                <a:lnTo>
                  <a:pt x="1354179" y="487945"/>
                </a:lnTo>
                <a:lnTo>
                  <a:pt x="1371321" y="481153"/>
                </a:lnTo>
                <a:lnTo>
                  <a:pt x="1388462" y="474477"/>
                </a:lnTo>
                <a:lnTo>
                  <a:pt x="1405604" y="467921"/>
                </a:lnTo>
                <a:lnTo>
                  <a:pt x="1422745" y="461487"/>
                </a:lnTo>
                <a:lnTo>
                  <a:pt x="1439887" y="455174"/>
                </a:lnTo>
                <a:lnTo>
                  <a:pt x="1457028" y="448986"/>
                </a:lnTo>
                <a:lnTo>
                  <a:pt x="1474170" y="442922"/>
                </a:lnTo>
                <a:lnTo>
                  <a:pt x="1491311" y="436983"/>
                </a:lnTo>
                <a:lnTo>
                  <a:pt x="1508453" y="431171"/>
                </a:lnTo>
                <a:lnTo>
                  <a:pt x="1509438" y="430841"/>
                </a:lnTo>
                <a:lnTo>
                  <a:pt x="1509438" y="0"/>
                </a:lnTo>
                <a:lnTo>
                  <a:pt x="1509438" y="0"/>
                </a:lnTo>
                <a:lnTo>
                  <a:pt x="1508453" y="311"/>
                </a:lnTo>
                <a:lnTo>
                  <a:pt x="1491311" y="5647"/>
                </a:lnTo>
                <a:lnTo>
                  <a:pt x="1474170" y="10857"/>
                </a:lnTo>
                <a:lnTo>
                  <a:pt x="1457028" y="15942"/>
                </a:lnTo>
                <a:lnTo>
                  <a:pt x="1439887" y="20902"/>
                </a:lnTo>
                <a:lnTo>
                  <a:pt x="1422745" y="25738"/>
                </a:lnTo>
                <a:lnTo>
                  <a:pt x="1405604" y="30452"/>
                </a:lnTo>
                <a:lnTo>
                  <a:pt x="1388462" y="35045"/>
                </a:lnTo>
                <a:lnTo>
                  <a:pt x="1371321" y="39518"/>
                </a:lnTo>
                <a:lnTo>
                  <a:pt x="1354179" y="43874"/>
                </a:lnTo>
                <a:lnTo>
                  <a:pt x="1337038" y="48114"/>
                </a:lnTo>
                <a:lnTo>
                  <a:pt x="1319896" y="52241"/>
                </a:lnTo>
                <a:lnTo>
                  <a:pt x="1302755" y="56256"/>
                </a:lnTo>
                <a:lnTo>
                  <a:pt x="1285613" y="60161"/>
                </a:lnTo>
                <a:lnTo>
                  <a:pt x="1268472" y="63960"/>
                </a:lnTo>
                <a:lnTo>
                  <a:pt x="1251330" y="67655"/>
                </a:lnTo>
                <a:lnTo>
                  <a:pt x="1234189" y="71248"/>
                </a:lnTo>
                <a:lnTo>
                  <a:pt x="1217047" y="74742"/>
                </a:lnTo>
                <a:lnTo>
                  <a:pt x="1199906" y="78139"/>
                </a:lnTo>
                <a:lnTo>
                  <a:pt x="1182764" y="81442"/>
                </a:lnTo>
                <a:lnTo>
                  <a:pt x="1165623" y="84653"/>
                </a:lnTo>
                <a:lnTo>
                  <a:pt x="1148481" y="87776"/>
                </a:lnTo>
                <a:lnTo>
                  <a:pt x="1131340" y="90813"/>
                </a:lnTo>
                <a:lnTo>
                  <a:pt x="1114198" y="93767"/>
                </a:lnTo>
                <a:lnTo>
                  <a:pt x="1097057" y="96639"/>
                </a:lnTo>
                <a:lnTo>
                  <a:pt x="1079915" y="99433"/>
                </a:lnTo>
                <a:lnTo>
                  <a:pt x="1062774" y="102151"/>
                </a:lnTo>
                <a:lnTo>
                  <a:pt x="1045632" y="104796"/>
                </a:lnTo>
                <a:lnTo>
                  <a:pt x="1028491" y="107371"/>
                </a:lnTo>
                <a:lnTo>
                  <a:pt x="1011349" y="109876"/>
                </a:lnTo>
                <a:lnTo>
                  <a:pt x="994208" y="112316"/>
                </a:lnTo>
                <a:lnTo>
                  <a:pt x="977066" y="114692"/>
                </a:lnTo>
                <a:lnTo>
                  <a:pt x="959925" y="117005"/>
                </a:lnTo>
                <a:lnTo>
                  <a:pt x="942783" y="119260"/>
                </a:lnTo>
                <a:lnTo>
                  <a:pt x="925642" y="121457"/>
                </a:lnTo>
                <a:lnTo>
                  <a:pt x="908500" y="123599"/>
                </a:lnTo>
                <a:lnTo>
                  <a:pt x="891359" y="125687"/>
                </a:lnTo>
                <a:lnTo>
                  <a:pt x="874217" y="127723"/>
                </a:lnTo>
                <a:lnTo>
                  <a:pt x="857076" y="129710"/>
                </a:lnTo>
                <a:lnTo>
                  <a:pt x="839934" y="131649"/>
                </a:lnTo>
                <a:lnTo>
                  <a:pt x="822793" y="133542"/>
                </a:lnTo>
                <a:lnTo>
                  <a:pt x="805651" y="135390"/>
                </a:lnTo>
                <a:lnTo>
                  <a:pt x="788509" y="137195"/>
                </a:lnTo>
                <a:lnTo>
                  <a:pt x="771368" y="138959"/>
                </a:lnTo>
                <a:lnTo>
                  <a:pt x="754226" y="140683"/>
                </a:lnTo>
                <a:lnTo>
                  <a:pt x="737085" y="142368"/>
                </a:lnTo>
                <a:lnTo>
                  <a:pt x="719943" y="144016"/>
                </a:lnTo>
                <a:lnTo>
                  <a:pt x="702802" y="145629"/>
                </a:lnTo>
                <a:lnTo>
                  <a:pt x="685660" y="147206"/>
                </a:lnTo>
                <a:lnTo>
                  <a:pt x="668519" y="148751"/>
                </a:lnTo>
                <a:lnTo>
                  <a:pt x="651377" y="150263"/>
                </a:lnTo>
                <a:lnTo>
                  <a:pt x="634236" y="151744"/>
                </a:lnTo>
                <a:lnTo>
                  <a:pt x="617094" y="153195"/>
                </a:lnTo>
                <a:lnTo>
                  <a:pt x="599953" y="154617"/>
                </a:lnTo>
                <a:lnTo>
                  <a:pt x="582811" y="156011"/>
                </a:lnTo>
                <a:lnTo>
                  <a:pt x="565670" y="157379"/>
                </a:lnTo>
                <a:lnTo>
                  <a:pt x="548528" y="158720"/>
                </a:lnTo>
                <a:lnTo>
                  <a:pt x="531387" y="160036"/>
                </a:lnTo>
                <a:lnTo>
                  <a:pt x="514245" y="161327"/>
                </a:lnTo>
                <a:lnTo>
                  <a:pt x="497104" y="162596"/>
                </a:lnTo>
                <a:lnTo>
                  <a:pt x="479962" y="163841"/>
                </a:lnTo>
                <a:lnTo>
                  <a:pt x="462821" y="165064"/>
                </a:lnTo>
                <a:lnTo>
                  <a:pt x="445679" y="166267"/>
                </a:lnTo>
                <a:lnTo>
                  <a:pt x="428538" y="167448"/>
                </a:lnTo>
                <a:lnTo>
                  <a:pt x="411396" y="168610"/>
                </a:lnTo>
                <a:lnTo>
                  <a:pt x="394255" y="169753"/>
                </a:lnTo>
                <a:lnTo>
                  <a:pt x="377113" y="170877"/>
                </a:lnTo>
                <a:lnTo>
                  <a:pt x="359972" y="171983"/>
                </a:lnTo>
                <a:lnTo>
                  <a:pt x="342830" y="173071"/>
                </a:lnTo>
                <a:lnTo>
                  <a:pt x="325689" y="174143"/>
                </a:lnTo>
                <a:lnTo>
                  <a:pt x="308547" y="175198"/>
                </a:lnTo>
                <a:lnTo>
                  <a:pt x="291406" y="176238"/>
                </a:lnTo>
                <a:lnTo>
                  <a:pt x="274264" y="177262"/>
                </a:lnTo>
                <a:lnTo>
                  <a:pt x="257123" y="178271"/>
                </a:lnTo>
                <a:lnTo>
                  <a:pt x="239981" y="179266"/>
                </a:lnTo>
                <a:lnTo>
                  <a:pt x="222840" y="180247"/>
                </a:lnTo>
                <a:lnTo>
                  <a:pt x="205698" y="181214"/>
                </a:lnTo>
                <a:lnTo>
                  <a:pt x="188557" y="182168"/>
                </a:lnTo>
                <a:lnTo>
                  <a:pt x="171415" y="183109"/>
                </a:lnTo>
                <a:lnTo>
                  <a:pt x="154274" y="184038"/>
                </a:lnTo>
                <a:lnTo>
                  <a:pt x="137132" y="184955"/>
                </a:lnTo>
                <a:lnTo>
                  <a:pt x="119991" y="185860"/>
                </a:lnTo>
                <a:lnTo>
                  <a:pt x="102849" y="186754"/>
                </a:lnTo>
                <a:lnTo>
                  <a:pt x="85708" y="187637"/>
                </a:lnTo>
                <a:lnTo>
                  <a:pt x="68566" y="188509"/>
                </a:lnTo>
                <a:lnTo>
                  <a:pt x="51425" y="189370"/>
                </a:lnTo>
                <a:lnTo>
                  <a:pt x="34283" y="190222"/>
                </a:lnTo>
                <a:lnTo>
                  <a:pt x="17142" y="191064"/>
                </a:lnTo>
                <a:lnTo>
                  <a:pt x="0" y="191896"/>
                </a:lnTo>
                <a:close/>
              </a:path>
            </a:pathLst>
          </a:custGeom>
          <a:solidFill xmlns:a="http://schemas.openxmlformats.org/drawingml/2006/main">
            <a:srgbClr val="697480">
              <a:alpha val="18000"/>
            </a:srgbClr>
          </a:solidFill>
          <a:ln xmlns:a="http://schemas.openxmlformats.org/drawingml/2006/main" w="12700">
            <a:solidFill>
              <a:srgbClr val="697480">
                <a:alpha val="18000"/>
              </a:srgbClr>
            </a:solidFill>
            <a:prstDash val="solid"/>
          </a:ln>
        </p:spPr>
      </p:sp>
      <p:sp>
        <p:nvSpPr>
          <p:cNvPr id="88" name="m5ca36f5cbf 88">
            <a:extLst xmlns:a="http://schemas.openxmlformats.org/drawingml/2006/main">
              <a:ext uri="{FF2B5EF4-FFF2-40B4-BE49-F238E27FC236}">
                <a16:creationId xmlns:a16="http://schemas.microsoft.com/office/drawing/2014/main" id="{66FD031F-3B5E-4F25-A06C-ED6F3445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142814"/>
            <a:ext cx="1061789" cy="943808"/>
          </a:xfrm>
          <a:custGeom xmlns:a="http://schemas.openxmlformats.org/drawingml/2006/main">
            <a:pathLst>
              <a:path w="1061789" h="943808">
                <a:moveTo>
                  <a:pt x="0" y="512967"/>
                </a:moveTo>
                <a:lnTo>
                  <a:pt x="0" y="943808"/>
                </a:lnTo>
                <a:lnTo>
                  <a:pt x="16156" y="938453"/>
                </a:lnTo>
                <a:lnTo>
                  <a:pt x="33298" y="932894"/>
                </a:lnTo>
                <a:lnTo>
                  <a:pt x="50439" y="927462"/>
                </a:lnTo>
                <a:lnTo>
                  <a:pt x="67581" y="922157"/>
                </a:lnTo>
                <a:lnTo>
                  <a:pt x="84722" y="916978"/>
                </a:lnTo>
                <a:lnTo>
                  <a:pt x="101864" y="911924"/>
                </a:lnTo>
                <a:lnTo>
                  <a:pt x="119005" y="906995"/>
                </a:lnTo>
                <a:lnTo>
                  <a:pt x="136147" y="902189"/>
                </a:lnTo>
                <a:lnTo>
                  <a:pt x="153288" y="897506"/>
                </a:lnTo>
                <a:lnTo>
                  <a:pt x="170430" y="892943"/>
                </a:lnTo>
                <a:lnTo>
                  <a:pt x="187571" y="888498"/>
                </a:lnTo>
                <a:lnTo>
                  <a:pt x="204713" y="884172"/>
                </a:lnTo>
                <a:lnTo>
                  <a:pt x="221854" y="879960"/>
                </a:lnTo>
                <a:lnTo>
                  <a:pt x="238996" y="875861"/>
                </a:lnTo>
                <a:lnTo>
                  <a:pt x="256137" y="871873"/>
                </a:lnTo>
                <a:lnTo>
                  <a:pt x="273279" y="867994"/>
                </a:lnTo>
                <a:lnTo>
                  <a:pt x="290421" y="864221"/>
                </a:lnTo>
                <a:lnTo>
                  <a:pt x="307562" y="860552"/>
                </a:lnTo>
                <a:lnTo>
                  <a:pt x="324704" y="856984"/>
                </a:lnTo>
                <a:lnTo>
                  <a:pt x="341845" y="853514"/>
                </a:lnTo>
                <a:lnTo>
                  <a:pt x="358987" y="850141"/>
                </a:lnTo>
                <a:lnTo>
                  <a:pt x="376128" y="846861"/>
                </a:lnTo>
                <a:lnTo>
                  <a:pt x="393270" y="843671"/>
                </a:lnTo>
                <a:lnTo>
                  <a:pt x="410411" y="840570"/>
                </a:lnTo>
                <a:lnTo>
                  <a:pt x="427553" y="837554"/>
                </a:lnTo>
                <a:lnTo>
                  <a:pt x="444694" y="834621"/>
                </a:lnTo>
                <a:lnTo>
                  <a:pt x="461836" y="831768"/>
                </a:lnTo>
                <a:lnTo>
                  <a:pt x="478977" y="828993"/>
                </a:lnTo>
                <a:lnTo>
                  <a:pt x="496119" y="826293"/>
                </a:lnTo>
                <a:lnTo>
                  <a:pt x="513260" y="823666"/>
                </a:lnTo>
                <a:lnTo>
                  <a:pt x="530402" y="821109"/>
                </a:lnTo>
                <a:lnTo>
                  <a:pt x="547543" y="818620"/>
                </a:lnTo>
                <a:lnTo>
                  <a:pt x="564685" y="816196"/>
                </a:lnTo>
                <a:lnTo>
                  <a:pt x="581826" y="813836"/>
                </a:lnTo>
                <a:lnTo>
                  <a:pt x="598968" y="811537"/>
                </a:lnTo>
                <a:lnTo>
                  <a:pt x="616109" y="809297"/>
                </a:lnTo>
                <a:lnTo>
                  <a:pt x="633251" y="807114"/>
                </a:lnTo>
                <a:lnTo>
                  <a:pt x="650392" y="804986"/>
                </a:lnTo>
                <a:lnTo>
                  <a:pt x="667534" y="802910"/>
                </a:lnTo>
                <a:lnTo>
                  <a:pt x="684675" y="800886"/>
                </a:lnTo>
                <a:lnTo>
                  <a:pt x="701817" y="798911"/>
                </a:lnTo>
                <a:lnTo>
                  <a:pt x="718958" y="796984"/>
                </a:lnTo>
                <a:lnTo>
                  <a:pt x="736100" y="795102"/>
                </a:lnTo>
                <a:lnTo>
                  <a:pt x="753241" y="793265"/>
                </a:lnTo>
                <a:lnTo>
                  <a:pt x="770383" y="791470"/>
                </a:lnTo>
                <a:lnTo>
                  <a:pt x="787524" y="789717"/>
                </a:lnTo>
                <a:lnTo>
                  <a:pt x="804666" y="788002"/>
                </a:lnTo>
                <a:lnTo>
                  <a:pt x="821807" y="786326"/>
                </a:lnTo>
                <a:lnTo>
                  <a:pt x="838949" y="784687"/>
                </a:lnTo>
                <a:lnTo>
                  <a:pt x="856090" y="783084"/>
                </a:lnTo>
                <a:lnTo>
                  <a:pt x="873232" y="781514"/>
                </a:lnTo>
                <a:lnTo>
                  <a:pt x="890373" y="779978"/>
                </a:lnTo>
                <a:lnTo>
                  <a:pt x="907515" y="778474"/>
                </a:lnTo>
                <a:lnTo>
                  <a:pt x="924656" y="777000"/>
                </a:lnTo>
                <a:lnTo>
                  <a:pt x="941798" y="775556"/>
                </a:lnTo>
                <a:lnTo>
                  <a:pt x="958939" y="774141"/>
                </a:lnTo>
                <a:lnTo>
                  <a:pt x="976081" y="772754"/>
                </a:lnTo>
                <a:lnTo>
                  <a:pt x="993222" y="771393"/>
                </a:lnTo>
                <a:lnTo>
                  <a:pt x="1010364" y="770058"/>
                </a:lnTo>
                <a:lnTo>
                  <a:pt x="1027505" y="768748"/>
                </a:lnTo>
                <a:lnTo>
                  <a:pt x="1044647" y="767463"/>
                </a:lnTo>
                <a:lnTo>
                  <a:pt x="1061789" y="766200"/>
                </a:lnTo>
                <a:lnTo>
                  <a:pt x="1061789" y="0"/>
                </a:lnTo>
                <a:lnTo>
                  <a:pt x="1061789" y="0"/>
                </a:lnTo>
                <a:lnTo>
                  <a:pt x="1044647" y="9886"/>
                </a:lnTo>
                <a:lnTo>
                  <a:pt x="1027505" y="19749"/>
                </a:lnTo>
                <a:lnTo>
                  <a:pt x="1010364" y="29588"/>
                </a:lnTo>
                <a:lnTo>
                  <a:pt x="993222" y="39402"/>
                </a:lnTo>
                <a:lnTo>
                  <a:pt x="976081" y="49190"/>
                </a:lnTo>
                <a:lnTo>
                  <a:pt x="958939" y="58951"/>
                </a:lnTo>
                <a:lnTo>
                  <a:pt x="941798" y="68684"/>
                </a:lnTo>
                <a:lnTo>
                  <a:pt x="924656" y="78389"/>
                </a:lnTo>
                <a:lnTo>
                  <a:pt x="907515" y="88064"/>
                </a:lnTo>
                <a:lnTo>
                  <a:pt x="890373" y="97708"/>
                </a:lnTo>
                <a:lnTo>
                  <a:pt x="873232" y="107321"/>
                </a:lnTo>
                <a:lnTo>
                  <a:pt x="856090" y="116900"/>
                </a:lnTo>
                <a:lnTo>
                  <a:pt x="838949" y="126445"/>
                </a:lnTo>
                <a:lnTo>
                  <a:pt x="821807" y="135955"/>
                </a:lnTo>
                <a:lnTo>
                  <a:pt x="804666" y="145427"/>
                </a:lnTo>
                <a:lnTo>
                  <a:pt x="787524" y="154862"/>
                </a:lnTo>
                <a:lnTo>
                  <a:pt x="770383" y="164257"/>
                </a:lnTo>
                <a:lnTo>
                  <a:pt x="753241" y="173611"/>
                </a:lnTo>
                <a:lnTo>
                  <a:pt x="736100" y="182922"/>
                </a:lnTo>
                <a:lnTo>
                  <a:pt x="718958" y="192189"/>
                </a:lnTo>
                <a:lnTo>
                  <a:pt x="701817" y="201410"/>
                </a:lnTo>
                <a:lnTo>
                  <a:pt x="684675" y="210584"/>
                </a:lnTo>
                <a:lnTo>
                  <a:pt x="667534" y="219709"/>
                </a:lnTo>
                <a:lnTo>
                  <a:pt x="650392" y="228782"/>
                </a:lnTo>
                <a:lnTo>
                  <a:pt x="633251" y="237802"/>
                </a:lnTo>
                <a:lnTo>
                  <a:pt x="616109" y="246768"/>
                </a:lnTo>
                <a:lnTo>
                  <a:pt x="598968" y="255677"/>
                </a:lnTo>
                <a:lnTo>
                  <a:pt x="581826" y="264526"/>
                </a:lnTo>
                <a:lnTo>
                  <a:pt x="564685" y="273315"/>
                </a:lnTo>
                <a:lnTo>
                  <a:pt x="547543" y="282040"/>
                </a:lnTo>
                <a:lnTo>
                  <a:pt x="530402" y="290699"/>
                </a:lnTo>
                <a:lnTo>
                  <a:pt x="513260" y="299291"/>
                </a:lnTo>
                <a:lnTo>
                  <a:pt x="496119" y="307812"/>
                </a:lnTo>
                <a:lnTo>
                  <a:pt x="478977" y="316261"/>
                </a:lnTo>
                <a:lnTo>
                  <a:pt x="461836" y="324635"/>
                </a:lnTo>
                <a:lnTo>
                  <a:pt x="444694" y="332930"/>
                </a:lnTo>
                <a:lnTo>
                  <a:pt x="427553" y="341146"/>
                </a:lnTo>
                <a:lnTo>
                  <a:pt x="410411" y="349279"/>
                </a:lnTo>
                <a:lnTo>
                  <a:pt x="393270" y="357326"/>
                </a:lnTo>
                <a:lnTo>
                  <a:pt x="376128" y="365285"/>
                </a:lnTo>
                <a:lnTo>
                  <a:pt x="358987" y="373154"/>
                </a:lnTo>
                <a:lnTo>
                  <a:pt x="341845" y="380929"/>
                </a:lnTo>
                <a:lnTo>
                  <a:pt x="324704" y="388608"/>
                </a:lnTo>
                <a:lnTo>
                  <a:pt x="307562" y="396189"/>
                </a:lnTo>
                <a:lnTo>
                  <a:pt x="290421" y="403668"/>
                </a:lnTo>
                <a:lnTo>
                  <a:pt x="273279" y="411044"/>
                </a:lnTo>
                <a:lnTo>
                  <a:pt x="256137" y="418313"/>
                </a:lnTo>
                <a:lnTo>
                  <a:pt x="238996" y="425474"/>
                </a:lnTo>
                <a:lnTo>
                  <a:pt x="221854" y="432524"/>
                </a:lnTo>
                <a:lnTo>
                  <a:pt x="204713" y="439461"/>
                </a:lnTo>
                <a:lnTo>
                  <a:pt x="187571" y="446282"/>
                </a:lnTo>
                <a:lnTo>
                  <a:pt x="170430" y="452987"/>
                </a:lnTo>
                <a:lnTo>
                  <a:pt x="153288" y="459573"/>
                </a:lnTo>
                <a:lnTo>
                  <a:pt x="136147" y="466037"/>
                </a:lnTo>
                <a:lnTo>
                  <a:pt x="119005" y="472380"/>
                </a:lnTo>
                <a:lnTo>
                  <a:pt x="101864" y="478600"/>
                </a:lnTo>
                <a:lnTo>
                  <a:pt x="84722" y="484695"/>
                </a:lnTo>
                <a:lnTo>
                  <a:pt x="67581" y="490664"/>
                </a:lnTo>
                <a:lnTo>
                  <a:pt x="50439" y="496508"/>
                </a:lnTo>
                <a:lnTo>
                  <a:pt x="33298" y="502225"/>
                </a:lnTo>
                <a:lnTo>
                  <a:pt x="16156" y="507815"/>
                </a:lnTo>
                <a:lnTo>
                  <a:pt x="0" y="512967"/>
                </a:lnTo>
                <a:close/>
              </a:path>
            </a:pathLst>
          </a:custGeom>
          <a:solidFill xmlns:a="http://schemas.openxmlformats.org/drawingml/2006/main">
            <a:srgbClr val="D55E00">
              <a:alpha val="18000"/>
            </a:srgbClr>
          </a:solidFill>
          <a:ln xmlns:a="http://schemas.openxmlformats.org/drawingml/2006/main" w="12700">
            <a:solidFill>
              <a:srgbClr val="D55E00">
                <a:alpha val="18000"/>
              </a:srgbClr>
            </a:solidFill>
            <a:prstDash val="solid"/>
          </a:ln>
        </p:spPr>
      </p:sp>
      <p:sp>
        <p:nvSpPr>
          <p:cNvPr id="89" name="m2fe37c5cf0 89">
            <a:extLst xmlns:a="http://schemas.openxmlformats.org/drawingml/2006/main">
              <a:ext uri="{FF2B5EF4-FFF2-40B4-BE49-F238E27FC236}">
                <a16:creationId xmlns:a16="http://schemas.microsoft.com/office/drawing/2014/main" id="{0EEA5F5F-53D5-41B4-95EA-CCA82C6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819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0" name="m2fe37c5cf0 90">
            <a:extLst xmlns:a="http://schemas.openxmlformats.org/drawingml/2006/main">
              <a:ext uri="{FF2B5EF4-FFF2-40B4-BE49-F238E27FC236}">
                <a16:creationId xmlns:a16="http://schemas.microsoft.com/office/drawing/2014/main" id="{16529D17-FB1F-4EEC-BF63-769FBB0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104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1" name="m2fe37c5cf0 91">
            <a:extLst xmlns:a="http://schemas.openxmlformats.org/drawingml/2006/main">
              <a:ext uri="{FF2B5EF4-FFF2-40B4-BE49-F238E27FC236}">
                <a16:creationId xmlns:a16="http://schemas.microsoft.com/office/drawing/2014/main" id="{C89D35D4-B402-4C45-A92D-B7F077B5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389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2" name="m2fe37c5cf0 92">
            <a:extLst xmlns:a="http://schemas.openxmlformats.org/drawingml/2006/main">
              <a:ext uri="{FF2B5EF4-FFF2-40B4-BE49-F238E27FC236}">
                <a16:creationId xmlns:a16="http://schemas.microsoft.com/office/drawing/2014/main" id="{67AF6451-A837-4024-B597-AB0C68D6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73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3" name="m2fe37c5cf0 93">
            <a:extLst xmlns:a="http://schemas.openxmlformats.org/drawingml/2006/main">
              <a:ext uri="{FF2B5EF4-FFF2-40B4-BE49-F238E27FC236}">
                <a16:creationId xmlns:a16="http://schemas.microsoft.com/office/drawing/2014/main" id="{CFAF0427-EEF2-4B22-8E87-54BBE5B9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4" name="m2fe37c5cf0 94">
            <a:extLst xmlns:a="http://schemas.openxmlformats.org/drawingml/2006/main">
              <a:ext uri="{FF2B5EF4-FFF2-40B4-BE49-F238E27FC236}">
                <a16:creationId xmlns:a16="http://schemas.microsoft.com/office/drawing/2014/main" id="{A250C051-010B-493B-A14A-282A072A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243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5" name="m2fe37c5cf0 95">
            <a:extLst xmlns:a="http://schemas.openxmlformats.org/drawingml/2006/main">
              <a:ext uri="{FF2B5EF4-FFF2-40B4-BE49-F238E27FC236}">
                <a16:creationId xmlns:a16="http://schemas.microsoft.com/office/drawing/2014/main" id="{18AF42EF-11D9-4B71-934C-2A29F9B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528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6" name="m2fe37c5cf0 96">
            <a:extLst xmlns:a="http://schemas.openxmlformats.org/drawingml/2006/main">
              <a:ext uri="{FF2B5EF4-FFF2-40B4-BE49-F238E27FC236}">
                <a16:creationId xmlns:a16="http://schemas.microsoft.com/office/drawing/2014/main" id="{C9F7113A-DA8D-4FF6-A833-63307BB1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813" y="2963129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7" name="m5b7ecc52a7 97">
            <a:extLst xmlns:a="http://schemas.openxmlformats.org/drawingml/2006/main">
              <a:ext uri="{FF2B5EF4-FFF2-40B4-BE49-F238E27FC236}">
                <a16:creationId xmlns:a16="http://schemas.microsoft.com/office/drawing/2014/main" id="{054B6EB5-FE74-4EA1-9BB8-AB3DDC8F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23850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8" name="Text 98: 0.5">
            <a:extLst xmlns:a="http://schemas.openxmlformats.org/drawingml/2006/main">
              <a:ext uri="{FF2B5EF4-FFF2-40B4-BE49-F238E27FC236}">
                <a16:creationId xmlns:a16="http://schemas.microsoft.com/office/drawing/2014/main" id="{790AA9C2-73BB-4607-A43A-16414577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7657" y="2315169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99" name="m5b7ecc52a7 99">
            <a:extLst xmlns:a="http://schemas.openxmlformats.org/drawingml/2006/main">
              <a:ext uri="{FF2B5EF4-FFF2-40B4-BE49-F238E27FC236}">
                <a16:creationId xmlns:a16="http://schemas.microsoft.com/office/drawing/2014/main" id="{616D2FF6-5D4D-462A-9894-1EFAD2C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1766827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0" name="Text 100: 1">
            <a:extLst xmlns:a="http://schemas.openxmlformats.org/drawingml/2006/main">
              <a:ext uri="{FF2B5EF4-FFF2-40B4-BE49-F238E27FC236}">
                <a16:creationId xmlns:a16="http://schemas.microsoft.com/office/drawing/2014/main" id="{5E2769CE-5822-4F35-A7BD-CEC472C8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1696967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1" name="m5b7ecc52a7 101">
            <a:extLst xmlns:a="http://schemas.openxmlformats.org/drawingml/2006/main">
              <a:ext uri="{FF2B5EF4-FFF2-40B4-BE49-F238E27FC236}">
                <a16:creationId xmlns:a16="http://schemas.microsoft.com/office/drawing/2014/main" id="{38F5F0E3-1C1C-409D-A7E1-28E1DFDA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114862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2" name="Text 102: 2">
            <a:extLst xmlns:a="http://schemas.openxmlformats.org/drawingml/2006/main">
              <a:ext uri="{FF2B5EF4-FFF2-40B4-BE49-F238E27FC236}">
                <a16:creationId xmlns:a16="http://schemas.microsoft.com/office/drawing/2014/main" id="{8780588C-FB7C-4211-8BDF-DB3313E6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1078765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3" name="Text 103: Treatment HR (ICI+CT / CT)">
            <a:extLst xmlns:a="http://schemas.openxmlformats.org/drawingml/2006/main">
              <a:ext uri="{FF2B5EF4-FFF2-40B4-BE49-F238E27FC236}">
                <a16:creationId xmlns:a16="http://schemas.microsoft.com/office/drawing/2014/main" id="{36DE6E97-C637-4208-AA1B-97095CD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563052" y="1927080"/>
            <a:ext cx="162358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Treatment HR (ICI+CT / CT)</a:t>
            </a:r>
          </a:p>
        </p:txBody>
      </p:sp>
      <p:sp>
        <p:nvSpPr>
          <p:cNvPr id="104" name="Vector 104">
            <a:extLst xmlns:a="http://schemas.openxmlformats.org/drawingml/2006/main">
              <a:ext uri="{FF2B5EF4-FFF2-40B4-BE49-F238E27FC236}">
                <a16:creationId xmlns:a16="http://schemas.microsoft.com/office/drawing/2014/main" id="{1FC9F0B7-431B-4211-B9FC-4340EE0A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520" y="1871201"/>
            <a:ext cx="1509438" cy="490861"/>
          </a:xfrm>
          <a:custGeom xmlns:a="http://schemas.openxmlformats.org/drawingml/2006/main">
            <a:pathLst>
              <a:path w="1509438" h="490861">
                <a:moveTo>
                  <a:pt x="0" y="490861"/>
                </a:moveTo>
                <a:lnTo>
                  <a:pt x="17142" y="485286"/>
                </a:lnTo>
                <a:lnTo>
                  <a:pt x="34283" y="479712"/>
                </a:lnTo>
                <a:lnTo>
                  <a:pt x="51425" y="474138"/>
                </a:lnTo>
                <a:lnTo>
                  <a:pt x="68566" y="468563"/>
                </a:lnTo>
                <a:lnTo>
                  <a:pt x="85708" y="462989"/>
                </a:lnTo>
                <a:lnTo>
                  <a:pt x="102849" y="457415"/>
                </a:lnTo>
                <a:lnTo>
                  <a:pt x="119991" y="451840"/>
                </a:lnTo>
                <a:lnTo>
                  <a:pt x="137132" y="446266"/>
                </a:lnTo>
                <a:lnTo>
                  <a:pt x="154274" y="440692"/>
                </a:lnTo>
                <a:lnTo>
                  <a:pt x="171415" y="435117"/>
                </a:lnTo>
                <a:lnTo>
                  <a:pt x="188557" y="429543"/>
                </a:lnTo>
                <a:lnTo>
                  <a:pt x="205698" y="423969"/>
                </a:lnTo>
                <a:lnTo>
                  <a:pt x="222840" y="418394"/>
                </a:lnTo>
                <a:lnTo>
                  <a:pt x="239981" y="412820"/>
                </a:lnTo>
                <a:lnTo>
                  <a:pt x="257123" y="407246"/>
                </a:lnTo>
                <a:lnTo>
                  <a:pt x="274264" y="401671"/>
                </a:lnTo>
                <a:lnTo>
                  <a:pt x="291406" y="396097"/>
                </a:lnTo>
                <a:lnTo>
                  <a:pt x="308547" y="390523"/>
                </a:lnTo>
                <a:lnTo>
                  <a:pt x="325689" y="384949"/>
                </a:lnTo>
                <a:lnTo>
                  <a:pt x="342830" y="379374"/>
                </a:lnTo>
                <a:lnTo>
                  <a:pt x="359972" y="373800"/>
                </a:lnTo>
                <a:lnTo>
                  <a:pt x="377113" y="368226"/>
                </a:lnTo>
                <a:lnTo>
                  <a:pt x="394255" y="362651"/>
                </a:lnTo>
                <a:lnTo>
                  <a:pt x="411396" y="357077"/>
                </a:lnTo>
                <a:lnTo>
                  <a:pt x="428538" y="351503"/>
                </a:lnTo>
                <a:lnTo>
                  <a:pt x="445679" y="345928"/>
                </a:lnTo>
                <a:lnTo>
                  <a:pt x="462821" y="340354"/>
                </a:lnTo>
                <a:lnTo>
                  <a:pt x="479962" y="334780"/>
                </a:lnTo>
                <a:lnTo>
                  <a:pt x="497104" y="329205"/>
                </a:lnTo>
                <a:lnTo>
                  <a:pt x="514245" y="323631"/>
                </a:lnTo>
                <a:lnTo>
                  <a:pt x="531387" y="318057"/>
                </a:lnTo>
                <a:lnTo>
                  <a:pt x="548528" y="312482"/>
                </a:lnTo>
                <a:lnTo>
                  <a:pt x="565670" y="306908"/>
                </a:lnTo>
                <a:lnTo>
                  <a:pt x="582811" y="301334"/>
                </a:lnTo>
                <a:lnTo>
                  <a:pt x="599953" y="295759"/>
                </a:lnTo>
                <a:lnTo>
                  <a:pt x="617094" y="290185"/>
                </a:lnTo>
                <a:lnTo>
                  <a:pt x="634236" y="284611"/>
                </a:lnTo>
                <a:lnTo>
                  <a:pt x="651377" y="279036"/>
                </a:lnTo>
                <a:lnTo>
                  <a:pt x="668519" y="273462"/>
                </a:lnTo>
                <a:lnTo>
                  <a:pt x="685660" y="267888"/>
                </a:lnTo>
                <a:lnTo>
                  <a:pt x="702802" y="262313"/>
                </a:lnTo>
                <a:lnTo>
                  <a:pt x="719943" y="256739"/>
                </a:lnTo>
                <a:lnTo>
                  <a:pt x="737085" y="251165"/>
                </a:lnTo>
                <a:lnTo>
                  <a:pt x="754226" y="245590"/>
                </a:lnTo>
                <a:lnTo>
                  <a:pt x="771368" y="240016"/>
                </a:lnTo>
                <a:lnTo>
                  <a:pt x="788509" y="234442"/>
                </a:lnTo>
                <a:lnTo>
                  <a:pt x="805651" y="228868"/>
                </a:lnTo>
                <a:lnTo>
                  <a:pt x="822793" y="223293"/>
                </a:lnTo>
                <a:lnTo>
                  <a:pt x="839934" y="217719"/>
                </a:lnTo>
                <a:lnTo>
                  <a:pt x="857076" y="212145"/>
                </a:lnTo>
                <a:lnTo>
                  <a:pt x="874217" y="206570"/>
                </a:lnTo>
                <a:lnTo>
                  <a:pt x="891359" y="200996"/>
                </a:lnTo>
                <a:lnTo>
                  <a:pt x="908500" y="195422"/>
                </a:lnTo>
                <a:lnTo>
                  <a:pt x="925642" y="189847"/>
                </a:lnTo>
                <a:lnTo>
                  <a:pt x="942783" y="184273"/>
                </a:lnTo>
                <a:lnTo>
                  <a:pt x="959925" y="178699"/>
                </a:lnTo>
                <a:lnTo>
                  <a:pt x="977066" y="173124"/>
                </a:lnTo>
                <a:lnTo>
                  <a:pt x="994208" y="167550"/>
                </a:lnTo>
                <a:lnTo>
                  <a:pt x="1011349" y="161976"/>
                </a:lnTo>
                <a:lnTo>
                  <a:pt x="1028491" y="156401"/>
                </a:lnTo>
                <a:lnTo>
                  <a:pt x="1045632" y="150827"/>
                </a:lnTo>
                <a:lnTo>
                  <a:pt x="1062774" y="145253"/>
                </a:lnTo>
                <a:lnTo>
                  <a:pt x="1079915" y="139678"/>
                </a:lnTo>
                <a:lnTo>
                  <a:pt x="1097057" y="134104"/>
                </a:lnTo>
                <a:lnTo>
                  <a:pt x="1114198" y="128530"/>
                </a:lnTo>
                <a:lnTo>
                  <a:pt x="1131340" y="122955"/>
                </a:lnTo>
                <a:lnTo>
                  <a:pt x="1148481" y="117381"/>
                </a:lnTo>
                <a:lnTo>
                  <a:pt x="1165623" y="111807"/>
                </a:lnTo>
                <a:lnTo>
                  <a:pt x="1182764" y="106232"/>
                </a:lnTo>
                <a:lnTo>
                  <a:pt x="1199906" y="100658"/>
                </a:lnTo>
                <a:lnTo>
                  <a:pt x="1217047" y="95084"/>
                </a:lnTo>
                <a:lnTo>
                  <a:pt x="1234189" y="89510"/>
                </a:lnTo>
                <a:lnTo>
                  <a:pt x="1251330" y="83935"/>
                </a:lnTo>
                <a:lnTo>
                  <a:pt x="1268472" y="78361"/>
                </a:lnTo>
                <a:lnTo>
                  <a:pt x="1285613" y="72787"/>
                </a:lnTo>
                <a:lnTo>
                  <a:pt x="1302755" y="67212"/>
                </a:lnTo>
                <a:lnTo>
                  <a:pt x="1319896" y="61638"/>
                </a:lnTo>
                <a:lnTo>
                  <a:pt x="1337038" y="56064"/>
                </a:lnTo>
                <a:lnTo>
                  <a:pt x="1354179" y="50489"/>
                </a:lnTo>
                <a:lnTo>
                  <a:pt x="1371321" y="44915"/>
                </a:lnTo>
                <a:lnTo>
                  <a:pt x="1388462" y="39341"/>
                </a:lnTo>
                <a:lnTo>
                  <a:pt x="1405604" y="33766"/>
                </a:lnTo>
                <a:lnTo>
                  <a:pt x="1422745" y="28192"/>
                </a:lnTo>
                <a:lnTo>
                  <a:pt x="1439887" y="22618"/>
                </a:lnTo>
                <a:lnTo>
                  <a:pt x="1457028" y="17043"/>
                </a:lnTo>
                <a:lnTo>
                  <a:pt x="1474170" y="11469"/>
                </a:lnTo>
                <a:lnTo>
                  <a:pt x="1491311" y="5895"/>
                </a:lnTo>
                <a:lnTo>
                  <a:pt x="1508453" y="320"/>
                </a:lnTo>
                <a:lnTo>
                  <a:pt x="1509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97480"/>
            </a:solidFill>
            <a:prstDash val="solid"/>
          </a:ln>
        </p:spPr>
      </p:sp>
      <p:sp>
        <p:nvSpPr>
          <p:cNvPr id="105" name="Vector 105">
            <a:extLst xmlns:a="http://schemas.openxmlformats.org/drawingml/2006/main">
              <a:ext uri="{FF2B5EF4-FFF2-40B4-BE49-F238E27FC236}">
                <a16:creationId xmlns:a16="http://schemas.microsoft.com/office/drawing/2014/main" id="{A1F3B5FA-986F-4611-B1CF-4BE39D4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525914"/>
            <a:ext cx="1061789" cy="345288"/>
          </a:xfrm>
          <a:custGeom xmlns:a="http://schemas.openxmlformats.org/drawingml/2006/main">
            <a:pathLst>
              <a:path w="1061789" h="345288">
                <a:moveTo>
                  <a:pt x="0" y="345288"/>
                </a:moveTo>
                <a:lnTo>
                  <a:pt x="16156" y="340034"/>
                </a:lnTo>
                <a:lnTo>
                  <a:pt x="33298" y="334459"/>
                </a:lnTo>
                <a:lnTo>
                  <a:pt x="50439" y="328885"/>
                </a:lnTo>
                <a:lnTo>
                  <a:pt x="67581" y="323311"/>
                </a:lnTo>
                <a:lnTo>
                  <a:pt x="84722" y="317736"/>
                </a:lnTo>
                <a:lnTo>
                  <a:pt x="101864" y="312162"/>
                </a:lnTo>
                <a:lnTo>
                  <a:pt x="119005" y="306588"/>
                </a:lnTo>
                <a:lnTo>
                  <a:pt x="136147" y="301013"/>
                </a:lnTo>
                <a:lnTo>
                  <a:pt x="153288" y="295439"/>
                </a:lnTo>
                <a:lnTo>
                  <a:pt x="170430" y="289865"/>
                </a:lnTo>
                <a:lnTo>
                  <a:pt x="187571" y="284290"/>
                </a:lnTo>
                <a:lnTo>
                  <a:pt x="204713" y="278716"/>
                </a:lnTo>
                <a:lnTo>
                  <a:pt x="221854" y="273142"/>
                </a:lnTo>
                <a:lnTo>
                  <a:pt x="238996" y="267567"/>
                </a:lnTo>
                <a:lnTo>
                  <a:pt x="256137" y="261993"/>
                </a:lnTo>
                <a:lnTo>
                  <a:pt x="273279" y="256419"/>
                </a:lnTo>
                <a:lnTo>
                  <a:pt x="290421" y="250844"/>
                </a:lnTo>
                <a:lnTo>
                  <a:pt x="307562" y="245270"/>
                </a:lnTo>
                <a:lnTo>
                  <a:pt x="324704" y="239696"/>
                </a:lnTo>
                <a:lnTo>
                  <a:pt x="341845" y="234121"/>
                </a:lnTo>
                <a:lnTo>
                  <a:pt x="358987" y="228547"/>
                </a:lnTo>
                <a:lnTo>
                  <a:pt x="376128" y="222973"/>
                </a:lnTo>
                <a:lnTo>
                  <a:pt x="393270" y="217399"/>
                </a:lnTo>
                <a:lnTo>
                  <a:pt x="410411" y="211824"/>
                </a:lnTo>
                <a:lnTo>
                  <a:pt x="427553" y="206250"/>
                </a:lnTo>
                <a:lnTo>
                  <a:pt x="444694" y="200676"/>
                </a:lnTo>
                <a:lnTo>
                  <a:pt x="461836" y="195101"/>
                </a:lnTo>
                <a:lnTo>
                  <a:pt x="478977" y="189527"/>
                </a:lnTo>
                <a:lnTo>
                  <a:pt x="496119" y="183953"/>
                </a:lnTo>
                <a:lnTo>
                  <a:pt x="513260" y="178378"/>
                </a:lnTo>
                <a:lnTo>
                  <a:pt x="530402" y="172804"/>
                </a:lnTo>
                <a:lnTo>
                  <a:pt x="547543" y="167230"/>
                </a:lnTo>
                <a:lnTo>
                  <a:pt x="564685" y="161655"/>
                </a:lnTo>
                <a:lnTo>
                  <a:pt x="581826" y="156081"/>
                </a:lnTo>
                <a:lnTo>
                  <a:pt x="598968" y="150507"/>
                </a:lnTo>
                <a:lnTo>
                  <a:pt x="616109" y="144932"/>
                </a:lnTo>
                <a:lnTo>
                  <a:pt x="633251" y="139358"/>
                </a:lnTo>
                <a:lnTo>
                  <a:pt x="650392" y="133784"/>
                </a:lnTo>
                <a:lnTo>
                  <a:pt x="667534" y="128209"/>
                </a:lnTo>
                <a:lnTo>
                  <a:pt x="684675" y="122635"/>
                </a:lnTo>
                <a:lnTo>
                  <a:pt x="701817" y="117061"/>
                </a:lnTo>
                <a:lnTo>
                  <a:pt x="718958" y="111486"/>
                </a:lnTo>
                <a:lnTo>
                  <a:pt x="736100" y="105912"/>
                </a:lnTo>
                <a:lnTo>
                  <a:pt x="753241" y="100338"/>
                </a:lnTo>
                <a:lnTo>
                  <a:pt x="770383" y="94763"/>
                </a:lnTo>
                <a:lnTo>
                  <a:pt x="787524" y="89189"/>
                </a:lnTo>
                <a:lnTo>
                  <a:pt x="804666" y="83615"/>
                </a:lnTo>
                <a:lnTo>
                  <a:pt x="821807" y="78040"/>
                </a:lnTo>
                <a:lnTo>
                  <a:pt x="838949" y="72466"/>
                </a:lnTo>
                <a:lnTo>
                  <a:pt x="856090" y="66892"/>
                </a:lnTo>
                <a:lnTo>
                  <a:pt x="873232" y="61318"/>
                </a:lnTo>
                <a:lnTo>
                  <a:pt x="890373" y="55743"/>
                </a:lnTo>
                <a:lnTo>
                  <a:pt x="907515" y="50169"/>
                </a:lnTo>
                <a:lnTo>
                  <a:pt x="924656" y="44595"/>
                </a:lnTo>
                <a:lnTo>
                  <a:pt x="941798" y="39020"/>
                </a:lnTo>
                <a:lnTo>
                  <a:pt x="958939" y="33446"/>
                </a:lnTo>
                <a:lnTo>
                  <a:pt x="976081" y="27872"/>
                </a:lnTo>
                <a:lnTo>
                  <a:pt x="993222" y="22297"/>
                </a:lnTo>
                <a:lnTo>
                  <a:pt x="1010364" y="16723"/>
                </a:lnTo>
                <a:lnTo>
                  <a:pt x="1027505" y="11149"/>
                </a:lnTo>
                <a:lnTo>
                  <a:pt x="1044647" y="5574"/>
                </a:lnTo>
                <a:lnTo>
                  <a:pt x="1061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5E00"/>
            </a:solidFill>
            <a:prstDash val="solid"/>
          </a:ln>
        </p:spPr>
      </p:sp>
      <p:sp>
        <p:nvSpPr>
          <p:cNvPr id="106" name="Vector 106">
            <a:extLst xmlns:a="http://schemas.openxmlformats.org/drawingml/2006/main">
              <a:ext uri="{FF2B5EF4-FFF2-40B4-BE49-F238E27FC236}">
                <a16:creationId xmlns:a16="http://schemas.microsoft.com/office/drawing/2014/main" id="{95FA2DD8-9E5E-445B-AA60-1FDEF1F9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1766827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dash"/>
          </a:ln>
        </p:spPr>
      </p:sp>
      <p:sp>
        <p:nvSpPr>
          <p:cNvPr id="107" name="Vector 107">
            <a:extLst xmlns:a="http://schemas.openxmlformats.org/drawingml/2006/main">
              <a:ext uri="{FF2B5EF4-FFF2-40B4-BE49-F238E27FC236}">
                <a16:creationId xmlns:a16="http://schemas.microsoft.com/office/drawing/2014/main" id="{90BDA165-9825-4F0D-84DD-8787D089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056132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dot"/>
          </a:ln>
        </p:spPr>
      </p:sp>
      <p:sp>
        <p:nvSpPr>
          <p:cNvPr id="108" name="Vector 108">
            <a:extLst xmlns:a="http://schemas.openxmlformats.org/drawingml/2006/main">
              <a:ext uri="{FF2B5EF4-FFF2-40B4-BE49-F238E27FC236}">
                <a16:creationId xmlns:a16="http://schemas.microsoft.com/office/drawing/2014/main" id="{15A9EF78-28B1-48E7-BE94-8833872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1056132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9" name="Vector 109">
            <a:extLst xmlns:a="http://schemas.openxmlformats.org/drawingml/2006/main">
              <a:ext uri="{FF2B5EF4-FFF2-40B4-BE49-F238E27FC236}">
                <a16:creationId xmlns:a16="http://schemas.microsoft.com/office/drawing/2014/main" id="{41BF9676-FEC6-4A55-AB18-3FA0B1D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2963129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0" name="Text 110: Interaction HR 1.086 (1.005–1.174)">
            <a:extLst xmlns:a="http://schemas.openxmlformats.org/drawingml/2006/main">
              <a:ext uri="{FF2B5EF4-FFF2-40B4-BE49-F238E27FC236}">
                <a16:creationId xmlns:a16="http://schemas.microsoft.com/office/drawing/2014/main" id="{01BAE6C4-9492-4309-A18A-2E1CBB9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74" y="1112963"/>
            <a:ext cx="181705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HR 1.086 (1.005–1.174)</a:t>
            </a:r>
          </a:p>
        </p:txBody>
      </p:sp>
      <p:sp>
        <p:nvSpPr>
          <p:cNvPr id="111" name="Text 111: P .037">
            <a:extLst xmlns:a="http://schemas.openxmlformats.org/drawingml/2006/main">
              <a:ext uri="{FF2B5EF4-FFF2-40B4-BE49-F238E27FC236}">
                <a16:creationId xmlns:a16="http://schemas.microsoft.com/office/drawing/2014/main" id="{6D2EAA48-7C8D-4DD0-8E19-8C919B80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74" y="1240954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.037</a:t>
            </a:r>
          </a:p>
        </p:txBody>
      </p:sp>
      <p:sp>
        <p:nvSpPr>
          <p:cNvPr id="112" name="Text 112: B  JUPITER-06 | OS">
            <a:extLst xmlns:a="http://schemas.openxmlformats.org/drawingml/2006/main">
              <a:ext uri="{FF2B5EF4-FFF2-40B4-BE49-F238E27FC236}">
                <a16:creationId xmlns:a16="http://schemas.microsoft.com/office/drawing/2014/main" id="{B05C212E-9FF7-41C8-B161-3894520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8487" y="850011"/>
            <a:ext cx="129611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 JUPITER-06 | OS</a:t>
            </a:r>
          </a:p>
        </p:txBody>
      </p:sp>
      <p:sp>
        <p:nvSpPr>
          <p:cNvPr id="113" name="Vector 113">
            <a:extLst xmlns:a="http://schemas.openxmlformats.org/drawingml/2006/main">
              <a:ext uri="{FF2B5EF4-FFF2-40B4-BE49-F238E27FC236}">
                <a16:creationId xmlns:a16="http://schemas.microsoft.com/office/drawing/2014/main" id="{1B8CE7F3-4D83-4818-B704-CC6A732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3678253"/>
            <a:ext cx="4422913" cy="476749"/>
          </a:xfrm>
          <a:custGeom xmlns:a="http://schemas.openxmlformats.org/drawingml/2006/main">
            <a:pathLst>
              <a:path w="4422913" h="476749">
                <a:moveTo>
                  <a:pt x="0" y="476749"/>
                </a:moveTo>
                <a:lnTo>
                  <a:pt x="4422913" y="476749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4" name="Vector 114">
            <a:extLst xmlns:a="http://schemas.openxmlformats.org/drawingml/2006/main">
              <a:ext uri="{FF2B5EF4-FFF2-40B4-BE49-F238E27FC236}">
                <a16:creationId xmlns:a16="http://schemas.microsoft.com/office/drawing/2014/main" id="{1A3E990C-FC9C-4CC9-BF77-D9A1A95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528" y="4139867"/>
            <a:ext cx="127539" cy="15135"/>
          </a:xfrm>
          <a:custGeom xmlns:a="http://schemas.openxmlformats.org/drawingml/2006/main">
            <a:pathLst>
              <a:path w="127539" h="15135">
                <a:moveTo>
                  <a:pt x="0" y="15135"/>
                </a:moveTo>
                <a:lnTo>
                  <a:pt x="127539" y="1513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5" name="Vector 115">
            <a:extLst xmlns:a="http://schemas.openxmlformats.org/drawingml/2006/main">
              <a:ext uri="{FF2B5EF4-FFF2-40B4-BE49-F238E27FC236}">
                <a16:creationId xmlns:a16="http://schemas.microsoft.com/office/drawing/2014/main" id="{DC0EA77B-4DD2-4957-8627-21782732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780" y="4124732"/>
            <a:ext cx="127539" cy="30270"/>
          </a:xfrm>
          <a:custGeom xmlns:a="http://schemas.openxmlformats.org/drawingml/2006/main">
            <a:pathLst>
              <a:path w="127539" h="30270">
                <a:moveTo>
                  <a:pt x="0" y="30270"/>
                </a:moveTo>
                <a:lnTo>
                  <a:pt x="127539" y="3027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6" name="Vector 116">
            <a:extLst xmlns:a="http://schemas.openxmlformats.org/drawingml/2006/main">
              <a:ext uri="{FF2B5EF4-FFF2-40B4-BE49-F238E27FC236}">
                <a16:creationId xmlns:a16="http://schemas.microsoft.com/office/drawing/2014/main" id="{31D03202-8854-4666-B78B-74977A40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031" y="4094462"/>
            <a:ext cx="127539" cy="60540"/>
          </a:xfrm>
          <a:custGeom xmlns:a="http://schemas.openxmlformats.org/drawingml/2006/main">
            <a:pathLst>
              <a:path w="127539" h="60540">
                <a:moveTo>
                  <a:pt x="0" y="60540"/>
                </a:moveTo>
                <a:lnTo>
                  <a:pt x="127539" y="6054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7" name="Vector 117">
            <a:extLst xmlns:a="http://schemas.openxmlformats.org/drawingml/2006/main">
              <a:ext uri="{FF2B5EF4-FFF2-40B4-BE49-F238E27FC236}">
                <a16:creationId xmlns:a16="http://schemas.microsoft.com/office/drawing/2014/main" id="{D4E027D7-90A1-47F9-BB83-F274603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283" y="4139867"/>
            <a:ext cx="127539" cy="15135"/>
          </a:xfrm>
          <a:custGeom xmlns:a="http://schemas.openxmlformats.org/drawingml/2006/main">
            <a:pathLst>
              <a:path w="127539" h="15135">
                <a:moveTo>
                  <a:pt x="0" y="15135"/>
                </a:moveTo>
                <a:lnTo>
                  <a:pt x="127539" y="1513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8" name="Vector 118">
            <a:extLst xmlns:a="http://schemas.openxmlformats.org/drawingml/2006/main">
              <a:ext uri="{FF2B5EF4-FFF2-40B4-BE49-F238E27FC236}">
                <a16:creationId xmlns:a16="http://schemas.microsoft.com/office/drawing/2014/main" id="{AD287F73-0C06-4E90-B0AD-9AF9FCFC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534" y="4109597"/>
            <a:ext cx="127539" cy="45405"/>
          </a:xfrm>
          <a:custGeom xmlns:a="http://schemas.openxmlformats.org/drawingml/2006/main">
            <a:pathLst>
              <a:path w="127539" h="45405">
                <a:moveTo>
                  <a:pt x="0" y="45405"/>
                </a:moveTo>
                <a:lnTo>
                  <a:pt x="127539" y="4540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9" name="Vector 119">
            <a:extLst xmlns:a="http://schemas.openxmlformats.org/drawingml/2006/main">
              <a:ext uri="{FF2B5EF4-FFF2-40B4-BE49-F238E27FC236}">
                <a16:creationId xmlns:a16="http://schemas.microsoft.com/office/drawing/2014/main" id="{6B62A759-816D-48C0-ADD7-77641C4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786" y="4064193"/>
            <a:ext cx="127539" cy="90809"/>
          </a:xfrm>
          <a:custGeom xmlns:a="http://schemas.openxmlformats.org/drawingml/2006/main">
            <a:pathLst>
              <a:path w="127539" h="90809">
                <a:moveTo>
                  <a:pt x="0" y="90809"/>
                </a:moveTo>
                <a:lnTo>
                  <a:pt x="127539" y="9080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0" name="Vector 120">
            <a:extLst xmlns:a="http://schemas.openxmlformats.org/drawingml/2006/main">
              <a:ext uri="{FF2B5EF4-FFF2-40B4-BE49-F238E27FC236}">
                <a16:creationId xmlns:a16="http://schemas.microsoft.com/office/drawing/2014/main" id="{5C9CD618-7078-49EE-8B75-85EB4E7C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037" y="4064193"/>
            <a:ext cx="127539" cy="90809"/>
          </a:xfrm>
          <a:custGeom xmlns:a="http://schemas.openxmlformats.org/drawingml/2006/main">
            <a:pathLst>
              <a:path w="127539" h="90809">
                <a:moveTo>
                  <a:pt x="0" y="90809"/>
                </a:moveTo>
                <a:lnTo>
                  <a:pt x="127539" y="9080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1" name="Vector 121">
            <a:extLst xmlns:a="http://schemas.openxmlformats.org/drawingml/2006/main">
              <a:ext uri="{FF2B5EF4-FFF2-40B4-BE49-F238E27FC236}">
                <a16:creationId xmlns:a16="http://schemas.microsoft.com/office/drawing/2014/main" id="{6D7D74D9-F25F-481E-8D8E-6804B65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288" y="3988518"/>
            <a:ext cx="127539" cy="166484"/>
          </a:xfrm>
          <a:custGeom xmlns:a="http://schemas.openxmlformats.org/drawingml/2006/main">
            <a:pathLst>
              <a:path w="127539" h="166484">
                <a:moveTo>
                  <a:pt x="0" y="166484"/>
                </a:moveTo>
                <a:lnTo>
                  <a:pt x="127539" y="16648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2" name="Vector 122">
            <a:extLst xmlns:a="http://schemas.openxmlformats.org/drawingml/2006/main">
              <a:ext uri="{FF2B5EF4-FFF2-40B4-BE49-F238E27FC236}">
                <a16:creationId xmlns:a16="http://schemas.microsoft.com/office/drawing/2014/main" id="{BDEA2E8E-91C1-4050-B315-5A44CE1C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40" y="3988518"/>
            <a:ext cx="127539" cy="166484"/>
          </a:xfrm>
          <a:custGeom xmlns:a="http://schemas.openxmlformats.org/drawingml/2006/main">
            <a:pathLst>
              <a:path w="127539" h="166484">
                <a:moveTo>
                  <a:pt x="0" y="166484"/>
                </a:moveTo>
                <a:lnTo>
                  <a:pt x="127539" y="16648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3" name="Vector 123">
            <a:extLst xmlns:a="http://schemas.openxmlformats.org/drawingml/2006/main">
              <a:ext uri="{FF2B5EF4-FFF2-40B4-BE49-F238E27FC236}">
                <a16:creationId xmlns:a16="http://schemas.microsoft.com/office/drawing/2014/main" id="{129428CE-FF7C-444F-9790-BAC46C1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791" y="3943114"/>
            <a:ext cx="127539" cy="211889"/>
          </a:xfrm>
          <a:custGeom xmlns:a="http://schemas.openxmlformats.org/drawingml/2006/main">
            <a:pathLst>
              <a:path w="127539" h="211889">
                <a:moveTo>
                  <a:pt x="0" y="211889"/>
                </a:moveTo>
                <a:lnTo>
                  <a:pt x="127539" y="21188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4" name="Vector 124">
            <a:extLst xmlns:a="http://schemas.openxmlformats.org/drawingml/2006/main">
              <a:ext uri="{FF2B5EF4-FFF2-40B4-BE49-F238E27FC236}">
                <a16:creationId xmlns:a16="http://schemas.microsoft.com/office/drawing/2014/main" id="{2ECB4E82-8410-4749-ACB2-A87480FC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043" y="3852304"/>
            <a:ext cx="127539" cy="302698"/>
          </a:xfrm>
          <a:custGeom xmlns:a="http://schemas.openxmlformats.org/drawingml/2006/main">
            <a:pathLst>
              <a:path w="127539" h="302698">
                <a:moveTo>
                  <a:pt x="0" y="302698"/>
                </a:moveTo>
                <a:lnTo>
                  <a:pt x="127539" y="302698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5" name="Vector 125">
            <a:extLst xmlns:a="http://schemas.openxmlformats.org/drawingml/2006/main">
              <a:ext uri="{FF2B5EF4-FFF2-40B4-BE49-F238E27FC236}">
                <a16:creationId xmlns:a16="http://schemas.microsoft.com/office/drawing/2014/main" id="{1829F098-2CAF-435A-A562-B1A27553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294" y="3897709"/>
            <a:ext cx="127539" cy="257293"/>
          </a:xfrm>
          <a:custGeom xmlns:a="http://schemas.openxmlformats.org/drawingml/2006/main">
            <a:pathLst>
              <a:path w="127539" h="257293">
                <a:moveTo>
                  <a:pt x="0" y="257293"/>
                </a:moveTo>
                <a:lnTo>
                  <a:pt x="127539" y="25729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6" name="Vector 126">
            <a:extLst xmlns:a="http://schemas.openxmlformats.org/drawingml/2006/main">
              <a:ext uri="{FF2B5EF4-FFF2-40B4-BE49-F238E27FC236}">
                <a16:creationId xmlns:a16="http://schemas.microsoft.com/office/drawing/2014/main" id="{702726C2-1A43-425B-B1B4-4A0941B2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546" y="3806899"/>
            <a:ext cx="127539" cy="348103"/>
          </a:xfrm>
          <a:custGeom xmlns:a="http://schemas.openxmlformats.org/drawingml/2006/main">
            <a:pathLst>
              <a:path w="127539" h="348103">
                <a:moveTo>
                  <a:pt x="0" y="348103"/>
                </a:moveTo>
                <a:lnTo>
                  <a:pt x="127539" y="34810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7" name="Vector 127">
            <a:extLst xmlns:a="http://schemas.openxmlformats.org/drawingml/2006/main">
              <a:ext uri="{FF2B5EF4-FFF2-40B4-BE49-F238E27FC236}">
                <a16:creationId xmlns:a16="http://schemas.microsoft.com/office/drawing/2014/main" id="{872C493D-8018-45AB-B0A1-D6AFA3E0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797" y="3776630"/>
            <a:ext cx="127539" cy="378372"/>
          </a:xfrm>
          <a:custGeom xmlns:a="http://schemas.openxmlformats.org/drawingml/2006/main">
            <a:pathLst>
              <a:path w="127539" h="378372">
                <a:moveTo>
                  <a:pt x="0" y="378372"/>
                </a:moveTo>
                <a:lnTo>
                  <a:pt x="127539" y="378372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8" name="Vector 128">
            <a:extLst xmlns:a="http://schemas.openxmlformats.org/drawingml/2006/main">
              <a:ext uri="{FF2B5EF4-FFF2-40B4-BE49-F238E27FC236}">
                <a16:creationId xmlns:a16="http://schemas.microsoft.com/office/drawing/2014/main" id="{BB0C66C2-DCB8-45FE-8D82-E48B71B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048" y="3746360"/>
            <a:ext cx="127539" cy="408642"/>
          </a:xfrm>
          <a:custGeom xmlns:a="http://schemas.openxmlformats.org/drawingml/2006/main">
            <a:pathLst>
              <a:path w="127539" h="408642">
                <a:moveTo>
                  <a:pt x="0" y="408642"/>
                </a:moveTo>
                <a:lnTo>
                  <a:pt x="127539" y="408642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9" name="Vector 129">
            <a:extLst xmlns:a="http://schemas.openxmlformats.org/drawingml/2006/main">
              <a:ext uri="{FF2B5EF4-FFF2-40B4-BE49-F238E27FC236}">
                <a16:creationId xmlns:a16="http://schemas.microsoft.com/office/drawing/2014/main" id="{6C6F5E35-D497-4AB5-BB20-97C2C171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300" y="3746360"/>
            <a:ext cx="127539" cy="408642"/>
          </a:xfrm>
          <a:custGeom xmlns:a="http://schemas.openxmlformats.org/drawingml/2006/main">
            <a:pathLst>
              <a:path w="127539" h="408642">
                <a:moveTo>
                  <a:pt x="0" y="408642"/>
                </a:moveTo>
                <a:lnTo>
                  <a:pt x="127539" y="408642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0" name="Vector 130">
            <a:extLst xmlns:a="http://schemas.openxmlformats.org/drawingml/2006/main">
              <a:ext uri="{FF2B5EF4-FFF2-40B4-BE49-F238E27FC236}">
                <a16:creationId xmlns:a16="http://schemas.microsoft.com/office/drawing/2014/main" id="{637BB17F-7602-4112-8640-8DBC3D80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551" y="3761495"/>
            <a:ext cx="127539" cy="393507"/>
          </a:xfrm>
          <a:custGeom xmlns:a="http://schemas.openxmlformats.org/drawingml/2006/main">
            <a:pathLst>
              <a:path w="127539" h="393507">
                <a:moveTo>
                  <a:pt x="0" y="393507"/>
                </a:moveTo>
                <a:lnTo>
                  <a:pt x="127539" y="39350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1" name="Vector 131">
            <a:extLst xmlns:a="http://schemas.openxmlformats.org/drawingml/2006/main">
              <a:ext uri="{FF2B5EF4-FFF2-40B4-BE49-F238E27FC236}">
                <a16:creationId xmlns:a16="http://schemas.microsoft.com/office/drawing/2014/main" id="{E06BEBAF-9421-46A2-9038-13E2703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03" y="3791765"/>
            <a:ext cx="127539" cy="363238"/>
          </a:xfrm>
          <a:custGeom xmlns:a="http://schemas.openxmlformats.org/drawingml/2006/main">
            <a:pathLst>
              <a:path w="127539" h="363238">
                <a:moveTo>
                  <a:pt x="0" y="363238"/>
                </a:moveTo>
                <a:lnTo>
                  <a:pt x="127539" y="363238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2" name="Vector 132">
            <a:extLst xmlns:a="http://schemas.openxmlformats.org/drawingml/2006/main">
              <a:ext uri="{FF2B5EF4-FFF2-40B4-BE49-F238E27FC236}">
                <a16:creationId xmlns:a16="http://schemas.microsoft.com/office/drawing/2014/main" id="{EBBFBF62-A233-49BE-9BFC-5E272803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54" y="3700955"/>
            <a:ext cx="127539" cy="454047"/>
          </a:xfrm>
          <a:custGeom xmlns:a="http://schemas.openxmlformats.org/drawingml/2006/main">
            <a:pathLst>
              <a:path w="127539" h="454047">
                <a:moveTo>
                  <a:pt x="0" y="454047"/>
                </a:moveTo>
                <a:lnTo>
                  <a:pt x="127539" y="4540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3" name="Vector 133">
            <a:extLst xmlns:a="http://schemas.openxmlformats.org/drawingml/2006/main">
              <a:ext uri="{FF2B5EF4-FFF2-40B4-BE49-F238E27FC236}">
                <a16:creationId xmlns:a16="http://schemas.microsoft.com/office/drawing/2014/main" id="{43B29186-4DD8-4A60-8DE3-B95A9261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305" y="3882574"/>
            <a:ext cx="127539" cy="272428"/>
          </a:xfrm>
          <a:custGeom xmlns:a="http://schemas.openxmlformats.org/drawingml/2006/main">
            <a:pathLst>
              <a:path w="127539" h="272428">
                <a:moveTo>
                  <a:pt x="0" y="272428"/>
                </a:moveTo>
                <a:lnTo>
                  <a:pt x="127539" y="272428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4" name="Vector 134">
            <a:extLst xmlns:a="http://schemas.openxmlformats.org/drawingml/2006/main">
              <a:ext uri="{FF2B5EF4-FFF2-40B4-BE49-F238E27FC236}">
                <a16:creationId xmlns:a16="http://schemas.microsoft.com/office/drawing/2014/main" id="{5AAC49A3-7FBE-4B19-B613-794D02D3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557" y="3806899"/>
            <a:ext cx="127539" cy="348103"/>
          </a:xfrm>
          <a:custGeom xmlns:a="http://schemas.openxmlformats.org/drawingml/2006/main">
            <a:pathLst>
              <a:path w="127539" h="348103">
                <a:moveTo>
                  <a:pt x="0" y="348103"/>
                </a:moveTo>
                <a:lnTo>
                  <a:pt x="127539" y="34810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5" name="Vector 135">
            <a:extLst xmlns:a="http://schemas.openxmlformats.org/drawingml/2006/main">
              <a:ext uri="{FF2B5EF4-FFF2-40B4-BE49-F238E27FC236}">
                <a16:creationId xmlns:a16="http://schemas.microsoft.com/office/drawing/2014/main" id="{FF4A1647-B0A5-457E-84C3-8FB2EA5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08" y="4003653"/>
            <a:ext cx="127539" cy="151349"/>
          </a:xfrm>
          <a:custGeom xmlns:a="http://schemas.openxmlformats.org/drawingml/2006/main">
            <a:pathLst>
              <a:path w="127539" h="151349">
                <a:moveTo>
                  <a:pt x="0" y="151349"/>
                </a:moveTo>
                <a:lnTo>
                  <a:pt x="127539" y="151349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6" name="Vector 136">
            <a:extLst xmlns:a="http://schemas.openxmlformats.org/drawingml/2006/main">
              <a:ext uri="{FF2B5EF4-FFF2-40B4-BE49-F238E27FC236}">
                <a16:creationId xmlns:a16="http://schemas.microsoft.com/office/drawing/2014/main" id="{8BC073F2-81E3-4537-89BF-E51B21F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60" y="4018788"/>
            <a:ext cx="127539" cy="136214"/>
          </a:xfrm>
          <a:custGeom xmlns:a="http://schemas.openxmlformats.org/drawingml/2006/main">
            <a:pathLst>
              <a:path w="127539" h="136214">
                <a:moveTo>
                  <a:pt x="0" y="136214"/>
                </a:moveTo>
                <a:lnTo>
                  <a:pt x="127539" y="13621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7" name="Vector 137">
            <a:extLst xmlns:a="http://schemas.openxmlformats.org/drawingml/2006/main">
              <a:ext uri="{FF2B5EF4-FFF2-40B4-BE49-F238E27FC236}">
                <a16:creationId xmlns:a16="http://schemas.microsoft.com/office/drawing/2014/main" id="{91254E01-FDEE-4F67-ACD0-8845EB9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311" y="3958248"/>
            <a:ext cx="127539" cy="196754"/>
          </a:xfrm>
          <a:custGeom xmlns:a="http://schemas.openxmlformats.org/drawingml/2006/main">
            <a:pathLst>
              <a:path w="127539" h="196754">
                <a:moveTo>
                  <a:pt x="0" y="196754"/>
                </a:moveTo>
                <a:lnTo>
                  <a:pt x="127539" y="19675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8" name="Vector 138">
            <a:extLst xmlns:a="http://schemas.openxmlformats.org/drawingml/2006/main">
              <a:ext uri="{FF2B5EF4-FFF2-40B4-BE49-F238E27FC236}">
                <a16:creationId xmlns:a16="http://schemas.microsoft.com/office/drawing/2014/main" id="{5D9AD0BD-8DFC-4F05-AF85-0B04E9AC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563" y="4094462"/>
            <a:ext cx="127539" cy="60540"/>
          </a:xfrm>
          <a:custGeom xmlns:a="http://schemas.openxmlformats.org/drawingml/2006/main">
            <a:pathLst>
              <a:path w="127539" h="60540">
                <a:moveTo>
                  <a:pt x="0" y="60540"/>
                </a:moveTo>
                <a:lnTo>
                  <a:pt x="127539" y="6054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9" name="Vector 139">
            <a:extLst xmlns:a="http://schemas.openxmlformats.org/drawingml/2006/main">
              <a:ext uri="{FF2B5EF4-FFF2-40B4-BE49-F238E27FC236}">
                <a16:creationId xmlns:a16="http://schemas.microsoft.com/office/drawing/2014/main" id="{143E0382-AF82-43AC-A8FB-264A4D1F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4" y="4155002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0" name="Vector 140">
            <a:extLst xmlns:a="http://schemas.openxmlformats.org/drawingml/2006/main">
              <a:ext uri="{FF2B5EF4-FFF2-40B4-BE49-F238E27FC236}">
                <a16:creationId xmlns:a16="http://schemas.microsoft.com/office/drawing/2014/main" id="{0F239C18-B1BC-43F6-A54F-235568FC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065" y="4124732"/>
            <a:ext cx="127539" cy="30270"/>
          </a:xfrm>
          <a:custGeom xmlns:a="http://schemas.openxmlformats.org/drawingml/2006/main">
            <a:pathLst>
              <a:path w="127539" h="30270">
                <a:moveTo>
                  <a:pt x="0" y="30270"/>
                </a:moveTo>
                <a:lnTo>
                  <a:pt x="127539" y="3027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1" name="Vector 141">
            <a:extLst xmlns:a="http://schemas.openxmlformats.org/drawingml/2006/main">
              <a:ext uri="{FF2B5EF4-FFF2-40B4-BE49-F238E27FC236}">
                <a16:creationId xmlns:a16="http://schemas.microsoft.com/office/drawing/2014/main" id="{4B9E1911-C951-4705-95C4-7480F8C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317" y="4155002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2" name="Vector 142">
            <a:extLst xmlns:a="http://schemas.openxmlformats.org/drawingml/2006/main">
              <a:ext uri="{FF2B5EF4-FFF2-40B4-BE49-F238E27FC236}">
                <a16:creationId xmlns:a16="http://schemas.microsoft.com/office/drawing/2014/main" id="{55CABB09-33BC-4633-8422-777793AE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568" y="4139867"/>
            <a:ext cx="127539" cy="15135"/>
          </a:xfrm>
          <a:custGeom xmlns:a="http://schemas.openxmlformats.org/drawingml/2006/main">
            <a:pathLst>
              <a:path w="127539" h="15135">
                <a:moveTo>
                  <a:pt x="0" y="15135"/>
                </a:moveTo>
                <a:lnTo>
                  <a:pt x="127539" y="15135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3" name="Vector 143">
            <a:extLst xmlns:a="http://schemas.openxmlformats.org/drawingml/2006/main">
              <a:ext uri="{FF2B5EF4-FFF2-40B4-BE49-F238E27FC236}">
                <a16:creationId xmlns:a16="http://schemas.microsoft.com/office/drawing/2014/main" id="{F76EFE41-1735-4851-871C-4DA87618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2820" y="4124732"/>
            <a:ext cx="127539" cy="30270"/>
          </a:xfrm>
          <a:custGeom xmlns:a="http://schemas.openxmlformats.org/drawingml/2006/main">
            <a:pathLst>
              <a:path w="127539" h="30270">
                <a:moveTo>
                  <a:pt x="0" y="30270"/>
                </a:moveTo>
                <a:lnTo>
                  <a:pt x="127539" y="3027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4" name="m2fe37c5cf0 144">
            <a:extLst xmlns:a="http://schemas.openxmlformats.org/drawingml/2006/main">
              <a:ext uri="{FF2B5EF4-FFF2-40B4-BE49-F238E27FC236}">
                <a16:creationId xmlns:a16="http://schemas.microsoft.com/office/drawing/2014/main" id="{5E8C4F48-46C5-4335-987E-EEA3AFFC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819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5" name="Text 145: −10.0">
            <a:extLst xmlns:a="http://schemas.openxmlformats.org/drawingml/2006/main">
              <a:ext uri="{FF2B5EF4-FFF2-40B4-BE49-F238E27FC236}">
                <a16:creationId xmlns:a16="http://schemas.microsoft.com/office/drawing/2014/main" id="{7F711C6B-52EF-4518-B2B0-62CD9D4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0464" y="4222292"/>
            <a:ext cx="346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−10.0</a:t>
            </a:r>
          </a:p>
        </p:txBody>
      </p:sp>
      <p:sp>
        <p:nvSpPr>
          <p:cNvPr id="146" name="m2fe37c5cf0 146">
            <a:extLst xmlns:a="http://schemas.openxmlformats.org/drawingml/2006/main">
              <a:ext uri="{FF2B5EF4-FFF2-40B4-BE49-F238E27FC236}">
                <a16:creationId xmlns:a16="http://schemas.microsoft.com/office/drawing/2014/main" id="{542B4F05-EC03-4B47-A795-721EC99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104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7" name="Text 147: −7.5">
            <a:extLst xmlns:a="http://schemas.openxmlformats.org/drawingml/2006/main">
              <a:ext uri="{FF2B5EF4-FFF2-40B4-BE49-F238E27FC236}">
                <a16:creationId xmlns:a16="http://schemas.microsoft.com/office/drawing/2014/main" id="{84B57B53-940E-4617-866C-06D9F50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055" y="4222292"/>
            <a:ext cx="27609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−7.5</a:t>
            </a:r>
          </a:p>
        </p:txBody>
      </p:sp>
      <p:sp>
        <p:nvSpPr>
          <p:cNvPr id="148" name="m2fe37c5cf0 148">
            <a:extLst xmlns:a="http://schemas.openxmlformats.org/drawingml/2006/main">
              <a:ext uri="{FF2B5EF4-FFF2-40B4-BE49-F238E27FC236}">
                <a16:creationId xmlns:a16="http://schemas.microsoft.com/office/drawing/2014/main" id="{E916EBBC-DB89-4342-A153-3BD8807A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389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9" name="Text 149: −5.0">
            <a:extLst xmlns:a="http://schemas.openxmlformats.org/drawingml/2006/main">
              <a:ext uri="{FF2B5EF4-FFF2-40B4-BE49-F238E27FC236}">
                <a16:creationId xmlns:a16="http://schemas.microsoft.com/office/drawing/2014/main" id="{D3690A0E-25F8-4857-B7EE-7FE280A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2340" y="4222292"/>
            <a:ext cx="27609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−5.0</a:t>
            </a:r>
          </a:p>
        </p:txBody>
      </p:sp>
      <p:sp>
        <p:nvSpPr>
          <p:cNvPr id="150" name="m2fe37c5cf0 150">
            <a:extLst xmlns:a="http://schemas.openxmlformats.org/drawingml/2006/main">
              <a:ext uri="{FF2B5EF4-FFF2-40B4-BE49-F238E27FC236}">
                <a16:creationId xmlns:a16="http://schemas.microsoft.com/office/drawing/2014/main" id="{12BD952E-B248-4C0C-9D3E-F581185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73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1" name="Text 151: −2.5">
            <a:extLst xmlns:a="http://schemas.openxmlformats.org/drawingml/2006/main">
              <a:ext uri="{FF2B5EF4-FFF2-40B4-BE49-F238E27FC236}">
                <a16:creationId xmlns:a16="http://schemas.microsoft.com/office/drawing/2014/main" id="{6DED4EBD-2FE4-4AB9-A819-F91DD99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0624" y="4222292"/>
            <a:ext cx="27609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−2.5</a:t>
            </a:r>
          </a:p>
        </p:txBody>
      </p:sp>
      <p:sp>
        <p:nvSpPr>
          <p:cNvPr id="152" name="m2fe37c5cf0 152">
            <a:extLst xmlns:a="http://schemas.openxmlformats.org/drawingml/2006/main">
              <a:ext uri="{FF2B5EF4-FFF2-40B4-BE49-F238E27FC236}">
                <a16:creationId xmlns:a16="http://schemas.microsoft.com/office/drawing/2014/main" id="{9029D2F2-363F-4FB9-837E-1A7104DE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3" name="Text 153: 0.0">
            <a:extLst xmlns:a="http://schemas.openxmlformats.org/drawingml/2006/main">
              <a:ext uri="{FF2B5EF4-FFF2-40B4-BE49-F238E27FC236}">
                <a16:creationId xmlns:a16="http://schemas.microsoft.com/office/drawing/2014/main" id="{6C903B58-55FC-4138-AA11-2A0EA70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5993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54" name="m2fe37c5cf0 154">
            <a:extLst xmlns:a="http://schemas.openxmlformats.org/drawingml/2006/main">
              <a:ext uri="{FF2B5EF4-FFF2-40B4-BE49-F238E27FC236}">
                <a16:creationId xmlns:a16="http://schemas.microsoft.com/office/drawing/2014/main" id="{1F0FBA01-12C9-49DD-9116-00E40D4F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243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5" name="Text 155: 2.5">
            <a:extLst xmlns:a="http://schemas.openxmlformats.org/drawingml/2006/main">
              <a:ext uri="{FF2B5EF4-FFF2-40B4-BE49-F238E27FC236}">
                <a16:creationId xmlns:a16="http://schemas.microsoft.com/office/drawing/2014/main" id="{2BCCF1C2-4321-4E3E-B1F4-4FC8D14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4278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156" name="m2fe37c5cf0 156">
            <a:extLst xmlns:a="http://schemas.openxmlformats.org/drawingml/2006/main">
              <a:ext uri="{FF2B5EF4-FFF2-40B4-BE49-F238E27FC236}">
                <a16:creationId xmlns:a16="http://schemas.microsoft.com/office/drawing/2014/main" id="{A528873A-F767-428E-B5B4-1AE62655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528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7" name="Text 157: 5.0">
            <a:extLst xmlns:a="http://schemas.openxmlformats.org/drawingml/2006/main">
              <a:ext uri="{FF2B5EF4-FFF2-40B4-BE49-F238E27FC236}">
                <a16:creationId xmlns:a16="http://schemas.microsoft.com/office/drawing/2014/main" id="{86CFF3CD-103C-424F-8131-62367AF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563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5.0</a:t>
            </a:r>
          </a:p>
        </p:txBody>
      </p:sp>
      <p:sp>
        <p:nvSpPr>
          <p:cNvPr id="158" name="m2fe37c5cf0 158">
            <a:extLst xmlns:a="http://schemas.openxmlformats.org/drawingml/2006/main">
              <a:ext uri="{FF2B5EF4-FFF2-40B4-BE49-F238E27FC236}">
                <a16:creationId xmlns:a16="http://schemas.microsoft.com/office/drawing/2014/main" id="{914E7090-90C2-4C87-8E00-B775BC84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813" y="415500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9" name="Text 159: 7.5">
            <a:extLst xmlns:a="http://schemas.openxmlformats.org/drawingml/2006/main">
              <a:ext uri="{FF2B5EF4-FFF2-40B4-BE49-F238E27FC236}">
                <a16:creationId xmlns:a16="http://schemas.microsoft.com/office/drawing/2014/main" id="{4ECA499C-670C-4A78-9F11-B1C949B9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0848" y="4222292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7.5</a:t>
            </a:r>
          </a:p>
        </p:txBody>
      </p:sp>
      <p:sp>
        <p:nvSpPr>
          <p:cNvPr id="160" name="Text 160: Predicted log HR(z)">
            <a:extLst xmlns:a="http://schemas.openxmlformats.org/drawingml/2006/main">
              <a:ext uri="{FF2B5EF4-FFF2-40B4-BE49-F238E27FC236}">
                <a16:creationId xmlns:a16="http://schemas.microsoft.com/office/drawing/2014/main" id="{57A39855-7C73-4139-9B51-16D53AE2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3269" y="4396004"/>
            <a:ext cx="113334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Predicted log HR(z)</a:t>
            </a:r>
          </a:p>
        </p:txBody>
      </p:sp>
      <p:sp>
        <p:nvSpPr>
          <p:cNvPr id="161" name="m5b7ecc52a7 161">
            <a:extLst xmlns:a="http://schemas.openxmlformats.org/drawingml/2006/main">
              <a:ext uri="{FF2B5EF4-FFF2-40B4-BE49-F238E27FC236}">
                <a16:creationId xmlns:a16="http://schemas.microsoft.com/office/drawing/2014/main" id="{530C751E-341A-453D-9BE6-B099C041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415500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2" name="Text 162: 0">
            <a:extLst xmlns:a="http://schemas.openxmlformats.org/drawingml/2006/main">
              <a:ext uri="{FF2B5EF4-FFF2-40B4-BE49-F238E27FC236}">
                <a16:creationId xmlns:a16="http://schemas.microsoft.com/office/drawing/2014/main" id="{A9871902-7ABC-4A5D-BCD2-DC8AA6B5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4085142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3" name="m5b7ecc52a7 163">
            <a:extLst xmlns:a="http://schemas.openxmlformats.org/drawingml/2006/main">
              <a:ext uri="{FF2B5EF4-FFF2-40B4-BE49-F238E27FC236}">
                <a16:creationId xmlns:a16="http://schemas.microsoft.com/office/drawing/2014/main" id="{04C6656B-7579-441E-9E3A-BC8A22E9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377663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4" name="Text 164: 25">
            <a:extLst xmlns:a="http://schemas.openxmlformats.org/drawingml/2006/main">
              <a:ext uri="{FF2B5EF4-FFF2-40B4-BE49-F238E27FC236}">
                <a16:creationId xmlns:a16="http://schemas.microsoft.com/office/drawing/2014/main" id="{463A086C-C7CA-4076-8042-DA8FF32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2963" y="3706770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65" name="Text 165: Patients">
            <a:extLst xmlns:a="http://schemas.openxmlformats.org/drawingml/2006/main">
              <a:ext uri="{FF2B5EF4-FFF2-40B4-BE49-F238E27FC236}">
                <a16:creationId xmlns:a16="http://schemas.microsoft.com/office/drawing/2014/main" id="{8BD76F5E-9BE0-4424-B32B-F0381553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202222" y="3842332"/>
            <a:ext cx="43836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166" name="Vector 166">
            <a:extLst xmlns:a="http://schemas.openxmlformats.org/drawingml/2006/main">
              <a:ext uri="{FF2B5EF4-FFF2-40B4-BE49-F238E27FC236}">
                <a16:creationId xmlns:a16="http://schemas.microsoft.com/office/drawing/2014/main" id="{D8E0F562-2825-4358-B0DE-1BC38B2C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3678253"/>
            <a:ext cx="10" cy="476749"/>
          </a:xfrm>
          <a:custGeom xmlns:a="http://schemas.openxmlformats.org/drawingml/2006/main">
            <a:pathLst>
              <a:path w="10" h="476749">
                <a:moveTo>
                  <a:pt x="0" y="4767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7" name="Vector 167">
            <a:extLst xmlns:a="http://schemas.openxmlformats.org/drawingml/2006/main">
              <a:ext uri="{FF2B5EF4-FFF2-40B4-BE49-F238E27FC236}">
                <a16:creationId xmlns:a16="http://schemas.microsoft.com/office/drawing/2014/main" id="{8DBF9D3E-621A-41F7-9053-FAD5ED0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4155002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8" name="Vector 168">
            <a:extLst xmlns:a="http://schemas.openxmlformats.org/drawingml/2006/main">
              <a:ext uri="{FF2B5EF4-FFF2-40B4-BE49-F238E27FC236}">
                <a16:creationId xmlns:a16="http://schemas.microsoft.com/office/drawing/2014/main" id="{4A6AED87-F177-4049-BB96-7BCEFCE1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0126"/>
            <a:ext cx="4422913" cy="1906997"/>
          </a:xfrm>
          <a:custGeom xmlns:a="http://schemas.openxmlformats.org/drawingml/2006/main">
            <a:pathLst>
              <a:path w="4422913" h="1906997">
                <a:moveTo>
                  <a:pt x="0" y="1906997"/>
                </a:moveTo>
                <a:lnTo>
                  <a:pt x="4422913" y="1906997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69" name="md7ae1071b2 169">
            <a:extLst xmlns:a="http://schemas.openxmlformats.org/drawingml/2006/main">
              <a:ext uri="{FF2B5EF4-FFF2-40B4-BE49-F238E27FC236}">
                <a16:creationId xmlns:a16="http://schemas.microsoft.com/office/drawing/2014/main" id="{CBE24766-1123-4120-8EC4-39A8EAA1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96" y="5620065"/>
            <a:ext cx="1429700" cy="1070376"/>
          </a:xfrm>
          <a:custGeom xmlns:a="http://schemas.openxmlformats.org/drawingml/2006/main">
            <a:pathLst>
              <a:path w="1429700" h="1070376">
                <a:moveTo>
                  <a:pt x="0" y="493654"/>
                </a:moveTo>
                <a:lnTo>
                  <a:pt x="0" y="1070376"/>
                </a:lnTo>
                <a:lnTo>
                  <a:pt x="16959" y="1059601"/>
                </a:lnTo>
                <a:lnTo>
                  <a:pt x="33918" y="1048835"/>
                </a:lnTo>
                <a:lnTo>
                  <a:pt x="50877" y="1038077"/>
                </a:lnTo>
                <a:lnTo>
                  <a:pt x="67836" y="1027329"/>
                </a:lnTo>
                <a:lnTo>
                  <a:pt x="84795" y="1016590"/>
                </a:lnTo>
                <a:lnTo>
                  <a:pt x="101754" y="1005862"/>
                </a:lnTo>
                <a:lnTo>
                  <a:pt x="118713" y="995143"/>
                </a:lnTo>
                <a:lnTo>
                  <a:pt x="135672" y="984436"/>
                </a:lnTo>
                <a:lnTo>
                  <a:pt x="152631" y="973739"/>
                </a:lnTo>
                <a:lnTo>
                  <a:pt x="169590" y="963054"/>
                </a:lnTo>
                <a:lnTo>
                  <a:pt x="186549" y="952380"/>
                </a:lnTo>
                <a:lnTo>
                  <a:pt x="203508" y="941719"/>
                </a:lnTo>
                <a:lnTo>
                  <a:pt x="220467" y="931070"/>
                </a:lnTo>
                <a:lnTo>
                  <a:pt x="237425" y="920435"/>
                </a:lnTo>
                <a:lnTo>
                  <a:pt x="254384" y="909813"/>
                </a:lnTo>
                <a:lnTo>
                  <a:pt x="271343" y="899205"/>
                </a:lnTo>
                <a:lnTo>
                  <a:pt x="288302" y="888612"/>
                </a:lnTo>
                <a:lnTo>
                  <a:pt x="305261" y="878033"/>
                </a:lnTo>
                <a:lnTo>
                  <a:pt x="322220" y="867471"/>
                </a:lnTo>
                <a:lnTo>
                  <a:pt x="339179" y="856925"/>
                </a:lnTo>
                <a:lnTo>
                  <a:pt x="356138" y="846396"/>
                </a:lnTo>
                <a:lnTo>
                  <a:pt x="373097" y="835884"/>
                </a:lnTo>
                <a:lnTo>
                  <a:pt x="390056" y="825391"/>
                </a:lnTo>
                <a:lnTo>
                  <a:pt x="407015" y="814917"/>
                </a:lnTo>
                <a:lnTo>
                  <a:pt x="423974" y="804462"/>
                </a:lnTo>
                <a:lnTo>
                  <a:pt x="440933" y="794028"/>
                </a:lnTo>
                <a:lnTo>
                  <a:pt x="457892" y="783615"/>
                </a:lnTo>
                <a:lnTo>
                  <a:pt x="474851" y="773224"/>
                </a:lnTo>
                <a:lnTo>
                  <a:pt x="491810" y="762857"/>
                </a:lnTo>
                <a:lnTo>
                  <a:pt x="508769" y="752513"/>
                </a:lnTo>
                <a:lnTo>
                  <a:pt x="525728" y="742194"/>
                </a:lnTo>
                <a:lnTo>
                  <a:pt x="542687" y="731901"/>
                </a:lnTo>
                <a:lnTo>
                  <a:pt x="559646" y="721635"/>
                </a:lnTo>
                <a:lnTo>
                  <a:pt x="576605" y="711398"/>
                </a:lnTo>
                <a:lnTo>
                  <a:pt x="593564" y="701189"/>
                </a:lnTo>
                <a:lnTo>
                  <a:pt x="610523" y="691011"/>
                </a:lnTo>
                <a:lnTo>
                  <a:pt x="627482" y="680864"/>
                </a:lnTo>
                <a:lnTo>
                  <a:pt x="644441" y="670750"/>
                </a:lnTo>
                <a:lnTo>
                  <a:pt x="661400" y="660671"/>
                </a:lnTo>
                <a:lnTo>
                  <a:pt x="678359" y="650627"/>
                </a:lnTo>
                <a:lnTo>
                  <a:pt x="695317" y="640620"/>
                </a:lnTo>
                <a:lnTo>
                  <a:pt x="712276" y="630652"/>
                </a:lnTo>
                <a:lnTo>
                  <a:pt x="729235" y="620725"/>
                </a:lnTo>
                <a:lnTo>
                  <a:pt x="746194" y="610839"/>
                </a:lnTo>
                <a:lnTo>
                  <a:pt x="763153" y="600996"/>
                </a:lnTo>
                <a:lnTo>
                  <a:pt x="780112" y="591199"/>
                </a:lnTo>
                <a:lnTo>
                  <a:pt x="797071" y="581449"/>
                </a:lnTo>
                <a:lnTo>
                  <a:pt x="814030" y="571748"/>
                </a:lnTo>
                <a:lnTo>
                  <a:pt x="830989" y="562097"/>
                </a:lnTo>
                <a:lnTo>
                  <a:pt x="847948" y="552499"/>
                </a:lnTo>
                <a:lnTo>
                  <a:pt x="864907" y="542956"/>
                </a:lnTo>
                <a:lnTo>
                  <a:pt x="881866" y="533470"/>
                </a:lnTo>
                <a:lnTo>
                  <a:pt x="898825" y="524042"/>
                </a:lnTo>
                <a:lnTo>
                  <a:pt x="915784" y="514675"/>
                </a:lnTo>
                <a:lnTo>
                  <a:pt x="932743" y="505371"/>
                </a:lnTo>
                <a:lnTo>
                  <a:pt x="949702" y="496132"/>
                </a:lnTo>
                <a:lnTo>
                  <a:pt x="966661" y="486960"/>
                </a:lnTo>
                <a:lnTo>
                  <a:pt x="983620" y="477858"/>
                </a:lnTo>
                <a:lnTo>
                  <a:pt x="1000579" y="468827"/>
                </a:lnTo>
                <a:lnTo>
                  <a:pt x="1017538" y="459870"/>
                </a:lnTo>
                <a:lnTo>
                  <a:pt x="1034497" y="450988"/>
                </a:lnTo>
                <a:lnTo>
                  <a:pt x="1051456" y="442183"/>
                </a:lnTo>
                <a:lnTo>
                  <a:pt x="1068415" y="433458"/>
                </a:lnTo>
                <a:lnTo>
                  <a:pt x="1085374" y="424815"/>
                </a:lnTo>
                <a:lnTo>
                  <a:pt x="1102333" y="416254"/>
                </a:lnTo>
                <a:lnTo>
                  <a:pt x="1119292" y="407778"/>
                </a:lnTo>
                <a:lnTo>
                  <a:pt x="1136251" y="399388"/>
                </a:lnTo>
                <a:lnTo>
                  <a:pt x="1153209" y="391086"/>
                </a:lnTo>
                <a:lnTo>
                  <a:pt x="1170168" y="382873"/>
                </a:lnTo>
                <a:lnTo>
                  <a:pt x="1187127" y="374749"/>
                </a:lnTo>
                <a:lnTo>
                  <a:pt x="1204086" y="366717"/>
                </a:lnTo>
                <a:lnTo>
                  <a:pt x="1221045" y="358776"/>
                </a:lnTo>
                <a:lnTo>
                  <a:pt x="1238004" y="350927"/>
                </a:lnTo>
                <a:lnTo>
                  <a:pt x="1254963" y="343171"/>
                </a:lnTo>
                <a:lnTo>
                  <a:pt x="1271922" y="335507"/>
                </a:lnTo>
                <a:lnTo>
                  <a:pt x="1288881" y="327936"/>
                </a:lnTo>
                <a:lnTo>
                  <a:pt x="1305840" y="320457"/>
                </a:lnTo>
                <a:lnTo>
                  <a:pt x="1322799" y="313070"/>
                </a:lnTo>
                <a:lnTo>
                  <a:pt x="1339758" y="305774"/>
                </a:lnTo>
                <a:lnTo>
                  <a:pt x="1356717" y="298569"/>
                </a:lnTo>
                <a:lnTo>
                  <a:pt x="1373676" y="291453"/>
                </a:lnTo>
                <a:lnTo>
                  <a:pt x="1390635" y="284426"/>
                </a:lnTo>
                <a:lnTo>
                  <a:pt x="1407594" y="277486"/>
                </a:lnTo>
                <a:lnTo>
                  <a:pt x="1424553" y="270631"/>
                </a:lnTo>
                <a:lnTo>
                  <a:pt x="1429700" y="268567"/>
                </a:lnTo>
                <a:lnTo>
                  <a:pt x="1429700" y="0"/>
                </a:lnTo>
                <a:lnTo>
                  <a:pt x="1429700" y="0"/>
                </a:lnTo>
                <a:lnTo>
                  <a:pt x="1424553" y="2600"/>
                </a:lnTo>
                <a:lnTo>
                  <a:pt x="1407594" y="11112"/>
                </a:lnTo>
                <a:lnTo>
                  <a:pt x="1390635" y="19538"/>
                </a:lnTo>
                <a:lnTo>
                  <a:pt x="1373676" y="27878"/>
                </a:lnTo>
                <a:lnTo>
                  <a:pt x="1356717" y="36129"/>
                </a:lnTo>
                <a:lnTo>
                  <a:pt x="1339758" y="44290"/>
                </a:lnTo>
                <a:lnTo>
                  <a:pt x="1322799" y="52361"/>
                </a:lnTo>
                <a:lnTo>
                  <a:pt x="1305840" y="60341"/>
                </a:lnTo>
                <a:lnTo>
                  <a:pt x="1288881" y="68229"/>
                </a:lnTo>
                <a:lnTo>
                  <a:pt x="1271922" y="76024"/>
                </a:lnTo>
                <a:lnTo>
                  <a:pt x="1254963" y="83727"/>
                </a:lnTo>
                <a:lnTo>
                  <a:pt x="1238004" y="91337"/>
                </a:lnTo>
                <a:lnTo>
                  <a:pt x="1221045" y="98855"/>
                </a:lnTo>
                <a:lnTo>
                  <a:pt x="1204086" y="106281"/>
                </a:lnTo>
                <a:lnTo>
                  <a:pt x="1187127" y="113615"/>
                </a:lnTo>
                <a:lnTo>
                  <a:pt x="1170168" y="120858"/>
                </a:lnTo>
                <a:lnTo>
                  <a:pt x="1153209" y="128012"/>
                </a:lnTo>
                <a:lnTo>
                  <a:pt x="1136251" y="135076"/>
                </a:lnTo>
                <a:lnTo>
                  <a:pt x="1119292" y="142053"/>
                </a:lnTo>
                <a:lnTo>
                  <a:pt x="1102333" y="148944"/>
                </a:lnTo>
                <a:lnTo>
                  <a:pt x="1085374" y="155750"/>
                </a:lnTo>
                <a:lnTo>
                  <a:pt x="1068415" y="162473"/>
                </a:lnTo>
                <a:lnTo>
                  <a:pt x="1051456" y="169114"/>
                </a:lnTo>
                <a:lnTo>
                  <a:pt x="1034497" y="175677"/>
                </a:lnTo>
                <a:lnTo>
                  <a:pt x="1017538" y="182161"/>
                </a:lnTo>
                <a:lnTo>
                  <a:pt x="1000579" y="188571"/>
                </a:lnTo>
                <a:lnTo>
                  <a:pt x="983620" y="194906"/>
                </a:lnTo>
                <a:lnTo>
                  <a:pt x="966661" y="201170"/>
                </a:lnTo>
                <a:lnTo>
                  <a:pt x="949702" y="207365"/>
                </a:lnTo>
                <a:lnTo>
                  <a:pt x="932743" y="213493"/>
                </a:lnTo>
                <a:lnTo>
                  <a:pt x="915784" y="219556"/>
                </a:lnTo>
                <a:lnTo>
                  <a:pt x="898825" y="225556"/>
                </a:lnTo>
                <a:lnTo>
                  <a:pt x="881866" y="231495"/>
                </a:lnTo>
                <a:lnTo>
                  <a:pt x="864907" y="237375"/>
                </a:lnTo>
                <a:lnTo>
                  <a:pt x="847948" y="243198"/>
                </a:lnTo>
                <a:lnTo>
                  <a:pt x="830989" y="248967"/>
                </a:lnTo>
                <a:lnTo>
                  <a:pt x="814030" y="254683"/>
                </a:lnTo>
                <a:lnTo>
                  <a:pt x="797071" y="260349"/>
                </a:lnTo>
                <a:lnTo>
                  <a:pt x="780112" y="265965"/>
                </a:lnTo>
                <a:lnTo>
                  <a:pt x="763153" y="271535"/>
                </a:lnTo>
                <a:lnTo>
                  <a:pt x="746194" y="277059"/>
                </a:lnTo>
                <a:lnTo>
                  <a:pt x="729235" y="282539"/>
                </a:lnTo>
                <a:lnTo>
                  <a:pt x="712276" y="287978"/>
                </a:lnTo>
                <a:lnTo>
                  <a:pt x="695317" y="293377"/>
                </a:lnTo>
                <a:lnTo>
                  <a:pt x="678359" y="298737"/>
                </a:lnTo>
                <a:lnTo>
                  <a:pt x="661400" y="304060"/>
                </a:lnTo>
                <a:lnTo>
                  <a:pt x="644441" y="309347"/>
                </a:lnTo>
                <a:lnTo>
                  <a:pt x="627482" y="314600"/>
                </a:lnTo>
                <a:lnTo>
                  <a:pt x="610523" y="319820"/>
                </a:lnTo>
                <a:lnTo>
                  <a:pt x="593564" y="325008"/>
                </a:lnTo>
                <a:lnTo>
                  <a:pt x="576605" y="330166"/>
                </a:lnTo>
                <a:lnTo>
                  <a:pt x="559646" y="335295"/>
                </a:lnTo>
                <a:lnTo>
                  <a:pt x="542687" y="340396"/>
                </a:lnTo>
                <a:lnTo>
                  <a:pt x="525728" y="345470"/>
                </a:lnTo>
                <a:lnTo>
                  <a:pt x="508769" y="350517"/>
                </a:lnTo>
                <a:lnTo>
                  <a:pt x="491810" y="355540"/>
                </a:lnTo>
                <a:lnTo>
                  <a:pt x="474851" y="360539"/>
                </a:lnTo>
                <a:lnTo>
                  <a:pt x="457892" y="365515"/>
                </a:lnTo>
                <a:lnTo>
                  <a:pt x="440933" y="370469"/>
                </a:lnTo>
                <a:lnTo>
                  <a:pt x="423974" y="375402"/>
                </a:lnTo>
                <a:lnTo>
                  <a:pt x="407015" y="380314"/>
                </a:lnTo>
                <a:lnTo>
                  <a:pt x="390056" y="385206"/>
                </a:lnTo>
                <a:lnTo>
                  <a:pt x="373097" y="390079"/>
                </a:lnTo>
                <a:lnTo>
                  <a:pt x="356138" y="394935"/>
                </a:lnTo>
                <a:lnTo>
                  <a:pt x="339179" y="399772"/>
                </a:lnTo>
                <a:lnTo>
                  <a:pt x="322220" y="404593"/>
                </a:lnTo>
                <a:lnTo>
                  <a:pt x="305261" y="409397"/>
                </a:lnTo>
                <a:lnTo>
                  <a:pt x="288302" y="414185"/>
                </a:lnTo>
                <a:lnTo>
                  <a:pt x="271343" y="418959"/>
                </a:lnTo>
                <a:lnTo>
                  <a:pt x="254384" y="423718"/>
                </a:lnTo>
                <a:lnTo>
                  <a:pt x="237425" y="428462"/>
                </a:lnTo>
                <a:lnTo>
                  <a:pt x="220467" y="433193"/>
                </a:lnTo>
                <a:lnTo>
                  <a:pt x="203508" y="437911"/>
                </a:lnTo>
                <a:lnTo>
                  <a:pt x="186549" y="442617"/>
                </a:lnTo>
                <a:lnTo>
                  <a:pt x="169590" y="447310"/>
                </a:lnTo>
                <a:lnTo>
                  <a:pt x="152631" y="451991"/>
                </a:lnTo>
                <a:lnTo>
                  <a:pt x="135672" y="456661"/>
                </a:lnTo>
                <a:lnTo>
                  <a:pt x="118713" y="461320"/>
                </a:lnTo>
                <a:lnTo>
                  <a:pt x="101754" y="465968"/>
                </a:lnTo>
                <a:lnTo>
                  <a:pt x="84795" y="470607"/>
                </a:lnTo>
                <a:lnTo>
                  <a:pt x="67836" y="475235"/>
                </a:lnTo>
                <a:lnTo>
                  <a:pt x="50877" y="479853"/>
                </a:lnTo>
                <a:lnTo>
                  <a:pt x="33918" y="484462"/>
                </a:lnTo>
                <a:lnTo>
                  <a:pt x="16959" y="489062"/>
                </a:lnTo>
                <a:lnTo>
                  <a:pt x="0" y="493654"/>
                </a:lnTo>
                <a:close/>
              </a:path>
            </a:pathLst>
          </a:custGeom>
          <a:solidFill xmlns:a="http://schemas.openxmlformats.org/drawingml/2006/main">
            <a:srgbClr val="697480">
              <a:alpha val="18000"/>
            </a:srgbClr>
          </a:solidFill>
          <a:ln xmlns:a="http://schemas.openxmlformats.org/drawingml/2006/main" w="12700">
            <a:solidFill>
              <a:srgbClr val="697480">
                <a:alpha val="18000"/>
              </a:srgbClr>
            </a:solidFill>
            <a:prstDash val="solid"/>
          </a:ln>
        </p:spPr>
      </p:sp>
      <p:sp>
        <p:nvSpPr>
          <p:cNvPr id="170" name="m3c6f4fd0a3 170">
            <a:extLst xmlns:a="http://schemas.openxmlformats.org/drawingml/2006/main">
              <a:ext uri="{FF2B5EF4-FFF2-40B4-BE49-F238E27FC236}">
                <a16:creationId xmlns:a16="http://schemas.microsoft.com/office/drawing/2014/main" id="{4F946A22-3D0E-4B99-A0F1-FE808B1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97" y="4956808"/>
            <a:ext cx="1114144" cy="931824"/>
          </a:xfrm>
          <a:custGeom xmlns:a="http://schemas.openxmlformats.org/drawingml/2006/main">
            <a:pathLst>
              <a:path w="1114144" h="931824">
                <a:moveTo>
                  <a:pt x="0" y="663257"/>
                </a:moveTo>
                <a:lnTo>
                  <a:pt x="0" y="931824"/>
                </a:lnTo>
                <a:lnTo>
                  <a:pt x="11812" y="927118"/>
                </a:lnTo>
                <a:lnTo>
                  <a:pt x="28770" y="920429"/>
                </a:lnTo>
                <a:lnTo>
                  <a:pt x="45729" y="913821"/>
                </a:lnTo>
                <a:lnTo>
                  <a:pt x="62688" y="907292"/>
                </a:lnTo>
                <a:lnTo>
                  <a:pt x="79647" y="900839"/>
                </a:lnTo>
                <a:lnTo>
                  <a:pt x="96606" y="894461"/>
                </a:lnTo>
                <a:lnTo>
                  <a:pt x="113565" y="888156"/>
                </a:lnTo>
                <a:lnTo>
                  <a:pt x="130524" y="881921"/>
                </a:lnTo>
                <a:lnTo>
                  <a:pt x="147483" y="875755"/>
                </a:lnTo>
                <a:lnTo>
                  <a:pt x="164442" y="869655"/>
                </a:lnTo>
                <a:lnTo>
                  <a:pt x="181401" y="863619"/>
                </a:lnTo>
                <a:lnTo>
                  <a:pt x="198360" y="857645"/>
                </a:lnTo>
                <a:lnTo>
                  <a:pt x="215319" y="851731"/>
                </a:lnTo>
                <a:lnTo>
                  <a:pt x="232278" y="845875"/>
                </a:lnTo>
                <a:lnTo>
                  <a:pt x="249237" y="840075"/>
                </a:lnTo>
                <a:lnTo>
                  <a:pt x="266196" y="834329"/>
                </a:lnTo>
                <a:lnTo>
                  <a:pt x="283155" y="828635"/>
                </a:lnTo>
                <a:lnTo>
                  <a:pt x="300114" y="822990"/>
                </a:lnTo>
                <a:lnTo>
                  <a:pt x="317073" y="817394"/>
                </a:lnTo>
                <a:lnTo>
                  <a:pt x="334032" y="811844"/>
                </a:lnTo>
                <a:lnTo>
                  <a:pt x="350991" y="806338"/>
                </a:lnTo>
                <a:lnTo>
                  <a:pt x="367950" y="800875"/>
                </a:lnTo>
                <a:lnTo>
                  <a:pt x="384909" y="795453"/>
                </a:lnTo>
                <a:lnTo>
                  <a:pt x="401868" y="790071"/>
                </a:lnTo>
                <a:lnTo>
                  <a:pt x="418827" y="784727"/>
                </a:lnTo>
                <a:lnTo>
                  <a:pt x="435786" y="779419"/>
                </a:lnTo>
                <a:lnTo>
                  <a:pt x="452745" y="774147"/>
                </a:lnTo>
                <a:lnTo>
                  <a:pt x="469704" y="768908"/>
                </a:lnTo>
                <a:lnTo>
                  <a:pt x="486662" y="763701"/>
                </a:lnTo>
                <a:lnTo>
                  <a:pt x="503621" y="758526"/>
                </a:lnTo>
                <a:lnTo>
                  <a:pt x="520580" y="753381"/>
                </a:lnTo>
                <a:lnTo>
                  <a:pt x="537539" y="748264"/>
                </a:lnTo>
                <a:lnTo>
                  <a:pt x="554498" y="743175"/>
                </a:lnTo>
                <a:lnTo>
                  <a:pt x="571457" y="738112"/>
                </a:lnTo>
                <a:lnTo>
                  <a:pt x="588416" y="733075"/>
                </a:lnTo>
                <a:lnTo>
                  <a:pt x="605375" y="728062"/>
                </a:lnTo>
                <a:lnTo>
                  <a:pt x="622334" y="723073"/>
                </a:lnTo>
                <a:lnTo>
                  <a:pt x="639293" y="718106"/>
                </a:lnTo>
                <a:lnTo>
                  <a:pt x="656252" y="713162"/>
                </a:lnTo>
                <a:lnTo>
                  <a:pt x="673211" y="708238"/>
                </a:lnTo>
                <a:lnTo>
                  <a:pt x="690170" y="703334"/>
                </a:lnTo>
                <a:lnTo>
                  <a:pt x="707129" y="698450"/>
                </a:lnTo>
                <a:lnTo>
                  <a:pt x="724088" y="693584"/>
                </a:lnTo>
                <a:lnTo>
                  <a:pt x="741047" y="688737"/>
                </a:lnTo>
                <a:lnTo>
                  <a:pt x="758006" y="683907"/>
                </a:lnTo>
                <a:lnTo>
                  <a:pt x="774965" y="679093"/>
                </a:lnTo>
                <a:lnTo>
                  <a:pt x="791924" y="674295"/>
                </a:lnTo>
                <a:lnTo>
                  <a:pt x="808883" y="669513"/>
                </a:lnTo>
                <a:lnTo>
                  <a:pt x="825842" y="664746"/>
                </a:lnTo>
                <a:lnTo>
                  <a:pt x="842801" y="659993"/>
                </a:lnTo>
                <a:lnTo>
                  <a:pt x="859760" y="655254"/>
                </a:lnTo>
                <a:lnTo>
                  <a:pt x="876719" y="650529"/>
                </a:lnTo>
                <a:lnTo>
                  <a:pt x="893678" y="645816"/>
                </a:lnTo>
                <a:lnTo>
                  <a:pt x="910637" y="641116"/>
                </a:lnTo>
                <a:lnTo>
                  <a:pt x="927596" y="636428"/>
                </a:lnTo>
                <a:lnTo>
                  <a:pt x="944554" y="631752"/>
                </a:lnTo>
                <a:lnTo>
                  <a:pt x="961513" y="627086"/>
                </a:lnTo>
                <a:lnTo>
                  <a:pt x="978472" y="622432"/>
                </a:lnTo>
                <a:lnTo>
                  <a:pt x="995431" y="617788"/>
                </a:lnTo>
                <a:lnTo>
                  <a:pt x="1012390" y="613154"/>
                </a:lnTo>
                <a:lnTo>
                  <a:pt x="1029349" y="608530"/>
                </a:lnTo>
                <a:lnTo>
                  <a:pt x="1046308" y="603916"/>
                </a:lnTo>
                <a:lnTo>
                  <a:pt x="1063267" y="599310"/>
                </a:lnTo>
                <a:lnTo>
                  <a:pt x="1080226" y="594714"/>
                </a:lnTo>
                <a:lnTo>
                  <a:pt x="1097185" y="590126"/>
                </a:lnTo>
                <a:lnTo>
                  <a:pt x="1114144" y="585547"/>
                </a:lnTo>
                <a:lnTo>
                  <a:pt x="1114144" y="0"/>
                </a:lnTo>
                <a:lnTo>
                  <a:pt x="1114144" y="0"/>
                </a:lnTo>
                <a:lnTo>
                  <a:pt x="1097185" y="10787"/>
                </a:lnTo>
                <a:lnTo>
                  <a:pt x="1080226" y="21566"/>
                </a:lnTo>
                <a:lnTo>
                  <a:pt x="1063267" y="32336"/>
                </a:lnTo>
                <a:lnTo>
                  <a:pt x="1046308" y="43097"/>
                </a:lnTo>
                <a:lnTo>
                  <a:pt x="1029349" y="53850"/>
                </a:lnTo>
                <a:lnTo>
                  <a:pt x="1012390" y="64592"/>
                </a:lnTo>
                <a:lnTo>
                  <a:pt x="995431" y="75325"/>
                </a:lnTo>
                <a:lnTo>
                  <a:pt x="978472" y="86048"/>
                </a:lnTo>
                <a:lnTo>
                  <a:pt x="961513" y="96760"/>
                </a:lnTo>
                <a:lnTo>
                  <a:pt x="944554" y="107461"/>
                </a:lnTo>
                <a:lnTo>
                  <a:pt x="927596" y="118152"/>
                </a:lnTo>
                <a:lnTo>
                  <a:pt x="910637" y="128830"/>
                </a:lnTo>
                <a:lnTo>
                  <a:pt x="893678" y="139497"/>
                </a:lnTo>
                <a:lnTo>
                  <a:pt x="876719" y="150151"/>
                </a:lnTo>
                <a:lnTo>
                  <a:pt x="859760" y="160792"/>
                </a:lnTo>
                <a:lnTo>
                  <a:pt x="842801" y="171420"/>
                </a:lnTo>
                <a:lnTo>
                  <a:pt x="825842" y="182034"/>
                </a:lnTo>
                <a:lnTo>
                  <a:pt x="808883" y="192633"/>
                </a:lnTo>
                <a:lnTo>
                  <a:pt x="791924" y="203218"/>
                </a:lnTo>
                <a:lnTo>
                  <a:pt x="774965" y="213787"/>
                </a:lnTo>
                <a:lnTo>
                  <a:pt x="758006" y="224340"/>
                </a:lnTo>
                <a:lnTo>
                  <a:pt x="741047" y="234876"/>
                </a:lnTo>
                <a:lnTo>
                  <a:pt x="724088" y="245395"/>
                </a:lnTo>
                <a:lnTo>
                  <a:pt x="707129" y="255896"/>
                </a:lnTo>
                <a:lnTo>
                  <a:pt x="690170" y="266379"/>
                </a:lnTo>
                <a:lnTo>
                  <a:pt x="673211" y="276842"/>
                </a:lnTo>
                <a:lnTo>
                  <a:pt x="656252" y="287285"/>
                </a:lnTo>
                <a:lnTo>
                  <a:pt x="639293" y="297707"/>
                </a:lnTo>
                <a:lnTo>
                  <a:pt x="622334" y="308107"/>
                </a:lnTo>
                <a:lnTo>
                  <a:pt x="605375" y="318484"/>
                </a:lnTo>
                <a:lnTo>
                  <a:pt x="588416" y="328838"/>
                </a:lnTo>
                <a:lnTo>
                  <a:pt x="571457" y="339168"/>
                </a:lnTo>
                <a:lnTo>
                  <a:pt x="554498" y="349472"/>
                </a:lnTo>
                <a:lnTo>
                  <a:pt x="537539" y="359749"/>
                </a:lnTo>
                <a:lnTo>
                  <a:pt x="520580" y="369999"/>
                </a:lnTo>
                <a:lnTo>
                  <a:pt x="503621" y="380220"/>
                </a:lnTo>
                <a:lnTo>
                  <a:pt x="486662" y="390411"/>
                </a:lnTo>
                <a:lnTo>
                  <a:pt x="469704" y="400571"/>
                </a:lnTo>
                <a:lnTo>
                  <a:pt x="452745" y="410699"/>
                </a:lnTo>
                <a:lnTo>
                  <a:pt x="435786" y="420793"/>
                </a:lnTo>
                <a:lnTo>
                  <a:pt x="418827" y="430852"/>
                </a:lnTo>
                <a:lnTo>
                  <a:pt x="401868" y="440875"/>
                </a:lnTo>
                <a:lnTo>
                  <a:pt x="384909" y="450859"/>
                </a:lnTo>
                <a:lnTo>
                  <a:pt x="367950" y="460804"/>
                </a:lnTo>
                <a:lnTo>
                  <a:pt x="350991" y="470708"/>
                </a:lnTo>
                <a:lnTo>
                  <a:pt x="334032" y="480569"/>
                </a:lnTo>
                <a:lnTo>
                  <a:pt x="317073" y="490386"/>
                </a:lnTo>
                <a:lnTo>
                  <a:pt x="300114" y="500156"/>
                </a:lnTo>
                <a:lnTo>
                  <a:pt x="283155" y="509878"/>
                </a:lnTo>
                <a:lnTo>
                  <a:pt x="266196" y="519550"/>
                </a:lnTo>
                <a:lnTo>
                  <a:pt x="249237" y="529171"/>
                </a:lnTo>
                <a:lnTo>
                  <a:pt x="232278" y="538737"/>
                </a:lnTo>
                <a:lnTo>
                  <a:pt x="215319" y="548248"/>
                </a:lnTo>
                <a:lnTo>
                  <a:pt x="198360" y="557701"/>
                </a:lnTo>
                <a:lnTo>
                  <a:pt x="181401" y="567093"/>
                </a:lnTo>
                <a:lnTo>
                  <a:pt x="164442" y="576424"/>
                </a:lnTo>
                <a:lnTo>
                  <a:pt x="147483" y="585691"/>
                </a:lnTo>
                <a:lnTo>
                  <a:pt x="130524" y="594891"/>
                </a:lnTo>
                <a:lnTo>
                  <a:pt x="113565" y="604023"/>
                </a:lnTo>
                <a:lnTo>
                  <a:pt x="96606" y="613084"/>
                </a:lnTo>
                <a:lnTo>
                  <a:pt x="79647" y="622073"/>
                </a:lnTo>
                <a:lnTo>
                  <a:pt x="62688" y="630987"/>
                </a:lnTo>
                <a:lnTo>
                  <a:pt x="45729" y="639825"/>
                </a:lnTo>
                <a:lnTo>
                  <a:pt x="28770" y="648583"/>
                </a:lnTo>
                <a:lnTo>
                  <a:pt x="11812" y="657262"/>
                </a:lnTo>
                <a:lnTo>
                  <a:pt x="0" y="663257"/>
                </a:lnTo>
                <a:close/>
              </a:path>
            </a:pathLst>
          </a:custGeom>
          <a:solidFill xmlns:a="http://schemas.openxmlformats.org/drawingml/2006/main">
            <a:srgbClr val="D55E00">
              <a:alpha val="18000"/>
            </a:srgbClr>
          </a:solidFill>
          <a:ln xmlns:a="http://schemas.openxmlformats.org/drawingml/2006/main" w="12700">
            <a:solidFill>
              <a:srgbClr val="D55E00">
                <a:alpha val="18000"/>
              </a:srgbClr>
            </a:solidFill>
            <a:prstDash val="solid"/>
          </a:ln>
        </p:spPr>
      </p:sp>
      <p:sp>
        <p:nvSpPr>
          <p:cNvPr id="171" name="m2fe37c5cf0 171">
            <a:extLst xmlns:a="http://schemas.openxmlformats.org/drawingml/2006/main">
              <a:ext uri="{FF2B5EF4-FFF2-40B4-BE49-F238E27FC236}">
                <a16:creationId xmlns:a16="http://schemas.microsoft.com/office/drawing/2014/main" id="{2EF36D85-208B-4387-9366-BA0AB0A2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42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2" name="m2fe37c5cf0 172">
            <a:extLst xmlns:a="http://schemas.openxmlformats.org/drawingml/2006/main">
              <a:ext uri="{FF2B5EF4-FFF2-40B4-BE49-F238E27FC236}">
                <a16:creationId xmlns:a16="http://schemas.microsoft.com/office/drawing/2014/main" id="{62F8E19F-2054-4C4B-9384-4FD61DF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206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3" name="m2fe37c5cf0 173">
            <a:extLst xmlns:a="http://schemas.openxmlformats.org/drawingml/2006/main">
              <a:ext uri="{FF2B5EF4-FFF2-40B4-BE49-F238E27FC236}">
                <a16:creationId xmlns:a16="http://schemas.microsoft.com/office/drawing/2014/main" id="{52FE82C9-99FF-4C22-A45A-FABAE8F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169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4" name="m2fe37c5cf0 174">
            <a:extLst xmlns:a="http://schemas.openxmlformats.org/drawingml/2006/main">
              <a:ext uri="{FF2B5EF4-FFF2-40B4-BE49-F238E27FC236}">
                <a16:creationId xmlns:a16="http://schemas.microsoft.com/office/drawing/2014/main" id="{81CA5446-3DD3-4E7F-8B1E-5767D8BE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33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5" name="m2fe37c5cf0 175">
            <a:extLst xmlns:a="http://schemas.openxmlformats.org/drawingml/2006/main">
              <a:ext uri="{FF2B5EF4-FFF2-40B4-BE49-F238E27FC236}">
                <a16:creationId xmlns:a16="http://schemas.microsoft.com/office/drawing/2014/main" id="{DB53D7E1-3754-48BD-B7D6-387CAC3C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97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6" name="m2fe37c5cf0 176">
            <a:extLst xmlns:a="http://schemas.openxmlformats.org/drawingml/2006/main">
              <a:ext uri="{FF2B5EF4-FFF2-40B4-BE49-F238E27FC236}">
                <a16:creationId xmlns:a16="http://schemas.microsoft.com/office/drawing/2014/main" id="{1C84CE86-5A0B-4A8A-9C5F-6A5C763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60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7" name="m2fe37c5cf0 177">
            <a:extLst xmlns:a="http://schemas.openxmlformats.org/drawingml/2006/main">
              <a:ext uri="{FF2B5EF4-FFF2-40B4-BE49-F238E27FC236}">
                <a16:creationId xmlns:a16="http://schemas.microsoft.com/office/drawing/2014/main" id="{71B0003E-E93E-4F68-92B3-B7EB9DD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024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8" name="m2fe37c5cf0 178">
            <a:extLst xmlns:a="http://schemas.openxmlformats.org/drawingml/2006/main">
              <a:ext uri="{FF2B5EF4-FFF2-40B4-BE49-F238E27FC236}">
                <a16:creationId xmlns:a16="http://schemas.microsoft.com/office/drawing/2014/main" id="{E2224219-66F1-4ECC-A6CD-D5863805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988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9" name="m2fe37c5cf0 179">
            <a:extLst xmlns:a="http://schemas.openxmlformats.org/drawingml/2006/main">
              <a:ext uri="{FF2B5EF4-FFF2-40B4-BE49-F238E27FC236}">
                <a16:creationId xmlns:a16="http://schemas.microsoft.com/office/drawing/2014/main" id="{CD20A821-FED3-447A-B2F0-BCAAE14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51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0" name="m5b7ecc52a7 180">
            <a:extLst xmlns:a="http://schemas.openxmlformats.org/drawingml/2006/main">
              <a:ext uri="{FF2B5EF4-FFF2-40B4-BE49-F238E27FC236}">
                <a16:creationId xmlns:a16="http://schemas.microsoft.com/office/drawing/2014/main" id="{03DE2267-11CD-49EC-9D34-0863D88F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652104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1" name="Text 181: 0.25">
            <a:extLst xmlns:a="http://schemas.openxmlformats.org/drawingml/2006/main">
              <a:ext uri="{FF2B5EF4-FFF2-40B4-BE49-F238E27FC236}">
                <a16:creationId xmlns:a16="http://schemas.microsoft.com/office/drawing/2014/main" id="{E2B1117F-37CB-461A-8113-6B554BB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258" y="6451184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82" name="m5b7ecc52a7 182">
            <a:extLst xmlns:a="http://schemas.openxmlformats.org/drawingml/2006/main">
              <a:ext uri="{FF2B5EF4-FFF2-40B4-BE49-F238E27FC236}">
                <a16:creationId xmlns:a16="http://schemas.microsoft.com/office/drawing/2014/main" id="{4128BFE0-EA4F-4B7D-9ACD-4339393C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612668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3" name="Text 183: 0.5">
            <a:extLst xmlns:a="http://schemas.openxmlformats.org/drawingml/2006/main">
              <a:ext uri="{FF2B5EF4-FFF2-40B4-BE49-F238E27FC236}">
                <a16:creationId xmlns:a16="http://schemas.microsoft.com/office/drawing/2014/main" id="{4E82CF4D-F42C-4D10-AF80-A1A39CD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70" y="6056826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84" name="m5b7ecc52a7 184">
            <a:extLst xmlns:a="http://schemas.openxmlformats.org/drawingml/2006/main">
              <a:ext uri="{FF2B5EF4-FFF2-40B4-BE49-F238E27FC236}">
                <a16:creationId xmlns:a16="http://schemas.microsoft.com/office/drawing/2014/main" id="{B6BC8C8F-F046-4FB1-A7C7-A7B8B7FE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573232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5" name="Text 185: 1">
            <a:extLst xmlns:a="http://schemas.openxmlformats.org/drawingml/2006/main">
              <a:ext uri="{FF2B5EF4-FFF2-40B4-BE49-F238E27FC236}">
                <a16:creationId xmlns:a16="http://schemas.microsoft.com/office/drawing/2014/main" id="{02945358-0411-4A95-A325-02530FC6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5662468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6" name="m5b7ecc52a7 186">
            <a:extLst xmlns:a="http://schemas.openxmlformats.org/drawingml/2006/main">
              <a:ext uri="{FF2B5EF4-FFF2-40B4-BE49-F238E27FC236}">
                <a16:creationId xmlns:a16="http://schemas.microsoft.com/office/drawing/2014/main" id="{11A5518D-FD0D-4C2A-BB21-473E8E8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533797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7" name="Text 187: 2">
            <a:extLst xmlns:a="http://schemas.openxmlformats.org/drawingml/2006/main">
              <a:ext uri="{FF2B5EF4-FFF2-40B4-BE49-F238E27FC236}">
                <a16:creationId xmlns:a16="http://schemas.microsoft.com/office/drawing/2014/main" id="{3E6E8C26-FCFF-46D5-B667-AD13A11B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5268110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8" name="m5b7ecc52a7 188">
            <a:extLst xmlns:a="http://schemas.openxmlformats.org/drawingml/2006/main">
              <a:ext uri="{FF2B5EF4-FFF2-40B4-BE49-F238E27FC236}">
                <a16:creationId xmlns:a16="http://schemas.microsoft.com/office/drawing/2014/main" id="{53C3FB28-B24C-46D0-9D9C-BF65FC3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494361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9" name="Text 189: 4">
            <a:extLst xmlns:a="http://schemas.openxmlformats.org/drawingml/2006/main">
              <a:ext uri="{FF2B5EF4-FFF2-40B4-BE49-F238E27FC236}">
                <a16:creationId xmlns:a16="http://schemas.microsoft.com/office/drawing/2014/main" id="{22260F47-DE90-4CD0-8F53-FC8BC58F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4873752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0" name="Text 190: Treatment HR (ICI+CT / CT)">
            <a:extLst xmlns:a="http://schemas.openxmlformats.org/drawingml/2006/main">
              <a:ext uri="{FF2B5EF4-FFF2-40B4-BE49-F238E27FC236}">
                <a16:creationId xmlns:a16="http://schemas.microsoft.com/office/drawing/2014/main" id="{56998755-0C19-4FE8-B882-3E22D4AC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267538" y="5741074"/>
            <a:ext cx="162358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Treatment HR (ICI+CT / CT)</a:t>
            </a:r>
          </a:p>
        </p:txBody>
      </p:sp>
      <p:sp>
        <p:nvSpPr>
          <p:cNvPr id="191" name="Vector 191">
            <a:extLst xmlns:a="http://schemas.openxmlformats.org/drawingml/2006/main">
              <a:ext uri="{FF2B5EF4-FFF2-40B4-BE49-F238E27FC236}">
                <a16:creationId xmlns:a16="http://schemas.microsoft.com/office/drawing/2014/main" id="{AC602AD6-3998-4BFE-AC14-6C7C2A3E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96" y="5754348"/>
            <a:ext cx="1429700" cy="647732"/>
          </a:xfrm>
          <a:custGeom xmlns:a="http://schemas.openxmlformats.org/drawingml/2006/main">
            <a:pathLst>
              <a:path w="1429700" h="647732">
                <a:moveTo>
                  <a:pt x="0" y="647732"/>
                </a:moveTo>
                <a:lnTo>
                  <a:pt x="16959" y="640048"/>
                </a:lnTo>
                <a:lnTo>
                  <a:pt x="33918" y="632365"/>
                </a:lnTo>
                <a:lnTo>
                  <a:pt x="50877" y="624682"/>
                </a:lnTo>
                <a:lnTo>
                  <a:pt x="67836" y="616998"/>
                </a:lnTo>
                <a:lnTo>
                  <a:pt x="84795" y="609315"/>
                </a:lnTo>
                <a:lnTo>
                  <a:pt x="101754" y="601632"/>
                </a:lnTo>
                <a:lnTo>
                  <a:pt x="118713" y="593948"/>
                </a:lnTo>
                <a:lnTo>
                  <a:pt x="135672" y="586265"/>
                </a:lnTo>
                <a:lnTo>
                  <a:pt x="152631" y="578582"/>
                </a:lnTo>
                <a:lnTo>
                  <a:pt x="169590" y="570898"/>
                </a:lnTo>
                <a:lnTo>
                  <a:pt x="186549" y="563215"/>
                </a:lnTo>
                <a:lnTo>
                  <a:pt x="203508" y="555532"/>
                </a:lnTo>
                <a:lnTo>
                  <a:pt x="220467" y="547848"/>
                </a:lnTo>
                <a:lnTo>
                  <a:pt x="237425" y="540165"/>
                </a:lnTo>
                <a:lnTo>
                  <a:pt x="254384" y="532482"/>
                </a:lnTo>
                <a:lnTo>
                  <a:pt x="271343" y="524798"/>
                </a:lnTo>
                <a:lnTo>
                  <a:pt x="288302" y="517115"/>
                </a:lnTo>
                <a:lnTo>
                  <a:pt x="305261" y="509432"/>
                </a:lnTo>
                <a:lnTo>
                  <a:pt x="322220" y="501748"/>
                </a:lnTo>
                <a:lnTo>
                  <a:pt x="339179" y="494065"/>
                </a:lnTo>
                <a:lnTo>
                  <a:pt x="356138" y="486382"/>
                </a:lnTo>
                <a:lnTo>
                  <a:pt x="373097" y="478698"/>
                </a:lnTo>
                <a:lnTo>
                  <a:pt x="390056" y="471015"/>
                </a:lnTo>
                <a:lnTo>
                  <a:pt x="407015" y="463332"/>
                </a:lnTo>
                <a:lnTo>
                  <a:pt x="423974" y="455648"/>
                </a:lnTo>
                <a:lnTo>
                  <a:pt x="440933" y="447965"/>
                </a:lnTo>
                <a:lnTo>
                  <a:pt x="457892" y="440282"/>
                </a:lnTo>
                <a:lnTo>
                  <a:pt x="474851" y="432598"/>
                </a:lnTo>
                <a:lnTo>
                  <a:pt x="491810" y="424915"/>
                </a:lnTo>
                <a:lnTo>
                  <a:pt x="508769" y="417232"/>
                </a:lnTo>
                <a:lnTo>
                  <a:pt x="525728" y="409548"/>
                </a:lnTo>
                <a:lnTo>
                  <a:pt x="542687" y="401865"/>
                </a:lnTo>
                <a:lnTo>
                  <a:pt x="559646" y="394182"/>
                </a:lnTo>
                <a:lnTo>
                  <a:pt x="576605" y="386498"/>
                </a:lnTo>
                <a:lnTo>
                  <a:pt x="593564" y="378815"/>
                </a:lnTo>
                <a:lnTo>
                  <a:pt x="610523" y="371132"/>
                </a:lnTo>
                <a:lnTo>
                  <a:pt x="627482" y="363448"/>
                </a:lnTo>
                <a:lnTo>
                  <a:pt x="644441" y="355765"/>
                </a:lnTo>
                <a:lnTo>
                  <a:pt x="661400" y="348082"/>
                </a:lnTo>
                <a:lnTo>
                  <a:pt x="678359" y="340398"/>
                </a:lnTo>
                <a:lnTo>
                  <a:pt x="695317" y="332715"/>
                </a:lnTo>
                <a:lnTo>
                  <a:pt x="712276" y="325032"/>
                </a:lnTo>
                <a:lnTo>
                  <a:pt x="729235" y="317348"/>
                </a:lnTo>
                <a:lnTo>
                  <a:pt x="746194" y="309665"/>
                </a:lnTo>
                <a:lnTo>
                  <a:pt x="763153" y="301982"/>
                </a:lnTo>
                <a:lnTo>
                  <a:pt x="780112" y="294298"/>
                </a:lnTo>
                <a:lnTo>
                  <a:pt x="797071" y="286615"/>
                </a:lnTo>
                <a:lnTo>
                  <a:pt x="814030" y="278932"/>
                </a:lnTo>
                <a:lnTo>
                  <a:pt x="830989" y="271249"/>
                </a:lnTo>
                <a:lnTo>
                  <a:pt x="847948" y="263565"/>
                </a:lnTo>
                <a:lnTo>
                  <a:pt x="864907" y="255882"/>
                </a:lnTo>
                <a:lnTo>
                  <a:pt x="881866" y="248199"/>
                </a:lnTo>
                <a:lnTo>
                  <a:pt x="898825" y="240515"/>
                </a:lnTo>
                <a:lnTo>
                  <a:pt x="915784" y="232832"/>
                </a:lnTo>
                <a:lnTo>
                  <a:pt x="932743" y="225149"/>
                </a:lnTo>
                <a:lnTo>
                  <a:pt x="949702" y="217465"/>
                </a:lnTo>
                <a:lnTo>
                  <a:pt x="966661" y="209782"/>
                </a:lnTo>
                <a:lnTo>
                  <a:pt x="983620" y="202099"/>
                </a:lnTo>
                <a:lnTo>
                  <a:pt x="1000579" y="194415"/>
                </a:lnTo>
                <a:lnTo>
                  <a:pt x="1017538" y="186732"/>
                </a:lnTo>
                <a:lnTo>
                  <a:pt x="1034497" y="179049"/>
                </a:lnTo>
                <a:lnTo>
                  <a:pt x="1051456" y="171365"/>
                </a:lnTo>
                <a:lnTo>
                  <a:pt x="1068415" y="163682"/>
                </a:lnTo>
                <a:lnTo>
                  <a:pt x="1085374" y="155999"/>
                </a:lnTo>
                <a:lnTo>
                  <a:pt x="1102333" y="148315"/>
                </a:lnTo>
                <a:lnTo>
                  <a:pt x="1119292" y="140632"/>
                </a:lnTo>
                <a:lnTo>
                  <a:pt x="1136251" y="132949"/>
                </a:lnTo>
                <a:lnTo>
                  <a:pt x="1153209" y="125265"/>
                </a:lnTo>
                <a:lnTo>
                  <a:pt x="1170168" y="117582"/>
                </a:lnTo>
                <a:lnTo>
                  <a:pt x="1187127" y="109899"/>
                </a:lnTo>
                <a:lnTo>
                  <a:pt x="1204086" y="102215"/>
                </a:lnTo>
                <a:lnTo>
                  <a:pt x="1221045" y="94532"/>
                </a:lnTo>
                <a:lnTo>
                  <a:pt x="1238004" y="86849"/>
                </a:lnTo>
                <a:lnTo>
                  <a:pt x="1254963" y="79165"/>
                </a:lnTo>
                <a:lnTo>
                  <a:pt x="1271922" y="71482"/>
                </a:lnTo>
                <a:lnTo>
                  <a:pt x="1288881" y="63799"/>
                </a:lnTo>
                <a:lnTo>
                  <a:pt x="1305840" y="56115"/>
                </a:lnTo>
                <a:lnTo>
                  <a:pt x="1322799" y="48432"/>
                </a:lnTo>
                <a:lnTo>
                  <a:pt x="1339758" y="40749"/>
                </a:lnTo>
                <a:lnTo>
                  <a:pt x="1356717" y="33065"/>
                </a:lnTo>
                <a:lnTo>
                  <a:pt x="1373676" y="25382"/>
                </a:lnTo>
                <a:lnTo>
                  <a:pt x="1390635" y="17699"/>
                </a:lnTo>
                <a:lnTo>
                  <a:pt x="1407594" y="10015"/>
                </a:lnTo>
                <a:lnTo>
                  <a:pt x="1424553" y="2332"/>
                </a:lnTo>
                <a:lnTo>
                  <a:pt x="1429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97480"/>
            </a:solidFill>
            <a:prstDash val="solid"/>
          </a:ln>
        </p:spPr>
      </p:sp>
      <p:sp>
        <p:nvSpPr>
          <p:cNvPr id="192" name="Vector 192">
            <a:extLst xmlns:a="http://schemas.openxmlformats.org/drawingml/2006/main">
              <a:ext uri="{FF2B5EF4-FFF2-40B4-BE49-F238E27FC236}">
                <a16:creationId xmlns:a16="http://schemas.microsoft.com/office/drawing/2014/main" id="{B0CB3616-E091-4A76-87BE-AA3BCC4A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97" y="5249581"/>
            <a:ext cx="1114144" cy="504768"/>
          </a:xfrm>
          <a:custGeom xmlns:a="http://schemas.openxmlformats.org/drawingml/2006/main">
            <a:pathLst>
              <a:path w="1114144" h="504768">
                <a:moveTo>
                  <a:pt x="0" y="504768"/>
                </a:moveTo>
                <a:lnTo>
                  <a:pt x="11812" y="499416"/>
                </a:lnTo>
                <a:lnTo>
                  <a:pt x="28770" y="491733"/>
                </a:lnTo>
                <a:lnTo>
                  <a:pt x="45729" y="484050"/>
                </a:lnTo>
                <a:lnTo>
                  <a:pt x="62688" y="476366"/>
                </a:lnTo>
                <a:lnTo>
                  <a:pt x="79647" y="468683"/>
                </a:lnTo>
                <a:lnTo>
                  <a:pt x="96606" y="461000"/>
                </a:lnTo>
                <a:lnTo>
                  <a:pt x="113565" y="453316"/>
                </a:lnTo>
                <a:lnTo>
                  <a:pt x="130524" y="445633"/>
                </a:lnTo>
                <a:lnTo>
                  <a:pt x="147483" y="437950"/>
                </a:lnTo>
                <a:lnTo>
                  <a:pt x="164442" y="430266"/>
                </a:lnTo>
                <a:lnTo>
                  <a:pt x="181401" y="422583"/>
                </a:lnTo>
                <a:lnTo>
                  <a:pt x="198360" y="414900"/>
                </a:lnTo>
                <a:lnTo>
                  <a:pt x="215319" y="407216"/>
                </a:lnTo>
                <a:lnTo>
                  <a:pt x="232278" y="399533"/>
                </a:lnTo>
                <a:lnTo>
                  <a:pt x="249237" y="391850"/>
                </a:lnTo>
                <a:lnTo>
                  <a:pt x="266196" y="384166"/>
                </a:lnTo>
                <a:lnTo>
                  <a:pt x="283155" y="376483"/>
                </a:lnTo>
                <a:lnTo>
                  <a:pt x="300114" y="368800"/>
                </a:lnTo>
                <a:lnTo>
                  <a:pt x="317073" y="361116"/>
                </a:lnTo>
                <a:lnTo>
                  <a:pt x="334032" y="353433"/>
                </a:lnTo>
                <a:lnTo>
                  <a:pt x="350991" y="345750"/>
                </a:lnTo>
                <a:lnTo>
                  <a:pt x="367950" y="338066"/>
                </a:lnTo>
                <a:lnTo>
                  <a:pt x="384909" y="330383"/>
                </a:lnTo>
                <a:lnTo>
                  <a:pt x="401868" y="322700"/>
                </a:lnTo>
                <a:lnTo>
                  <a:pt x="418827" y="315016"/>
                </a:lnTo>
                <a:lnTo>
                  <a:pt x="435786" y="307333"/>
                </a:lnTo>
                <a:lnTo>
                  <a:pt x="452745" y="299650"/>
                </a:lnTo>
                <a:lnTo>
                  <a:pt x="469704" y="291966"/>
                </a:lnTo>
                <a:lnTo>
                  <a:pt x="486662" y="284283"/>
                </a:lnTo>
                <a:lnTo>
                  <a:pt x="503621" y="276600"/>
                </a:lnTo>
                <a:lnTo>
                  <a:pt x="520580" y="268916"/>
                </a:lnTo>
                <a:lnTo>
                  <a:pt x="537539" y="261233"/>
                </a:lnTo>
                <a:lnTo>
                  <a:pt x="554498" y="253550"/>
                </a:lnTo>
                <a:lnTo>
                  <a:pt x="571457" y="245866"/>
                </a:lnTo>
                <a:lnTo>
                  <a:pt x="588416" y="238183"/>
                </a:lnTo>
                <a:lnTo>
                  <a:pt x="605375" y="230500"/>
                </a:lnTo>
                <a:lnTo>
                  <a:pt x="622334" y="222816"/>
                </a:lnTo>
                <a:lnTo>
                  <a:pt x="639293" y="215133"/>
                </a:lnTo>
                <a:lnTo>
                  <a:pt x="656252" y="207450"/>
                </a:lnTo>
                <a:lnTo>
                  <a:pt x="673211" y="199767"/>
                </a:lnTo>
                <a:lnTo>
                  <a:pt x="690170" y="192083"/>
                </a:lnTo>
                <a:lnTo>
                  <a:pt x="707129" y="184400"/>
                </a:lnTo>
                <a:lnTo>
                  <a:pt x="724088" y="176717"/>
                </a:lnTo>
                <a:lnTo>
                  <a:pt x="741047" y="169033"/>
                </a:lnTo>
                <a:lnTo>
                  <a:pt x="758006" y="161350"/>
                </a:lnTo>
                <a:lnTo>
                  <a:pt x="774965" y="153667"/>
                </a:lnTo>
                <a:lnTo>
                  <a:pt x="791924" y="145983"/>
                </a:lnTo>
                <a:lnTo>
                  <a:pt x="808883" y="138300"/>
                </a:lnTo>
                <a:lnTo>
                  <a:pt x="825842" y="130617"/>
                </a:lnTo>
                <a:lnTo>
                  <a:pt x="842801" y="122933"/>
                </a:lnTo>
                <a:lnTo>
                  <a:pt x="859760" y="115250"/>
                </a:lnTo>
                <a:lnTo>
                  <a:pt x="876719" y="107567"/>
                </a:lnTo>
                <a:lnTo>
                  <a:pt x="893678" y="99883"/>
                </a:lnTo>
                <a:lnTo>
                  <a:pt x="910637" y="92200"/>
                </a:lnTo>
                <a:lnTo>
                  <a:pt x="927596" y="84517"/>
                </a:lnTo>
                <a:lnTo>
                  <a:pt x="944554" y="76833"/>
                </a:lnTo>
                <a:lnTo>
                  <a:pt x="961513" y="69150"/>
                </a:lnTo>
                <a:lnTo>
                  <a:pt x="978472" y="61467"/>
                </a:lnTo>
                <a:lnTo>
                  <a:pt x="995431" y="53783"/>
                </a:lnTo>
                <a:lnTo>
                  <a:pt x="1012390" y="46100"/>
                </a:lnTo>
                <a:lnTo>
                  <a:pt x="1029349" y="38417"/>
                </a:lnTo>
                <a:lnTo>
                  <a:pt x="1046308" y="30733"/>
                </a:lnTo>
                <a:lnTo>
                  <a:pt x="1063267" y="23050"/>
                </a:lnTo>
                <a:lnTo>
                  <a:pt x="1080226" y="15367"/>
                </a:lnTo>
                <a:lnTo>
                  <a:pt x="1097185" y="7683"/>
                </a:lnTo>
                <a:lnTo>
                  <a:pt x="1114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5E00"/>
            </a:solidFill>
            <a:prstDash val="solid"/>
          </a:ln>
        </p:spPr>
      </p:sp>
      <p:sp>
        <p:nvSpPr>
          <p:cNvPr id="193" name="Vector 193">
            <a:extLst xmlns:a="http://schemas.openxmlformats.org/drawingml/2006/main">
              <a:ext uri="{FF2B5EF4-FFF2-40B4-BE49-F238E27FC236}">
                <a16:creationId xmlns:a16="http://schemas.microsoft.com/office/drawing/2014/main" id="{9F7C394B-D1E4-4C83-AC19-190C9CD1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2328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dash"/>
          </a:ln>
        </p:spPr>
      </p:sp>
      <p:sp>
        <p:nvSpPr>
          <p:cNvPr id="194" name="Vector 194">
            <a:extLst xmlns:a="http://schemas.openxmlformats.org/drawingml/2006/main">
              <a:ext uri="{FF2B5EF4-FFF2-40B4-BE49-F238E27FC236}">
                <a16:creationId xmlns:a16="http://schemas.microsoft.com/office/drawing/2014/main" id="{EF964312-00FE-4AD1-A8F9-4149262B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97" y="4870126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dot"/>
          </a:ln>
        </p:spPr>
      </p:sp>
      <p:sp>
        <p:nvSpPr>
          <p:cNvPr id="195" name="Vector 195">
            <a:extLst xmlns:a="http://schemas.openxmlformats.org/drawingml/2006/main">
              <a:ext uri="{FF2B5EF4-FFF2-40B4-BE49-F238E27FC236}">
                <a16:creationId xmlns:a16="http://schemas.microsoft.com/office/drawing/2014/main" id="{C20C5451-3344-4371-B234-AA07D66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0126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6" name="Vector 196">
            <a:extLst xmlns:a="http://schemas.openxmlformats.org/drawingml/2006/main">
              <a:ext uri="{FF2B5EF4-FFF2-40B4-BE49-F238E27FC236}">
                <a16:creationId xmlns:a16="http://schemas.microsoft.com/office/drawing/2014/main" id="{ED5B1012-4E00-402E-901B-1A4B9FB6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77123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7" name="Text 197: Interaction HR 1.225 (1.118–1.342)">
            <a:extLst xmlns:a="http://schemas.openxmlformats.org/drawingml/2006/main">
              <a:ext uri="{FF2B5EF4-FFF2-40B4-BE49-F238E27FC236}">
                <a16:creationId xmlns:a16="http://schemas.microsoft.com/office/drawing/2014/main" id="{86F53EBD-9434-4EDB-B0AB-CB3E4DC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87" y="4926957"/>
            <a:ext cx="181692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HR 1.225 (1.118–1.342)</a:t>
            </a:r>
          </a:p>
        </p:txBody>
      </p:sp>
      <p:sp>
        <p:nvSpPr>
          <p:cNvPr id="198" name="Text 198: P &lt;.001">
            <a:extLst xmlns:a="http://schemas.openxmlformats.org/drawingml/2006/main">
              <a:ext uri="{FF2B5EF4-FFF2-40B4-BE49-F238E27FC236}">
                <a16:creationId xmlns:a16="http://schemas.microsoft.com/office/drawing/2014/main" id="{AC8F7874-CE3C-46B5-9C7B-1B2197A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87" y="5054948"/>
            <a:ext cx="42256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&lt;.001</a:t>
            </a:r>
          </a:p>
        </p:txBody>
      </p:sp>
      <p:sp>
        <p:nvSpPr>
          <p:cNvPr id="199" name="Text 199: C  ESCORT-1ST | PFS">
            <a:extLst xmlns:a="http://schemas.openxmlformats.org/drawingml/2006/main">
              <a:ext uri="{FF2B5EF4-FFF2-40B4-BE49-F238E27FC236}">
                <a16:creationId xmlns:a16="http://schemas.microsoft.com/office/drawing/2014/main" id="{AC6DBB29-96C9-408F-ADDB-25F6990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664005"/>
            <a:ext cx="147430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 ESCORT-1ST | PFS</a:t>
            </a:r>
          </a:p>
        </p:txBody>
      </p:sp>
      <p:sp>
        <p:nvSpPr>
          <p:cNvPr id="200" name="Vector 200">
            <a:extLst xmlns:a="http://schemas.openxmlformats.org/drawingml/2006/main">
              <a:ext uri="{FF2B5EF4-FFF2-40B4-BE49-F238E27FC236}">
                <a16:creationId xmlns:a16="http://schemas.microsoft.com/office/drawing/2014/main" id="{8E4FC866-F68B-4778-BAA9-293157D3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92247"/>
            <a:ext cx="4422913" cy="476749"/>
          </a:xfrm>
          <a:custGeom xmlns:a="http://schemas.openxmlformats.org/drawingml/2006/main">
            <a:pathLst>
              <a:path w="4422913" h="476749">
                <a:moveTo>
                  <a:pt x="0" y="476749"/>
                </a:moveTo>
                <a:lnTo>
                  <a:pt x="4422913" y="476749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1" name="Vector 201">
            <a:extLst xmlns:a="http://schemas.openxmlformats.org/drawingml/2006/main">
              <a:ext uri="{FF2B5EF4-FFF2-40B4-BE49-F238E27FC236}">
                <a16:creationId xmlns:a16="http://schemas.microsoft.com/office/drawing/2014/main" id="{EFAEE854-3B71-427D-B876-0099A3C7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42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2" name="Vector 202">
            <a:extLst xmlns:a="http://schemas.openxmlformats.org/drawingml/2006/main">
              <a:ext uri="{FF2B5EF4-FFF2-40B4-BE49-F238E27FC236}">
                <a16:creationId xmlns:a16="http://schemas.microsoft.com/office/drawing/2014/main" id="{37A0F05D-247D-4BDC-BEFA-6DBF8AFA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93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3" name="Vector 203">
            <a:extLst xmlns:a="http://schemas.openxmlformats.org/drawingml/2006/main">
              <a:ext uri="{FF2B5EF4-FFF2-40B4-BE49-F238E27FC236}">
                <a16:creationId xmlns:a16="http://schemas.microsoft.com/office/drawing/2014/main" id="{74D3E6B8-047A-4C8A-834E-6C6A46AB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44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4" name="Vector 204">
            <a:extLst xmlns:a="http://schemas.openxmlformats.org/drawingml/2006/main">
              <a:ext uri="{FF2B5EF4-FFF2-40B4-BE49-F238E27FC236}">
                <a16:creationId xmlns:a16="http://schemas.microsoft.com/office/drawing/2014/main" id="{FEA3998D-F69C-401C-8BA8-321718B7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96" y="7925056"/>
            <a:ext cx="127539" cy="43940"/>
          </a:xfrm>
          <a:custGeom xmlns:a="http://schemas.openxmlformats.org/drawingml/2006/main">
            <a:pathLst>
              <a:path w="127539" h="43940">
                <a:moveTo>
                  <a:pt x="0" y="43940"/>
                </a:moveTo>
                <a:lnTo>
                  <a:pt x="127539" y="4394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5" name="Vector 205">
            <a:extLst xmlns:a="http://schemas.openxmlformats.org/drawingml/2006/main">
              <a:ext uri="{FF2B5EF4-FFF2-40B4-BE49-F238E27FC236}">
                <a16:creationId xmlns:a16="http://schemas.microsoft.com/office/drawing/2014/main" id="{CFF00E1B-56DD-48F3-A87E-8B05A885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47" y="7881116"/>
            <a:ext cx="127539" cy="87880"/>
          </a:xfrm>
          <a:custGeom xmlns:a="http://schemas.openxmlformats.org/drawingml/2006/main">
            <a:pathLst>
              <a:path w="127539" h="87880">
                <a:moveTo>
                  <a:pt x="0" y="87880"/>
                </a:moveTo>
                <a:lnTo>
                  <a:pt x="127539" y="878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6" name="Vector 206">
            <a:extLst xmlns:a="http://schemas.openxmlformats.org/drawingml/2006/main">
              <a:ext uri="{FF2B5EF4-FFF2-40B4-BE49-F238E27FC236}">
                <a16:creationId xmlns:a16="http://schemas.microsoft.com/office/drawing/2014/main" id="{CE972D9E-72F2-4B2F-B1EB-99CA0D0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999" y="7881116"/>
            <a:ext cx="127539" cy="87880"/>
          </a:xfrm>
          <a:custGeom xmlns:a="http://schemas.openxmlformats.org/drawingml/2006/main">
            <a:pathLst>
              <a:path w="127539" h="87880">
                <a:moveTo>
                  <a:pt x="0" y="87880"/>
                </a:moveTo>
                <a:lnTo>
                  <a:pt x="127539" y="878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7" name="Vector 207">
            <a:extLst xmlns:a="http://schemas.openxmlformats.org/drawingml/2006/main">
              <a:ext uri="{FF2B5EF4-FFF2-40B4-BE49-F238E27FC236}">
                <a16:creationId xmlns:a16="http://schemas.microsoft.com/office/drawing/2014/main" id="{AF3D8739-E4B9-4B59-A2B6-99FB2F0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50" y="7851823"/>
            <a:ext cx="127539" cy="117173"/>
          </a:xfrm>
          <a:custGeom xmlns:a="http://schemas.openxmlformats.org/drawingml/2006/main">
            <a:pathLst>
              <a:path w="127539" h="117173">
                <a:moveTo>
                  <a:pt x="0" y="117173"/>
                </a:moveTo>
                <a:lnTo>
                  <a:pt x="127539" y="11717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8" name="Vector 208">
            <a:extLst xmlns:a="http://schemas.openxmlformats.org/drawingml/2006/main">
              <a:ext uri="{FF2B5EF4-FFF2-40B4-BE49-F238E27FC236}">
                <a16:creationId xmlns:a16="http://schemas.microsoft.com/office/drawing/2014/main" id="{D7116085-D796-421B-BB7F-7EAFBF28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501" y="7749296"/>
            <a:ext cx="127539" cy="219700"/>
          </a:xfrm>
          <a:custGeom xmlns:a="http://schemas.openxmlformats.org/drawingml/2006/main">
            <a:pathLst>
              <a:path w="127539" h="219700">
                <a:moveTo>
                  <a:pt x="0" y="219700"/>
                </a:moveTo>
                <a:lnTo>
                  <a:pt x="127539" y="21970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09" name="Vector 209">
            <a:extLst xmlns:a="http://schemas.openxmlformats.org/drawingml/2006/main">
              <a:ext uri="{FF2B5EF4-FFF2-40B4-BE49-F238E27FC236}">
                <a16:creationId xmlns:a16="http://schemas.microsoft.com/office/drawing/2014/main" id="{A7B14EE2-D1B6-4CD7-8EE7-231D5692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53" y="7749296"/>
            <a:ext cx="127539" cy="219700"/>
          </a:xfrm>
          <a:custGeom xmlns:a="http://schemas.openxmlformats.org/drawingml/2006/main">
            <a:pathLst>
              <a:path w="127539" h="219700">
                <a:moveTo>
                  <a:pt x="0" y="219700"/>
                </a:moveTo>
                <a:lnTo>
                  <a:pt x="127539" y="21970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0" name="Vector 210">
            <a:extLst xmlns:a="http://schemas.openxmlformats.org/drawingml/2006/main">
              <a:ext uri="{FF2B5EF4-FFF2-40B4-BE49-F238E27FC236}">
                <a16:creationId xmlns:a16="http://schemas.microsoft.com/office/drawing/2014/main" id="{5282236B-7AF3-429E-8E9C-D30C56B0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004" y="7602829"/>
            <a:ext cx="127539" cy="366167"/>
          </a:xfrm>
          <a:custGeom xmlns:a="http://schemas.openxmlformats.org/drawingml/2006/main">
            <a:pathLst>
              <a:path w="127539" h="366167">
                <a:moveTo>
                  <a:pt x="0" y="366167"/>
                </a:moveTo>
                <a:lnTo>
                  <a:pt x="127539" y="36616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1" name="Vector 211">
            <a:extLst xmlns:a="http://schemas.openxmlformats.org/drawingml/2006/main">
              <a:ext uri="{FF2B5EF4-FFF2-40B4-BE49-F238E27FC236}">
                <a16:creationId xmlns:a16="http://schemas.microsoft.com/office/drawing/2014/main" id="{082A06CE-6A79-494E-A4A5-D0DC27D7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256" y="7632122"/>
            <a:ext cx="127539" cy="336874"/>
          </a:xfrm>
          <a:custGeom xmlns:a="http://schemas.openxmlformats.org/drawingml/2006/main">
            <a:pathLst>
              <a:path w="127539" h="336874">
                <a:moveTo>
                  <a:pt x="0" y="336874"/>
                </a:moveTo>
                <a:lnTo>
                  <a:pt x="127539" y="33687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2" name="Vector 212">
            <a:extLst xmlns:a="http://schemas.openxmlformats.org/drawingml/2006/main">
              <a:ext uri="{FF2B5EF4-FFF2-40B4-BE49-F238E27FC236}">
                <a16:creationId xmlns:a16="http://schemas.microsoft.com/office/drawing/2014/main" id="{2C04CFA8-59AA-4764-A9BD-CEE93042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507" y="7544242"/>
            <a:ext cx="127539" cy="424754"/>
          </a:xfrm>
          <a:custGeom xmlns:a="http://schemas.openxmlformats.org/drawingml/2006/main">
            <a:pathLst>
              <a:path w="127539" h="424754">
                <a:moveTo>
                  <a:pt x="0" y="424754"/>
                </a:moveTo>
                <a:lnTo>
                  <a:pt x="127539" y="42475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3" name="Vector 213">
            <a:extLst xmlns:a="http://schemas.openxmlformats.org/drawingml/2006/main">
              <a:ext uri="{FF2B5EF4-FFF2-40B4-BE49-F238E27FC236}">
                <a16:creationId xmlns:a16="http://schemas.microsoft.com/office/drawing/2014/main" id="{DD6D5B51-374F-4ED8-ACD1-3434519D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759" y="7676063"/>
            <a:ext cx="127539" cy="292933"/>
          </a:xfrm>
          <a:custGeom xmlns:a="http://schemas.openxmlformats.org/drawingml/2006/main">
            <a:pathLst>
              <a:path w="127539" h="292933">
                <a:moveTo>
                  <a:pt x="0" y="292933"/>
                </a:moveTo>
                <a:lnTo>
                  <a:pt x="127539" y="29293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4" name="Vector 214">
            <a:extLst xmlns:a="http://schemas.openxmlformats.org/drawingml/2006/main">
              <a:ext uri="{FF2B5EF4-FFF2-40B4-BE49-F238E27FC236}">
                <a16:creationId xmlns:a16="http://schemas.microsoft.com/office/drawing/2014/main" id="{C0345033-CEF7-4491-A29E-C6DDF96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010" y="7544242"/>
            <a:ext cx="127539" cy="424754"/>
          </a:xfrm>
          <a:custGeom xmlns:a="http://schemas.openxmlformats.org/drawingml/2006/main">
            <a:pathLst>
              <a:path w="127539" h="424754">
                <a:moveTo>
                  <a:pt x="0" y="424754"/>
                </a:moveTo>
                <a:lnTo>
                  <a:pt x="127539" y="42475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5" name="Vector 215">
            <a:extLst xmlns:a="http://schemas.openxmlformats.org/drawingml/2006/main">
              <a:ext uri="{FF2B5EF4-FFF2-40B4-BE49-F238E27FC236}">
                <a16:creationId xmlns:a16="http://schemas.microsoft.com/office/drawing/2014/main" id="{F9628E33-B1CC-4AB4-B86A-E46D5C9C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61" y="7661416"/>
            <a:ext cx="127539" cy="307580"/>
          </a:xfrm>
          <a:custGeom xmlns:a="http://schemas.openxmlformats.org/drawingml/2006/main">
            <a:pathLst>
              <a:path w="127539" h="307580">
                <a:moveTo>
                  <a:pt x="0" y="307580"/>
                </a:moveTo>
                <a:lnTo>
                  <a:pt x="127539" y="3075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6" name="Vector 216">
            <a:extLst xmlns:a="http://schemas.openxmlformats.org/drawingml/2006/main">
              <a:ext uri="{FF2B5EF4-FFF2-40B4-BE49-F238E27FC236}">
                <a16:creationId xmlns:a16="http://schemas.microsoft.com/office/drawing/2014/main" id="{DF23681C-F18C-4F5D-8A24-48BD259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513" y="7558889"/>
            <a:ext cx="127539" cy="410107"/>
          </a:xfrm>
          <a:custGeom xmlns:a="http://schemas.openxmlformats.org/drawingml/2006/main">
            <a:pathLst>
              <a:path w="127539" h="410107">
                <a:moveTo>
                  <a:pt x="0" y="410107"/>
                </a:moveTo>
                <a:lnTo>
                  <a:pt x="127539" y="41010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7" name="Vector 217">
            <a:extLst xmlns:a="http://schemas.openxmlformats.org/drawingml/2006/main">
              <a:ext uri="{FF2B5EF4-FFF2-40B4-BE49-F238E27FC236}">
                <a16:creationId xmlns:a16="http://schemas.microsoft.com/office/drawing/2014/main" id="{E2D05098-17F7-4BED-967A-D3F66B61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64" y="7632122"/>
            <a:ext cx="127539" cy="336874"/>
          </a:xfrm>
          <a:custGeom xmlns:a="http://schemas.openxmlformats.org/drawingml/2006/main">
            <a:pathLst>
              <a:path w="127539" h="336874">
                <a:moveTo>
                  <a:pt x="0" y="336874"/>
                </a:moveTo>
                <a:lnTo>
                  <a:pt x="127539" y="33687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8" name="Vector 218">
            <a:extLst xmlns:a="http://schemas.openxmlformats.org/drawingml/2006/main">
              <a:ext uri="{FF2B5EF4-FFF2-40B4-BE49-F238E27FC236}">
                <a16:creationId xmlns:a16="http://schemas.microsoft.com/office/drawing/2014/main" id="{335FC6E2-2A11-4EBD-B9DA-D1C2CD61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16" y="7514949"/>
            <a:ext cx="127539" cy="454047"/>
          </a:xfrm>
          <a:custGeom xmlns:a="http://schemas.openxmlformats.org/drawingml/2006/main">
            <a:pathLst>
              <a:path w="127539" h="454047">
                <a:moveTo>
                  <a:pt x="0" y="454047"/>
                </a:moveTo>
                <a:lnTo>
                  <a:pt x="127539" y="4540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19" name="Vector 219">
            <a:extLst xmlns:a="http://schemas.openxmlformats.org/drawingml/2006/main">
              <a:ext uri="{FF2B5EF4-FFF2-40B4-BE49-F238E27FC236}">
                <a16:creationId xmlns:a16="http://schemas.microsoft.com/office/drawing/2014/main" id="{80D1F747-8883-4AE0-9A6D-3A32076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267" y="7763943"/>
            <a:ext cx="127539" cy="205053"/>
          </a:xfrm>
          <a:custGeom xmlns:a="http://schemas.openxmlformats.org/drawingml/2006/main">
            <a:pathLst>
              <a:path w="127539" h="205053">
                <a:moveTo>
                  <a:pt x="0" y="205053"/>
                </a:moveTo>
                <a:lnTo>
                  <a:pt x="127539" y="20505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0" name="Vector 220">
            <a:extLst xmlns:a="http://schemas.openxmlformats.org/drawingml/2006/main">
              <a:ext uri="{FF2B5EF4-FFF2-40B4-BE49-F238E27FC236}">
                <a16:creationId xmlns:a16="http://schemas.microsoft.com/office/drawing/2014/main" id="{138F3F47-8499-4BA9-A970-020F6D56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18" y="7837176"/>
            <a:ext cx="127539" cy="131820"/>
          </a:xfrm>
          <a:custGeom xmlns:a="http://schemas.openxmlformats.org/drawingml/2006/main">
            <a:pathLst>
              <a:path w="127539" h="131820">
                <a:moveTo>
                  <a:pt x="0" y="131820"/>
                </a:moveTo>
                <a:lnTo>
                  <a:pt x="127539" y="13182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1" name="Vector 221">
            <a:extLst xmlns:a="http://schemas.openxmlformats.org/drawingml/2006/main">
              <a:ext uri="{FF2B5EF4-FFF2-40B4-BE49-F238E27FC236}">
                <a16:creationId xmlns:a16="http://schemas.microsoft.com/office/drawing/2014/main" id="{A34745F9-D6C0-4270-9283-BB9905EE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0" y="7720003"/>
            <a:ext cx="127539" cy="248993"/>
          </a:xfrm>
          <a:custGeom xmlns:a="http://schemas.openxmlformats.org/drawingml/2006/main">
            <a:pathLst>
              <a:path w="127539" h="248993">
                <a:moveTo>
                  <a:pt x="0" y="248993"/>
                </a:moveTo>
                <a:lnTo>
                  <a:pt x="127539" y="24899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2" name="Vector 222">
            <a:extLst xmlns:a="http://schemas.openxmlformats.org/drawingml/2006/main">
              <a:ext uri="{FF2B5EF4-FFF2-40B4-BE49-F238E27FC236}">
                <a16:creationId xmlns:a16="http://schemas.microsoft.com/office/drawing/2014/main" id="{710610B6-6E06-4690-BB09-03949E3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021" y="7793236"/>
            <a:ext cx="127539" cy="175760"/>
          </a:xfrm>
          <a:custGeom xmlns:a="http://schemas.openxmlformats.org/drawingml/2006/main">
            <a:pathLst>
              <a:path w="127539" h="175760">
                <a:moveTo>
                  <a:pt x="0" y="175760"/>
                </a:moveTo>
                <a:lnTo>
                  <a:pt x="127539" y="17576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3" name="Vector 223">
            <a:extLst xmlns:a="http://schemas.openxmlformats.org/drawingml/2006/main">
              <a:ext uri="{FF2B5EF4-FFF2-40B4-BE49-F238E27FC236}">
                <a16:creationId xmlns:a16="http://schemas.microsoft.com/office/drawing/2014/main" id="{1858F824-C97E-4863-B3F7-73448FF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273" y="7837176"/>
            <a:ext cx="127539" cy="131820"/>
          </a:xfrm>
          <a:custGeom xmlns:a="http://schemas.openxmlformats.org/drawingml/2006/main">
            <a:pathLst>
              <a:path w="127539" h="131820">
                <a:moveTo>
                  <a:pt x="0" y="131820"/>
                </a:moveTo>
                <a:lnTo>
                  <a:pt x="127539" y="13182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4" name="Vector 224">
            <a:extLst xmlns:a="http://schemas.openxmlformats.org/drawingml/2006/main">
              <a:ext uri="{FF2B5EF4-FFF2-40B4-BE49-F238E27FC236}">
                <a16:creationId xmlns:a16="http://schemas.microsoft.com/office/drawing/2014/main" id="{5CBC9133-FB8D-4F21-B5EE-4AD233D3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524" y="7881116"/>
            <a:ext cx="127539" cy="87880"/>
          </a:xfrm>
          <a:custGeom xmlns:a="http://schemas.openxmlformats.org/drawingml/2006/main">
            <a:pathLst>
              <a:path w="127539" h="87880">
                <a:moveTo>
                  <a:pt x="0" y="87880"/>
                </a:moveTo>
                <a:lnTo>
                  <a:pt x="127539" y="878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5" name="Vector 225">
            <a:extLst xmlns:a="http://schemas.openxmlformats.org/drawingml/2006/main">
              <a:ext uri="{FF2B5EF4-FFF2-40B4-BE49-F238E27FC236}">
                <a16:creationId xmlns:a16="http://schemas.microsoft.com/office/drawing/2014/main" id="{BCF0D419-C083-4DA1-B711-259005D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776" y="7910409"/>
            <a:ext cx="127539" cy="58587"/>
          </a:xfrm>
          <a:custGeom xmlns:a="http://schemas.openxmlformats.org/drawingml/2006/main">
            <a:pathLst>
              <a:path w="127539" h="58587">
                <a:moveTo>
                  <a:pt x="0" y="58587"/>
                </a:moveTo>
                <a:lnTo>
                  <a:pt x="127539" y="5858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6" name="Vector 226">
            <a:extLst xmlns:a="http://schemas.openxmlformats.org/drawingml/2006/main">
              <a:ext uri="{FF2B5EF4-FFF2-40B4-BE49-F238E27FC236}">
                <a16:creationId xmlns:a16="http://schemas.microsoft.com/office/drawing/2014/main" id="{2F9BDF44-8A02-48E6-BEBD-99968A47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027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7" name="Vector 227">
            <a:extLst xmlns:a="http://schemas.openxmlformats.org/drawingml/2006/main">
              <a:ext uri="{FF2B5EF4-FFF2-40B4-BE49-F238E27FC236}">
                <a16:creationId xmlns:a16="http://schemas.microsoft.com/office/drawing/2014/main" id="{14951385-87CE-49CC-ACCC-79F8591B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78" y="7939703"/>
            <a:ext cx="127539" cy="29293"/>
          </a:xfrm>
          <a:custGeom xmlns:a="http://schemas.openxmlformats.org/drawingml/2006/main">
            <a:pathLst>
              <a:path w="127539" h="29293">
                <a:moveTo>
                  <a:pt x="0" y="29293"/>
                </a:moveTo>
                <a:lnTo>
                  <a:pt x="127539" y="2929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8" name="Vector 228">
            <a:extLst xmlns:a="http://schemas.openxmlformats.org/drawingml/2006/main">
              <a:ext uri="{FF2B5EF4-FFF2-40B4-BE49-F238E27FC236}">
                <a16:creationId xmlns:a16="http://schemas.microsoft.com/office/drawing/2014/main" id="{8DBED7A3-BE31-4B8D-81BE-A1F5483B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530" y="7968996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29" name="Vector 229">
            <a:extLst xmlns:a="http://schemas.openxmlformats.org/drawingml/2006/main">
              <a:ext uri="{FF2B5EF4-FFF2-40B4-BE49-F238E27FC236}">
                <a16:creationId xmlns:a16="http://schemas.microsoft.com/office/drawing/2014/main" id="{3170349D-88A5-4DDC-8983-82ABC446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81" y="7968996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30" name="Vector 230">
            <a:extLst xmlns:a="http://schemas.openxmlformats.org/drawingml/2006/main">
              <a:ext uri="{FF2B5EF4-FFF2-40B4-BE49-F238E27FC236}">
                <a16:creationId xmlns:a16="http://schemas.microsoft.com/office/drawing/2014/main" id="{94CAF445-6F6A-402A-8C33-07988B4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033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31" name="m2fe37c5cf0 231">
            <a:extLst xmlns:a="http://schemas.openxmlformats.org/drawingml/2006/main">
              <a:ext uri="{FF2B5EF4-FFF2-40B4-BE49-F238E27FC236}">
                <a16:creationId xmlns:a16="http://schemas.microsoft.com/office/drawing/2014/main" id="{68E599E3-0341-4183-90D4-19EE19D7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42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2" name="Text 232: −8">
            <a:extLst xmlns:a="http://schemas.openxmlformats.org/drawingml/2006/main">
              <a:ext uri="{FF2B5EF4-FFF2-40B4-BE49-F238E27FC236}">
                <a16:creationId xmlns:a16="http://schemas.microsoft.com/office/drawing/2014/main" id="{7A93C18A-92D8-4F32-BFCB-49421AAB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152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−8</a:t>
            </a:r>
          </a:p>
        </p:txBody>
      </p:sp>
      <p:sp>
        <p:nvSpPr>
          <p:cNvPr id="233" name="m2fe37c5cf0 233">
            <a:extLst xmlns:a="http://schemas.openxmlformats.org/drawingml/2006/main">
              <a:ext uri="{FF2B5EF4-FFF2-40B4-BE49-F238E27FC236}">
                <a16:creationId xmlns:a16="http://schemas.microsoft.com/office/drawing/2014/main" id="{A77D15F8-D064-499B-899B-4C79BEFA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206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4" name="Text 234: −6">
            <a:extLst xmlns:a="http://schemas.openxmlformats.org/drawingml/2006/main">
              <a:ext uri="{FF2B5EF4-FFF2-40B4-BE49-F238E27FC236}">
                <a16:creationId xmlns:a16="http://schemas.microsoft.com/office/drawing/2014/main" id="{8EE6A239-6682-49FD-86A5-185F6CAC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116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−6</a:t>
            </a:r>
          </a:p>
        </p:txBody>
      </p:sp>
      <p:sp>
        <p:nvSpPr>
          <p:cNvPr id="235" name="m2fe37c5cf0 235">
            <a:extLst xmlns:a="http://schemas.openxmlformats.org/drawingml/2006/main">
              <a:ext uri="{FF2B5EF4-FFF2-40B4-BE49-F238E27FC236}">
                <a16:creationId xmlns:a16="http://schemas.microsoft.com/office/drawing/2014/main" id="{42996066-F8DD-42CA-ABAD-A76ED7CF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169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6" name="Text 236: −4">
            <a:extLst xmlns:a="http://schemas.openxmlformats.org/drawingml/2006/main">
              <a:ext uri="{FF2B5EF4-FFF2-40B4-BE49-F238E27FC236}">
                <a16:creationId xmlns:a16="http://schemas.microsoft.com/office/drawing/2014/main" id="{A213BC17-6709-4E48-9739-4B3AFF81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0079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−4</a:t>
            </a:r>
          </a:p>
        </p:txBody>
      </p:sp>
      <p:sp>
        <p:nvSpPr>
          <p:cNvPr id="237" name="m2fe37c5cf0 237">
            <a:extLst xmlns:a="http://schemas.openxmlformats.org/drawingml/2006/main">
              <a:ext uri="{FF2B5EF4-FFF2-40B4-BE49-F238E27FC236}">
                <a16:creationId xmlns:a16="http://schemas.microsoft.com/office/drawing/2014/main" id="{617CEED1-0341-4F05-9626-DE1840A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33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8" name="Text 238: −2">
            <a:extLst xmlns:a="http://schemas.openxmlformats.org/drawingml/2006/main">
              <a:ext uri="{FF2B5EF4-FFF2-40B4-BE49-F238E27FC236}">
                <a16:creationId xmlns:a16="http://schemas.microsoft.com/office/drawing/2014/main" id="{2F9D7EE8-F0C7-45ED-AFBA-4D78A42A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9043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−2</a:t>
            </a:r>
          </a:p>
        </p:txBody>
      </p:sp>
      <p:sp>
        <p:nvSpPr>
          <p:cNvPr id="239" name="m2fe37c5cf0 239">
            <a:extLst xmlns:a="http://schemas.openxmlformats.org/drawingml/2006/main">
              <a:ext uri="{FF2B5EF4-FFF2-40B4-BE49-F238E27FC236}">
                <a16:creationId xmlns:a16="http://schemas.microsoft.com/office/drawing/2014/main" id="{41616674-4F59-405E-B0AD-3F44F56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97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0" name="Text 240: 0">
            <a:extLst xmlns:a="http://schemas.openxmlformats.org/drawingml/2006/main">
              <a:ext uri="{FF2B5EF4-FFF2-40B4-BE49-F238E27FC236}">
                <a16:creationId xmlns:a16="http://schemas.microsoft.com/office/drawing/2014/main" id="{E31C4B77-5EA7-43DC-928A-7B44444B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5091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1" name="m2fe37c5cf0 241">
            <a:extLst xmlns:a="http://schemas.openxmlformats.org/drawingml/2006/main">
              <a:ext uri="{FF2B5EF4-FFF2-40B4-BE49-F238E27FC236}">
                <a16:creationId xmlns:a16="http://schemas.microsoft.com/office/drawing/2014/main" id="{562D8703-254D-4379-9281-6A581908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60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2" name="Text 242: 2">
            <a:extLst xmlns:a="http://schemas.openxmlformats.org/drawingml/2006/main">
              <a:ext uri="{FF2B5EF4-FFF2-40B4-BE49-F238E27FC236}">
                <a16:creationId xmlns:a16="http://schemas.microsoft.com/office/drawing/2014/main" id="{1C6129F9-6B76-45B0-BEC0-0F4EA4AB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4054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3" name="m2fe37c5cf0 243">
            <a:extLst xmlns:a="http://schemas.openxmlformats.org/drawingml/2006/main">
              <a:ext uri="{FF2B5EF4-FFF2-40B4-BE49-F238E27FC236}">
                <a16:creationId xmlns:a16="http://schemas.microsoft.com/office/drawing/2014/main" id="{149E8A03-1D0E-4C58-9576-FCF54732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024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4" name="Text 244: 4">
            <a:extLst xmlns:a="http://schemas.openxmlformats.org/drawingml/2006/main">
              <a:ext uri="{FF2B5EF4-FFF2-40B4-BE49-F238E27FC236}">
                <a16:creationId xmlns:a16="http://schemas.microsoft.com/office/drawing/2014/main" id="{FF174458-E533-4D5E-8CE1-33F23E8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3018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5" name="m2fe37c5cf0 245">
            <a:extLst xmlns:a="http://schemas.openxmlformats.org/drawingml/2006/main">
              <a:ext uri="{FF2B5EF4-FFF2-40B4-BE49-F238E27FC236}">
                <a16:creationId xmlns:a16="http://schemas.microsoft.com/office/drawing/2014/main" id="{4D8D101F-6F97-490E-95BF-438FFE7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988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6" name="Text 246: 6">
            <a:extLst xmlns:a="http://schemas.openxmlformats.org/drawingml/2006/main">
              <a:ext uri="{FF2B5EF4-FFF2-40B4-BE49-F238E27FC236}">
                <a16:creationId xmlns:a16="http://schemas.microsoft.com/office/drawing/2014/main" id="{AC9F6D30-8FF1-419A-BD44-CEFAC84C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1982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7" name="m2fe37c5cf0 247">
            <a:extLst xmlns:a="http://schemas.openxmlformats.org/drawingml/2006/main">
              <a:ext uri="{FF2B5EF4-FFF2-40B4-BE49-F238E27FC236}">
                <a16:creationId xmlns:a16="http://schemas.microsoft.com/office/drawing/2014/main" id="{726F9F5F-7C09-4BB5-A308-4A18468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51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8" name="Text 248: 8">
            <a:extLst xmlns:a="http://schemas.openxmlformats.org/drawingml/2006/main">
              <a:ext uri="{FF2B5EF4-FFF2-40B4-BE49-F238E27FC236}">
                <a16:creationId xmlns:a16="http://schemas.microsoft.com/office/drawing/2014/main" id="{AD02EDBD-DCA5-4D06-8E38-27E07CAB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945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9" name="Text 249: Predicted log HR(z)">
            <a:extLst xmlns:a="http://schemas.openxmlformats.org/drawingml/2006/main">
              <a:ext uri="{FF2B5EF4-FFF2-40B4-BE49-F238E27FC236}">
                <a16:creationId xmlns:a16="http://schemas.microsoft.com/office/drawing/2014/main" id="{35B8C06C-2772-41EF-9F37-0881AF7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3483" y="8209998"/>
            <a:ext cx="113334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Predicted log HR(z)</a:t>
            </a:r>
          </a:p>
        </p:txBody>
      </p:sp>
      <p:sp>
        <p:nvSpPr>
          <p:cNvPr id="250" name="m5b7ecc52a7 250">
            <a:extLst xmlns:a="http://schemas.openxmlformats.org/drawingml/2006/main">
              <a:ext uri="{FF2B5EF4-FFF2-40B4-BE49-F238E27FC236}">
                <a16:creationId xmlns:a16="http://schemas.microsoft.com/office/drawing/2014/main" id="{247AD184-743C-4938-A8EF-3C024AE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796899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1" name="Text 251: 0">
            <a:extLst xmlns:a="http://schemas.openxmlformats.org/drawingml/2006/main">
              <a:ext uri="{FF2B5EF4-FFF2-40B4-BE49-F238E27FC236}">
                <a16:creationId xmlns:a16="http://schemas.microsoft.com/office/drawing/2014/main" id="{C8C69288-2A99-4D6F-888A-836EF511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88" y="789913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2" name="m5b7ecc52a7 252">
            <a:extLst xmlns:a="http://schemas.openxmlformats.org/drawingml/2006/main">
              <a:ext uri="{FF2B5EF4-FFF2-40B4-BE49-F238E27FC236}">
                <a16:creationId xmlns:a16="http://schemas.microsoft.com/office/drawing/2014/main" id="{4436D561-955C-4B4F-901F-4BC398C4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" y="76028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3" name="Text 253: 25">
            <a:extLst xmlns:a="http://schemas.openxmlformats.org/drawingml/2006/main">
              <a:ext uri="{FF2B5EF4-FFF2-40B4-BE49-F238E27FC236}">
                <a16:creationId xmlns:a16="http://schemas.microsoft.com/office/drawing/2014/main" id="{900B20EB-E3DE-4D3D-A26E-6A5779E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176" y="7532969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54" name="Text 254: Patients">
            <a:extLst xmlns:a="http://schemas.openxmlformats.org/drawingml/2006/main">
              <a:ext uri="{FF2B5EF4-FFF2-40B4-BE49-F238E27FC236}">
                <a16:creationId xmlns:a16="http://schemas.microsoft.com/office/drawing/2014/main" id="{229971F1-58DB-45E3-BF33-988DDDA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52435" y="7656326"/>
            <a:ext cx="43836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255" name="Vector 255">
            <a:extLst xmlns:a="http://schemas.openxmlformats.org/drawingml/2006/main">
              <a:ext uri="{FF2B5EF4-FFF2-40B4-BE49-F238E27FC236}">
                <a16:creationId xmlns:a16="http://schemas.microsoft.com/office/drawing/2014/main" id="{FF76BA69-9C5E-4277-BFC2-635221DB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92247"/>
            <a:ext cx="10" cy="476749"/>
          </a:xfrm>
          <a:custGeom xmlns:a="http://schemas.openxmlformats.org/drawingml/2006/main">
            <a:pathLst>
              <a:path w="10" h="476749">
                <a:moveTo>
                  <a:pt x="0" y="4767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6" name="Vector 256">
            <a:extLst xmlns:a="http://schemas.openxmlformats.org/drawingml/2006/main">
              <a:ext uri="{FF2B5EF4-FFF2-40B4-BE49-F238E27FC236}">
                <a16:creationId xmlns:a16="http://schemas.microsoft.com/office/drawing/2014/main" id="{503CD381-B5FA-4D0D-966E-DC42763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8996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7" name="Vector 257">
            <a:extLst xmlns:a="http://schemas.openxmlformats.org/drawingml/2006/main">
              <a:ext uri="{FF2B5EF4-FFF2-40B4-BE49-F238E27FC236}">
                <a16:creationId xmlns:a16="http://schemas.microsoft.com/office/drawing/2014/main" id="{F74F4EED-9383-4602-B53F-13ACD22E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4870126"/>
            <a:ext cx="4422913" cy="1906997"/>
          </a:xfrm>
          <a:custGeom xmlns:a="http://schemas.openxmlformats.org/drawingml/2006/main">
            <a:pathLst>
              <a:path w="4422913" h="1906997">
                <a:moveTo>
                  <a:pt x="0" y="1906997"/>
                </a:moveTo>
                <a:lnTo>
                  <a:pt x="4422913" y="1906997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58" name="m5aa6552166 258">
            <a:extLst xmlns:a="http://schemas.openxmlformats.org/drawingml/2006/main">
              <a:ext uri="{FF2B5EF4-FFF2-40B4-BE49-F238E27FC236}">
                <a16:creationId xmlns:a16="http://schemas.microsoft.com/office/drawing/2014/main" id="{6C66D231-4914-420E-9B39-7BF07ED8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183" y="5614363"/>
            <a:ext cx="1429700" cy="1076078"/>
          </a:xfrm>
          <a:custGeom xmlns:a="http://schemas.openxmlformats.org/drawingml/2006/main">
            <a:pathLst>
              <a:path w="1429700" h="1076078">
                <a:moveTo>
                  <a:pt x="0" y="439773"/>
                </a:moveTo>
                <a:lnTo>
                  <a:pt x="0" y="1076078"/>
                </a:lnTo>
                <a:lnTo>
                  <a:pt x="16959" y="1065345"/>
                </a:lnTo>
                <a:lnTo>
                  <a:pt x="33918" y="1054622"/>
                </a:lnTo>
                <a:lnTo>
                  <a:pt x="50877" y="1043909"/>
                </a:lnTo>
                <a:lnTo>
                  <a:pt x="67836" y="1033206"/>
                </a:lnTo>
                <a:lnTo>
                  <a:pt x="84795" y="1022513"/>
                </a:lnTo>
                <a:lnTo>
                  <a:pt x="101754" y="1011831"/>
                </a:lnTo>
                <a:lnTo>
                  <a:pt x="118713" y="1001160"/>
                </a:lnTo>
                <a:lnTo>
                  <a:pt x="135672" y="990500"/>
                </a:lnTo>
                <a:lnTo>
                  <a:pt x="152631" y="979853"/>
                </a:lnTo>
                <a:lnTo>
                  <a:pt x="169590" y="969217"/>
                </a:lnTo>
                <a:lnTo>
                  <a:pt x="186549" y="958595"/>
                </a:lnTo>
                <a:lnTo>
                  <a:pt x="203508" y="947986"/>
                </a:lnTo>
                <a:lnTo>
                  <a:pt x="220467" y="937390"/>
                </a:lnTo>
                <a:lnTo>
                  <a:pt x="237425" y="926809"/>
                </a:lnTo>
                <a:lnTo>
                  <a:pt x="254384" y="916243"/>
                </a:lnTo>
                <a:lnTo>
                  <a:pt x="271343" y="905692"/>
                </a:lnTo>
                <a:lnTo>
                  <a:pt x="288302" y="895157"/>
                </a:lnTo>
                <a:lnTo>
                  <a:pt x="305261" y="884638"/>
                </a:lnTo>
                <a:lnTo>
                  <a:pt x="322220" y="874137"/>
                </a:lnTo>
                <a:lnTo>
                  <a:pt x="339179" y="863653"/>
                </a:lnTo>
                <a:lnTo>
                  <a:pt x="356138" y="853188"/>
                </a:lnTo>
                <a:lnTo>
                  <a:pt x="373097" y="842742"/>
                </a:lnTo>
                <a:lnTo>
                  <a:pt x="390056" y="832317"/>
                </a:lnTo>
                <a:lnTo>
                  <a:pt x="407015" y="821912"/>
                </a:lnTo>
                <a:lnTo>
                  <a:pt x="423974" y="811528"/>
                </a:lnTo>
                <a:lnTo>
                  <a:pt x="440933" y="801168"/>
                </a:lnTo>
                <a:lnTo>
                  <a:pt x="457892" y="790830"/>
                </a:lnTo>
                <a:lnTo>
                  <a:pt x="474851" y="780517"/>
                </a:lnTo>
                <a:lnTo>
                  <a:pt x="491810" y="770230"/>
                </a:lnTo>
                <a:lnTo>
                  <a:pt x="508769" y="759968"/>
                </a:lnTo>
                <a:lnTo>
                  <a:pt x="525728" y="749735"/>
                </a:lnTo>
                <a:lnTo>
                  <a:pt x="542687" y="739530"/>
                </a:lnTo>
                <a:lnTo>
                  <a:pt x="559646" y="729355"/>
                </a:lnTo>
                <a:lnTo>
                  <a:pt x="576605" y="719211"/>
                </a:lnTo>
                <a:lnTo>
                  <a:pt x="593564" y="709099"/>
                </a:lnTo>
                <a:lnTo>
                  <a:pt x="610523" y="699022"/>
                </a:lnTo>
                <a:lnTo>
                  <a:pt x="627482" y="688979"/>
                </a:lnTo>
                <a:lnTo>
                  <a:pt x="644441" y="678973"/>
                </a:lnTo>
                <a:lnTo>
                  <a:pt x="661400" y="669006"/>
                </a:lnTo>
                <a:lnTo>
                  <a:pt x="678359" y="659078"/>
                </a:lnTo>
                <a:lnTo>
                  <a:pt x="695317" y="649192"/>
                </a:lnTo>
                <a:lnTo>
                  <a:pt x="712276" y="639350"/>
                </a:lnTo>
                <a:lnTo>
                  <a:pt x="729235" y="629552"/>
                </a:lnTo>
                <a:lnTo>
                  <a:pt x="746194" y="619802"/>
                </a:lnTo>
                <a:lnTo>
                  <a:pt x="763153" y="610101"/>
                </a:lnTo>
                <a:lnTo>
                  <a:pt x="780112" y="600450"/>
                </a:lnTo>
                <a:lnTo>
                  <a:pt x="797071" y="590853"/>
                </a:lnTo>
                <a:lnTo>
                  <a:pt x="814030" y="581311"/>
                </a:lnTo>
                <a:lnTo>
                  <a:pt x="830989" y="571827"/>
                </a:lnTo>
                <a:lnTo>
                  <a:pt x="847948" y="562402"/>
                </a:lnTo>
                <a:lnTo>
                  <a:pt x="864907" y="553040"/>
                </a:lnTo>
                <a:lnTo>
                  <a:pt x="881866" y="543742"/>
                </a:lnTo>
                <a:lnTo>
                  <a:pt x="898825" y="534512"/>
                </a:lnTo>
                <a:lnTo>
                  <a:pt x="915784" y="525350"/>
                </a:lnTo>
                <a:lnTo>
                  <a:pt x="932743" y="516261"/>
                </a:lnTo>
                <a:lnTo>
                  <a:pt x="949702" y="507246"/>
                </a:lnTo>
                <a:lnTo>
                  <a:pt x="966661" y="498309"/>
                </a:lnTo>
                <a:lnTo>
                  <a:pt x="983620" y="489451"/>
                </a:lnTo>
                <a:lnTo>
                  <a:pt x="1000579" y="480675"/>
                </a:lnTo>
                <a:lnTo>
                  <a:pt x="1017538" y="471983"/>
                </a:lnTo>
                <a:lnTo>
                  <a:pt x="1034497" y="463379"/>
                </a:lnTo>
                <a:lnTo>
                  <a:pt x="1051456" y="454864"/>
                </a:lnTo>
                <a:lnTo>
                  <a:pt x="1068415" y="446440"/>
                </a:lnTo>
                <a:lnTo>
                  <a:pt x="1085374" y="438111"/>
                </a:lnTo>
                <a:lnTo>
                  <a:pt x="1102333" y="429878"/>
                </a:lnTo>
                <a:lnTo>
                  <a:pt x="1119292" y="421742"/>
                </a:lnTo>
                <a:lnTo>
                  <a:pt x="1136251" y="413706"/>
                </a:lnTo>
                <a:lnTo>
                  <a:pt x="1153209" y="405772"/>
                </a:lnTo>
                <a:lnTo>
                  <a:pt x="1170168" y="397941"/>
                </a:lnTo>
                <a:lnTo>
                  <a:pt x="1187127" y="390213"/>
                </a:lnTo>
                <a:lnTo>
                  <a:pt x="1204086" y="382591"/>
                </a:lnTo>
                <a:lnTo>
                  <a:pt x="1221045" y="375074"/>
                </a:lnTo>
                <a:lnTo>
                  <a:pt x="1238004" y="367664"/>
                </a:lnTo>
                <a:lnTo>
                  <a:pt x="1254963" y="360361"/>
                </a:lnTo>
                <a:lnTo>
                  <a:pt x="1271922" y="353165"/>
                </a:lnTo>
                <a:lnTo>
                  <a:pt x="1288881" y="346076"/>
                </a:lnTo>
                <a:lnTo>
                  <a:pt x="1305840" y="339093"/>
                </a:lnTo>
                <a:lnTo>
                  <a:pt x="1322799" y="332215"/>
                </a:lnTo>
                <a:lnTo>
                  <a:pt x="1339758" y="325443"/>
                </a:lnTo>
                <a:lnTo>
                  <a:pt x="1356717" y="318774"/>
                </a:lnTo>
                <a:lnTo>
                  <a:pt x="1373676" y="312208"/>
                </a:lnTo>
                <a:lnTo>
                  <a:pt x="1390635" y="305742"/>
                </a:lnTo>
                <a:lnTo>
                  <a:pt x="1407594" y="299376"/>
                </a:lnTo>
                <a:lnTo>
                  <a:pt x="1424553" y="293108"/>
                </a:lnTo>
                <a:lnTo>
                  <a:pt x="1429700" y="291224"/>
                </a:lnTo>
                <a:lnTo>
                  <a:pt x="1429700" y="0"/>
                </a:lnTo>
                <a:lnTo>
                  <a:pt x="1429700" y="0"/>
                </a:lnTo>
                <a:lnTo>
                  <a:pt x="1424553" y="2525"/>
                </a:lnTo>
                <a:lnTo>
                  <a:pt x="1407594" y="10783"/>
                </a:lnTo>
                <a:lnTo>
                  <a:pt x="1390635" y="18944"/>
                </a:lnTo>
                <a:lnTo>
                  <a:pt x="1373676" y="27005"/>
                </a:lnTo>
                <a:lnTo>
                  <a:pt x="1356717" y="34965"/>
                </a:lnTo>
                <a:lnTo>
                  <a:pt x="1339758" y="42823"/>
                </a:lnTo>
                <a:lnTo>
                  <a:pt x="1322799" y="50576"/>
                </a:lnTo>
                <a:lnTo>
                  <a:pt x="1305840" y="58225"/>
                </a:lnTo>
                <a:lnTo>
                  <a:pt x="1288881" y="65769"/>
                </a:lnTo>
                <a:lnTo>
                  <a:pt x="1271922" y="73206"/>
                </a:lnTo>
                <a:lnTo>
                  <a:pt x="1254963" y="80536"/>
                </a:lnTo>
                <a:lnTo>
                  <a:pt x="1238004" y="87759"/>
                </a:lnTo>
                <a:lnTo>
                  <a:pt x="1221045" y="94875"/>
                </a:lnTo>
                <a:lnTo>
                  <a:pt x="1204086" y="101885"/>
                </a:lnTo>
                <a:lnTo>
                  <a:pt x="1187127" y="108790"/>
                </a:lnTo>
                <a:lnTo>
                  <a:pt x="1170168" y="115588"/>
                </a:lnTo>
                <a:lnTo>
                  <a:pt x="1153209" y="122283"/>
                </a:lnTo>
                <a:lnTo>
                  <a:pt x="1136251" y="128875"/>
                </a:lnTo>
                <a:lnTo>
                  <a:pt x="1119292" y="135366"/>
                </a:lnTo>
                <a:lnTo>
                  <a:pt x="1102333" y="141757"/>
                </a:lnTo>
                <a:lnTo>
                  <a:pt x="1085374" y="148050"/>
                </a:lnTo>
                <a:lnTo>
                  <a:pt x="1068415" y="154247"/>
                </a:lnTo>
                <a:lnTo>
                  <a:pt x="1051456" y="160350"/>
                </a:lnTo>
                <a:lnTo>
                  <a:pt x="1034497" y="166362"/>
                </a:lnTo>
                <a:lnTo>
                  <a:pt x="1017538" y="172284"/>
                </a:lnTo>
                <a:lnTo>
                  <a:pt x="1000579" y="178119"/>
                </a:lnTo>
                <a:lnTo>
                  <a:pt x="983620" y="183869"/>
                </a:lnTo>
                <a:lnTo>
                  <a:pt x="966661" y="189537"/>
                </a:lnTo>
                <a:lnTo>
                  <a:pt x="949702" y="195126"/>
                </a:lnTo>
                <a:lnTo>
                  <a:pt x="932743" y="200638"/>
                </a:lnTo>
                <a:lnTo>
                  <a:pt x="915784" y="206075"/>
                </a:lnTo>
                <a:lnTo>
                  <a:pt x="898825" y="211440"/>
                </a:lnTo>
                <a:lnTo>
                  <a:pt x="881866" y="216736"/>
                </a:lnTo>
                <a:lnTo>
                  <a:pt x="864907" y="221964"/>
                </a:lnTo>
                <a:lnTo>
                  <a:pt x="847948" y="227128"/>
                </a:lnTo>
                <a:lnTo>
                  <a:pt x="830989" y="232230"/>
                </a:lnTo>
                <a:lnTo>
                  <a:pt x="814030" y="237272"/>
                </a:lnTo>
                <a:lnTo>
                  <a:pt x="797071" y="242257"/>
                </a:lnTo>
                <a:lnTo>
                  <a:pt x="780112" y="247186"/>
                </a:lnTo>
                <a:lnTo>
                  <a:pt x="763153" y="252062"/>
                </a:lnTo>
                <a:lnTo>
                  <a:pt x="746194" y="256887"/>
                </a:lnTo>
                <a:lnTo>
                  <a:pt x="729235" y="261663"/>
                </a:lnTo>
                <a:lnTo>
                  <a:pt x="712276" y="266392"/>
                </a:lnTo>
                <a:lnTo>
                  <a:pt x="695317" y="271076"/>
                </a:lnTo>
                <a:lnTo>
                  <a:pt x="678359" y="275716"/>
                </a:lnTo>
                <a:lnTo>
                  <a:pt x="661400" y="280315"/>
                </a:lnTo>
                <a:lnTo>
                  <a:pt x="644441" y="284874"/>
                </a:lnTo>
                <a:lnTo>
                  <a:pt x="627482" y="289395"/>
                </a:lnTo>
                <a:lnTo>
                  <a:pt x="610523" y="293879"/>
                </a:lnTo>
                <a:lnTo>
                  <a:pt x="593564" y="298327"/>
                </a:lnTo>
                <a:lnTo>
                  <a:pt x="576605" y="302742"/>
                </a:lnTo>
                <a:lnTo>
                  <a:pt x="559646" y="307125"/>
                </a:lnTo>
                <a:lnTo>
                  <a:pt x="542687" y="311476"/>
                </a:lnTo>
                <a:lnTo>
                  <a:pt x="525728" y="315798"/>
                </a:lnTo>
                <a:lnTo>
                  <a:pt x="508769" y="320090"/>
                </a:lnTo>
                <a:lnTo>
                  <a:pt x="491810" y="324356"/>
                </a:lnTo>
                <a:lnTo>
                  <a:pt x="474851" y="328594"/>
                </a:lnTo>
                <a:lnTo>
                  <a:pt x="457892" y="332808"/>
                </a:lnTo>
                <a:lnTo>
                  <a:pt x="440933" y="336997"/>
                </a:lnTo>
                <a:lnTo>
                  <a:pt x="423974" y="341162"/>
                </a:lnTo>
                <a:lnTo>
                  <a:pt x="407015" y="345306"/>
                </a:lnTo>
                <a:lnTo>
                  <a:pt x="390056" y="349427"/>
                </a:lnTo>
                <a:lnTo>
                  <a:pt x="373097" y="353528"/>
                </a:lnTo>
                <a:lnTo>
                  <a:pt x="356138" y="357608"/>
                </a:lnTo>
                <a:lnTo>
                  <a:pt x="339179" y="361670"/>
                </a:lnTo>
                <a:lnTo>
                  <a:pt x="322220" y="365712"/>
                </a:lnTo>
                <a:lnTo>
                  <a:pt x="305261" y="369737"/>
                </a:lnTo>
                <a:lnTo>
                  <a:pt x="288302" y="373745"/>
                </a:lnTo>
                <a:lnTo>
                  <a:pt x="271343" y="377737"/>
                </a:lnTo>
                <a:lnTo>
                  <a:pt x="254384" y="381712"/>
                </a:lnTo>
                <a:lnTo>
                  <a:pt x="237425" y="385672"/>
                </a:lnTo>
                <a:lnTo>
                  <a:pt x="220467" y="389617"/>
                </a:lnTo>
                <a:lnTo>
                  <a:pt x="203508" y="393548"/>
                </a:lnTo>
                <a:lnTo>
                  <a:pt x="186549" y="397465"/>
                </a:lnTo>
                <a:lnTo>
                  <a:pt x="169590" y="401369"/>
                </a:lnTo>
                <a:lnTo>
                  <a:pt x="152631" y="405261"/>
                </a:lnTo>
                <a:lnTo>
                  <a:pt x="135672" y="409140"/>
                </a:lnTo>
                <a:lnTo>
                  <a:pt x="118713" y="413006"/>
                </a:lnTo>
                <a:lnTo>
                  <a:pt x="101754" y="416862"/>
                </a:lnTo>
                <a:lnTo>
                  <a:pt x="84795" y="420706"/>
                </a:lnTo>
                <a:lnTo>
                  <a:pt x="67836" y="424540"/>
                </a:lnTo>
                <a:lnTo>
                  <a:pt x="50877" y="428363"/>
                </a:lnTo>
                <a:lnTo>
                  <a:pt x="33918" y="432176"/>
                </a:lnTo>
                <a:lnTo>
                  <a:pt x="16959" y="435979"/>
                </a:lnTo>
                <a:lnTo>
                  <a:pt x="0" y="439773"/>
                </a:lnTo>
                <a:close/>
              </a:path>
            </a:pathLst>
          </a:custGeom>
          <a:solidFill xmlns:a="http://schemas.openxmlformats.org/drawingml/2006/main">
            <a:srgbClr val="697480">
              <a:alpha val="18000"/>
            </a:srgbClr>
          </a:solidFill>
          <a:ln xmlns:a="http://schemas.openxmlformats.org/drawingml/2006/main" w="12700">
            <a:solidFill>
              <a:srgbClr val="697480">
                <a:alpha val="18000"/>
              </a:srgbClr>
            </a:solidFill>
            <a:prstDash val="solid"/>
          </a:ln>
        </p:spPr>
      </p:sp>
      <p:sp>
        <p:nvSpPr>
          <p:cNvPr id="259" name="m46e94c7823 259">
            <a:extLst xmlns:a="http://schemas.openxmlformats.org/drawingml/2006/main">
              <a:ext uri="{FF2B5EF4-FFF2-40B4-BE49-F238E27FC236}">
                <a16:creationId xmlns:a16="http://schemas.microsoft.com/office/drawing/2014/main" id="{1E319440-2922-4140-A859-4317FED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884" y="4956808"/>
            <a:ext cx="1114144" cy="948780"/>
          </a:xfrm>
          <a:custGeom xmlns:a="http://schemas.openxmlformats.org/drawingml/2006/main">
            <a:pathLst>
              <a:path w="1114144" h="948780">
                <a:moveTo>
                  <a:pt x="0" y="657556"/>
                </a:moveTo>
                <a:lnTo>
                  <a:pt x="0" y="948780"/>
                </a:lnTo>
                <a:lnTo>
                  <a:pt x="11812" y="944490"/>
                </a:lnTo>
                <a:lnTo>
                  <a:pt x="28770" y="938411"/>
                </a:lnTo>
                <a:lnTo>
                  <a:pt x="45729" y="932422"/>
                </a:lnTo>
                <a:lnTo>
                  <a:pt x="62688" y="926522"/>
                </a:lnTo>
                <a:lnTo>
                  <a:pt x="79647" y="920709"/>
                </a:lnTo>
                <a:lnTo>
                  <a:pt x="96606" y="914980"/>
                </a:lnTo>
                <a:lnTo>
                  <a:pt x="113565" y="909332"/>
                </a:lnTo>
                <a:lnTo>
                  <a:pt x="130524" y="903763"/>
                </a:lnTo>
                <a:lnTo>
                  <a:pt x="147483" y="898270"/>
                </a:lnTo>
                <a:lnTo>
                  <a:pt x="164442" y="892852"/>
                </a:lnTo>
                <a:lnTo>
                  <a:pt x="181401" y="887504"/>
                </a:lnTo>
                <a:lnTo>
                  <a:pt x="198360" y="882226"/>
                </a:lnTo>
                <a:lnTo>
                  <a:pt x="215319" y="877014"/>
                </a:lnTo>
                <a:lnTo>
                  <a:pt x="232278" y="871865"/>
                </a:lnTo>
                <a:lnTo>
                  <a:pt x="249237" y="866779"/>
                </a:lnTo>
                <a:lnTo>
                  <a:pt x="266196" y="861752"/>
                </a:lnTo>
                <a:lnTo>
                  <a:pt x="283155" y="856781"/>
                </a:lnTo>
                <a:lnTo>
                  <a:pt x="300114" y="851866"/>
                </a:lnTo>
                <a:lnTo>
                  <a:pt x="317073" y="847003"/>
                </a:lnTo>
                <a:lnTo>
                  <a:pt x="334032" y="842190"/>
                </a:lnTo>
                <a:lnTo>
                  <a:pt x="350991" y="837426"/>
                </a:lnTo>
                <a:lnTo>
                  <a:pt x="367950" y="832709"/>
                </a:lnTo>
                <a:lnTo>
                  <a:pt x="384909" y="828036"/>
                </a:lnTo>
                <a:lnTo>
                  <a:pt x="401868" y="823407"/>
                </a:lnTo>
                <a:lnTo>
                  <a:pt x="418827" y="818818"/>
                </a:lnTo>
                <a:lnTo>
                  <a:pt x="435786" y="814269"/>
                </a:lnTo>
                <a:lnTo>
                  <a:pt x="452745" y="809758"/>
                </a:lnTo>
                <a:lnTo>
                  <a:pt x="469704" y="805283"/>
                </a:lnTo>
                <a:lnTo>
                  <a:pt x="486662" y="800843"/>
                </a:lnTo>
                <a:lnTo>
                  <a:pt x="503621" y="796436"/>
                </a:lnTo>
                <a:lnTo>
                  <a:pt x="520580" y="792062"/>
                </a:lnTo>
                <a:lnTo>
                  <a:pt x="537539" y="787718"/>
                </a:lnTo>
                <a:lnTo>
                  <a:pt x="554498" y="783404"/>
                </a:lnTo>
                <a:lnTo>
                  <a:pt x="571457" y="779118"/>
                </a:lnTo>
                <a:lnTo>
                  <a:pt x="588416" y="774860"/>
                </a:lnTo>
                <a:lnTo>
                  <a:pt x="605375" y="770628"/>
                </a:lnTo>
                <a:lnTo>
                  <a:pt x="622334" y="766420"/>
                </a:lnTo>
                <a:lnTo>
                  <a:pt x="639293" y="762237"/>
                </a:lnTo>
                <a:lnTo>
                  <a:pt x="656252" y="758078"/>
                </a:lnTo>
                <a:lnTo>
                  <a:pt x="673211" y="753940"/>
                </a:lnTo>
                <a:lnTo>
                  <a:pt x="690170" y="749824"/>
                </a:lnTo>
                <a:lnTo>
                  <a:pt x="707129" y="745728"/>
                </a:lnTo>
                <a:lnTo>
                  <a:pt x="724088" y="741653"/>
                </a:lnTo>
                <a:lnTo>
                  <a:pt x="741047" y="737596"/>
                </a:lnTo>
                <a:lnTo>
                  <a:pt x="758006" y="733558"/>
                </a:lnTo>
                <a:lnTo>
                  <a:pt x="774965" y="729537"/>
                </a:lnTo>
                <a:lnTo>
                  <a:pt x="791924" y="725534"/>
                </a:lnTo>
                <a:lnTo>
                  <a:pt x="808883" y="721546"/>
                </a:lnTo>
                <a:lnTo>
                  <a:pt x="825842" y="717575"/>
                </a:lnTo>
                <a:lnTo>
                  <a:pt x="842801" y="713619"/>
                </a:lnTo>
                <a:lnTo>
                  <a:pt x="859760" y="709677"/>
                </a:lnTo>
                <a:lnTo>
                  <a:pt x="876719" y="705750"/>
                </a:lnTo>
                <a:lnTo>
                  <a:pt x="893678" y="701836"/>
                </a:lnTo>
                <a:lnTo>
                  <a:pt x="910637" y="697935"/>
                </a:lnTo>
                <a:lnTo>
                  <a:pt x="927596" y="694047"/>
                </a:lnTo>
                <a:lnTo>
                  <a:pt x="944554" y="690171"/>
                </a:lnTo>
                <a:lnTo>
                  <a:pt x="961513" y="686307"/>
                </a:lnTo>
                <a:lnTo>
                  <a:pt x="978472" y="682455"/>
                </a:lnTo>
                <a:lnTo>
                  <a:pt x="995431" y="678613"/>
                </a:lnTo>
                <a:lnTo>
                  <a:pt x="1012390" y="674782"/>
                </a:lnTo>
                <a:lnTo>
                  <a:pt x="1029349" y="670962"/>
                </a:lnTo>
                <a:lnTo>
                  <a:pt x="1046308" y="667151"/>
                </a:lnTo>
                <a:lnTo>
                  <a:pt x="1063267" y="663350"/>
                </a:lnTo>
                <a:lnTo>
                  <a:pt x="1080226" y="659559"/>
                </a:lnTo>
                <a:lnTo>
                  <a:pt x="1097185" y="655776"/>
                </a:lnTo>
                <a:lnTo>
                  <a:pt x="1114144" y="652002"/>
                </a:lnTo>
                <a:lnTo>
                  <a:pt x="1114144" y="0"/>
                </a:lnTo>
                <a:lnTo>
                  <a:pt x="1114144" y="0"/>
                </a:lnTo>
                <a:lnTo>
                  <a:pt x="1097185" y="10753"/>
                </a:lnTo>
                <a:lnTo>
                  <a:pt x="1080226" y="21496"/>
                </a:lnTo>
                <a:lnTo>
                  <a:pt x="1063267" y="32231"/>
                </a:lnTo>
                <a:lnTo>
                  <a:pt x="1046308" y="42956"/>
                </a:lnTo>
                <a:lnTo>
                  <a:pt x="1029349" y="53672"/>
                </a:lnTo>
                <a:lnTo>
                  <a:pt x="1012390" y="64378"/>
                </a:lnTo>
                <a:lnTo>
                  <a:pt x="995431" y="75074"/>
                </a:lnTo>
                <a:lnTo>
                  <a:pt x="978472" y="85759"/>
                </a:lnTo>
                <a:lnTo>
                  <a:pt x="961513" y="96432"/>
                </a:lnTo>
                <a:lnTo>
                  <a:pt x="944554" y="107095"/>
                </a:lnTo>
                <a:lnTo>
                  <a:pt x="927596" y="117745"/>
                </a:lnTo>
                <a:lnTo>
                  <a:pt x="910637" y="128384"/>
                </a:lnTo>
                <a:lnTo>
                  <a:pt x="893678" y="139010"/>
                </a:lnTo>
                <a:lnTo>
                  <a:pt x="876719" y="149622"/>
                </a:lnTo>
                <a:lnTo>
                  <a:pt x="859760" y="160221"/>
                </a:lnTo>
                <a:lnTo>
                  <a:pt x="842801" y="170806"/>
                </a:lnTo>
                <a:lnTo>
                  <a:pt x="825842" y="181376"/>
                </a:lnTo>
                <a:lnTo>
                  <a:pt x="808883" y="191931"/>
                </a:lnTo>
                <a:lnTo>
                  <a:pt x="791924" y="202470"/>
                </a:lnTo>
                <a:lnTo>
                  <a:pt x="774965" y="212993"/>
                </a:lnTo>
                <a:lnTo>
                  <a:pt x="758006" y="223499"/>
                </a:lnTo>
                <a:lnTo>
                  <a:pt x="741047" y="233987"/>
                </a:lnTo>
                <a:lnTo>
                  <a:pt x="724088" y="244457"/>
                </a:lnTo>
                <a:lnTo>
                  <a:pt x="707129" y="254907"/>
                </a:lnTo>
                <a:lnTo>
                  <a:pt x="690170" y="265338"/>
                </a:lnTo>
                <a:lnTo>
                  <a:pt x="673211" y="275749"/>
                </a:lnTo>
                <a:lnTo>
                  <a:pt x="656252" y="286137"/>
                </a:lnTo>
                <a:lnTo>
                  <a:pt x="639293" y="296504"/>
                </a:lnTo>
                <a:lnTo>
                  <a:pt x="622334" y="306847"/>
                </a:lnTo>
                <a:lnTo>
                  <a:pt x="605375" y="317167"/>
                </a:lnTo>
                <a:lnTo>
                  <a:pt x="588416" y="327461"/>
                </a:lnTo>
                <a:lnTo>
                  <a:pt x="571457" y="337729"/>
                </a:lnTo>
                <a:lnTo>
                  <a:pt x="554498" y="347969"/>
                </a:lnTo>
                <a:lnTo>
                  <a:pt x="537539" y="358182"/>
                </a:lnTo>
                <a:lnTo>
                  <a:pt x="520580" y="368365"/>
                </a:lnTo>
                <a:lnTo>
                  <a:pt x="503621" y="378517"/>
                </a:lnTo>
                <a:lnTo>
                  <a:pt x="486662" y="388636"/>
                </a:lnTo>
                <a:lnTo>
                  <a:pt x="469704" y="398723"/>
                </a:lnTo>
                <a:lnTo>
                  <a:pt x="452745" y="408774"/>
                </a:lnTo>
                <a:lnTo>
                  <a:pt x="435786" y="418789"/>
                </a:lnTo>
                <a:lnTo>
                  <a:pt x="418827" y="428767"/>
                </a:lnTo>
                <a:lnTo>
                  <a:pt x="401868" y="438705"/>
                </a:lnTo>
                <a:lnTo>
                  <a:pt x="384909" y="448601"/>
                </a:lnTo>
                <a:lnTo>
                  <a:pt x="367950" y="458455"/>
                </a:lnTo>
                <a:lnTo>
                  <a:pt x="350991" y="468264"/>
                </a:lnTo>
                <a:lnTo>
                  <a:pt x="334032" y="478026"/>
                </a:lnTo>
                <a:lnTo>
                  <a:pt x="317073" y="487740"/>
                </a:lnTo>
                <a:lnTo>
                  <a:pt x="300114" y="497404"/>
                </a:lnTo>
                <a:lnTo>
                  <a:pt x="283155" y="507015"/>
                </a:lnTo>
                <a:lnTo>
                  <a:pt x="266196" y="516571"/>
                </a:lnTo>
                <a:lnTo>
                  <a:pt x="249237" y="526070"/>
                </a:lnTo>
                <a:lnTo>
                  <a:pt x="232278" y="535510"/>
                </a:lnTo>
                <a:lnTo>
                  <a:pt x="215319" y="544888"/>
                </a:lnTo>
                <a:lnTo>
                  <a:pt x="198360" y="554202"/>
                </a:lnTo>
                <a:lnTo>
                  <a:pt x="181401" y="563450"/>
                </a:lnTo>
                <a:lnTo>
                  <a:pt x="164442" y="572629"/>
                </a:lnTo>
                <a:lnTo>
                  <a:pt x="147483" y="581737"/>
                </a:lnTo>
                <a:lnTo>
                  <a:pt x="130524" y="590771"/>
                </a:lnTo>
                <a:lnTo>
                  <a:pt x="113565" y="599728"/>
                </a:lnTo>
                <a:lnTo>
                  <a:pt x="96606" y="608607"/>
                </a:lnTo>
                <a:lnTo>
                  <a:pt x="79647" y="617404"/>
                </a:lnTo>
                <a:lnTo>
                  <a:pt x="62688" y="626117"/>
                </a:lnTo>
                <a:lnTo>
                  <a:pt x="45729" y="634743"/>
                </a:lnTo>
                <a:lnTo>
                  <a:pt x="28770" y="643281"/>
                </a:lnTo>
                <a:lnTo>
                  <a:pt x="11812" y="651728"/>
                </a:lnTo>
                <a:lnTo>
                  <a:pt x="0" y="657556"/>
                </a:lnTo>
                <a:close/>
              </a:path>
            </a:pathLst>
          </a:custGeom>
          <a:solidFill xmlns:a="http://schemas.openxmlformats.org/drawingml/2006/main">
            <a:srgbClr val="D55E00">
              <a:alpha val="18000"/>
            </a:srgbClr>
          </a:solidFill>
          <a:ln xmlns:a="http://schemas.openxmlformats.org/drawingml/2006/main" w="12700">
            <a:solidFill>
              <a:srgbClr val="D55E00">
                <a:alpha val="18000"/>
              </a:srgbClr>
            </a:solidFill>
            <a:prstDash val="solid"/>
          </a:ln>
        </p:spPr>
      </p:sp>
      <p:sp>
        <p:nvSpPr>
          <p:cNvPr id="260" name="m2fe37c5cf0 260">
            <a:extLst xmlns:a="http://schemas.openxmlformats.org/drawingml/2006/main">
              <a:ext uri="{FF2B5EF4-FFF2-40B4-BE49-F238E27FC236}">
                <a16:creationId xmlns:a16="http://schemas.microsoft.com/office/drawing/2014/main" id="{CDBD2AC7-55C4-4E8B-812D-97A54FEE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29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1" name="m2fe37c5cf0 261">
            <a:extLst xmlns:a="http://schemas.openxmlformats.org/drawingml/2006/main">
              <a:ext uri="{FF2B5EF4-FFF2-40B4-BE49-F238E27FC236}">
                <a16:creationId xmlns:a16="http://schemas.microsoft.com/office/drawing/2014/main" id="{1A5B0C26-D869-427D-A8BF-F43C12DA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993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2" name="m2fe37c5cf0 262">
            <a:extLst xmlns:a="http://schemas.openxmlformats.org/drawingml/2006/main">
              <a:ext uri="{FF2B5EF4-FFF2-40B4-BE49-F238E27FC236}">
                <a16:creationId xmlns:a16="http://schemas.microsoft.com/office/drawing/2014/main" id="{F55AB860-2459-43CF-9845-DEF5FCDB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956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3" name="m2fe37c5cf0 263">
            <a:extLst xmlns:a="http://schemas.openxmlformats.org/drawingml/2006/main">
              <a:ext uri="{FF2B5EF4-FFF2-40B4-BE49-F238E27FC236}">
                <a16:creationId xmlns:a16="http://schemas.microsoft.com/office/drawing/2014/main" id="{94828706-D6DA-4E52-B8DB-2B899CA6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4" name="m2fe37c5cf0 264">
            <a:extLst xmlns:a="http://schemas.openxmlformats.org/drawingml/2006/main">
              <a:ext uri="{FF2B5EF4-FFF2-40B4-BE49-F238E27FC236}">
                <a16:creationId xmlns:a16="http://schemas.microsoft.com/office/drawing/2014/main" id="{D53B16BC-34A9-4B1D-B796-1305F97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884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5" name="m2fe37c5cf0 265">
            <a:extLst xmlns:a="http://schemas.openxmlformats.org/drawingml/2006/main">
              <a:ext uri="{FF2B5EF4-FFF2-40B4-BE49-F238E27FC236}">
                <a16:creationId xmlns:a16="http://schemas.microsoft.com/office/drawing/2014/main" id="{50DADF23-4357-4E2E-AC6D-6EEE1E7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47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6" name="m2fe37c5cf0 266">
            <a:extLst xmlns:a="http://schemas.openxmlformats.org/drawingml/2006/main">
              <a:ext uri="{FF2B5EF4-FFF2-40B4-BE49-F238E27FC236}">
                <a16:creationId xmlns:a16="http://schemas.microsoft.com/office/drawing/2014/main" id="{1E674A44-2FE2-40F3-9609-B0BFE731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811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7" name="m2fe37c5cf0 267">
            <a:extLst xmlns:a="http://schemas.openxmlformats.org/drawingml/2006/main">
              <a:ext uri="{FF2B5EF4-FFF2-40B4-BE49-F238E27FC236}">
                <a16:creationId xmlns:a16="http://schemas.microsoft.com/office/drawing/2014/main" id="{26067D02-22CC-4567-82C7-BCB02717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775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8" name="m2fe37c5cf0 268">
            <a:extLst xmlns:a="http://schemas.openxmlformats.org/drawingml/2006/main">
              <a:ext uri="{FF2B5EF4-FFF2-40B4-BE49-F238E27FC236}">
                <a16:creationId xmlns:a16="http://schemas.microsoft.com/office/drawing/2014/main" id="{48B32ACE-5D49-4154-B991-190E05F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738" y="6777123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9" name="m5b7ecc52a7 269">
            <a:extLst xmlns:a="http://schemas.openxmlformats.org/drawingml/2006/main">
              <a:ext uri="{FF2B5EF4-FFF2-40B4-BE49-F238E27FC236}">
                <a16:creationId xmlns:a16="http://schemas.microsoft.com/office/drawing/2014/main" id="{4B8CC7AA-0D02-4D22-AC21-DA55D89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650249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0" name="Text 270: 0.25">
            <a:extLst xmlns:a="http://schemas.openxmlformats.org/drawingml/2006/main">
              <a:ext uri="{FF2B5EF4-FFF2-40B4-BE49-F238E27FC236}">
                <a16:creationId xmlns:a16="http://schemas.microsoft.com/office/drawing/2014/main" id="{1E6B7CAF-46DF-4E2A-B18D-F27CBE5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7045" y="6432634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71" name="m5b7ecc52a7 271">
            <a:extLst xmlns:a="http://schemas.openxmlformats.org/drawingml/2006/main">
              <a:ext uri="{FF2B5EF4-FFF2-40B4-BE49-F238E27FC236}">
                <a16:creationId xmlns:a16="http://schemas.microsoft.com/office/drawing/2014/main" id="{3EED3D61-A8F9-4A0B-A229-9A2850AE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611030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2" name="Text 272: 0.5">
            <a:extLst xmlns:a="http://schemas.openxmlformats.org/drawingml/2006/main">
              <a:ext uri="{FF2B5EF4-FFF2-40B4-BE49-F238E27FC236}">
                <a16:creationId xmlns:a16="http://schemas.microsoft.com/office/drawing/2014/main" id="{2F1E7BA5-B022-411E-B9F9-49FA89AA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7657" y="6040444"/>
            <a:ext cx="20193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73" name="m5b7ecc52a7 273">
            <a:extLst xmlns:a="http://schemas.openxmlformats.org/drawingml/2006/main">
              <a:ext uri="{FF2B5EF4-FFF2-40B4-BE49-F238E27FC236}">
                <a16:creationId xmlns:a16="http://schemas.microsoft.com/office/drawing/2014/main" id="{D3F9AC58-4D1C-4BC2-A8D1-DDA2666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571811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4" name="Text 274: 1">
            <a:extLst xmlns:a="http://schemas.openxmlformats.org/drawingml/2006/main">
              <a:ext uri="{FF2B5EF4-FFF2-40B4-BE49-F238E27FC236}">
                <a16:creationId xmlns:a16="http://schemas.microsoft.com/office/drawing/2014/main" id="{CA9402FA-F9C0-4838-B154-D59A4AF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5648254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5" name="m5b7ecc52a7 275">
            <a:extLst xmlns:a="http://schemas.openxmlformats.org/drawingml/2006/main">
              <a:ext uri="{FF2B5EF4-FFF2-40B4-BE49-F238E27FC236}">
                <a16:creationId xmlns:a16="http://schemas.microsoft.com/office/drawing/2014/main" id="{CF874669-E79D-42C6-82F5-FE079B6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532592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6" name="Text 276: 2">
            <a:extLst xmlns:a="http://schemas.openxmlformats.org/drawingml/2006/main">
              <a:ext uri="{FF2B5EF4-FFF2-40B4-BE49-F238E27FC236}">
                <a16:creationId xmlns:a16="http://schemas.microsoft.com/office/drawing/2014/main" id="{6FFCC5E0-1B11-4601-A700-6D0F867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5256063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7" name="m5b7ecc52a7 277">
            <a:extLst xmlns:a="http://schemas.openxmlformats.org/drawingml/2006/main">
              <a:ext uri="{FF2B5EF4-FFF2-40B4-BE49-F238E27FC236}">
                <a16:creationId xmlns:a16="http://schemas.microsoft.com/office/drawing/2014/main" id="{3738E108-5726-4B41-9A73-D479DE3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493373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8" name="Text 278: 4">
            <a:extLst xmlns:a="http://schemas.openxmlformats.org/drawingml/2006/main">
              <a:ext uri="{FF2B5EF4-FFF2-40B4-BE49-F238E27FC236}">
                <a16:creationId xmlns:a16="http://schemas.microsoft.com/office/drawing/2014/main" id="{9EB1180F-5FE7-4F48-AA11-440A8F16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4863873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9" name="Text 279: Treatment HR (ICI+CT / CT)">
            <a:extLst xmlns:a="http://schemas.openxmlformats.org/drawingml/2006/main">
              <a:ext uri="{FF2B5EF4-FFF2-40B4-BE49-F238E27FC236}">
                <a16:creationId xmlns:a16="http://schemas.microsoft.com/office/drawing/2014/main" id="{BE6AE144-4441-4182-B6FF-098EDF4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482249" y="5741074"/>
            <a:ext cx="162358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Treatment HR (ICI+CT / CT)</a:t>
            </a:r>
          </a:p>
        </p:txBody>
      </p:sp>
      <p:sp>
        <p:nvSpPr>
          <p:cNvPr id="280" name="Vector 280">
            <a:extLst xmlns:a="http://schemas.openxmlformats.org/drawingml/2006/main">
              <a:ext uri="{FF2B5EF4-FFF2-40B4-BE49-F238E27FC236}">
                <a16:creationId xmlns:a16="http://schemas.microsoft.com/office/drawing/2014/main" id="{C07B083E-24E3-437C-B8F1-AE0138F5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183" y="5759975"/>
            <a:ext cx="1429700" cy="612313"/>
          </a:xfrm>
          <a:custGeom xmlns:a="http://schemas.openxmlformats.org/drawingml/2006/main">
            <a:pathLst>
              <a:path w="1429700" h="612313">
                <a:moveTo>
                  <a:pt x="0" y="612313"/>
                </a:moveTo>
                <a:lnTo>
                  <a:pt x="16959" y="605050"/>
                </a:lnTo>
                <a:lnTo>
                  <a:pt x="33918" y="597787"/>
                </a:lnTo>
                <a:lnTo>
                  <a:pt x="50877" y="590524"/>
                </a:lnTo>
                <a:lnTo>
                  <a:pt x="67836" y="583261"/>
                </a:lnTo>
                <a:lnTo>
                  <a:pt x="84795" y="575997"/>
                </a:lnTo>
                <a:lnTo>
                  <a:pt x="101754" y="568734"/>
                </a:lnTo>
                <a:lnTo>
                  <a:pt x="118713" y="561471"/>
                </a:lnTo>
                <a:lnTo>
                  <a:pt x="135672" y="554208"/>
                </a:lnTo>
                <a:lnTo>
                  <a:pt x="152631" y="546945"/>
                </a:lnTo>
                <a:lnTo>
                  <a:pt x="169590" y="539681"/>
                </a:lnTo>
                <a:lnTo>
                  <a:pt x="186549" y="532418"/>
                </a:lnTo>
                <a:lnTo>
                  <a:pt x="203508" y="525155"/>
                </a:lnTo>
                <a:lnTo>
                  <a:pt x="220467" y="517892"/>
                </a:lnTo>
                <a:lnTo>
                  <a:pt x="237425" y="510629"/>
                </a:lnTo>
                <a:lnTo>
                  <a:pt x="254384" y="503365"/>
                </a:lnTo>
                <a:lnTo>
                  <a:pt x="271343" y="496102"/>
                </a:lnTo>
                <a:lnTo>
                  <a:pt x="288302" y="488839"/>
                </a:lnTo>
                <a:lnTo>
                  <a:pt x="305261" y="481576"/>
                </a:lnTo>
                <a:lnTo>
                  <a:pt x="322220" y="474313"/>
                </a:lnTo>
                <a:lnTo>
                  <a:pt x="339179" y="467049"/>
                </a:lnTo>
                <a:lnTo>
                  <a:pt x="356138" y="459786"/>
                </a:lnTo>
                <a:lnTo>
                  <a:pt x="373097" y="452523"/>
                </a:lnTo>
                <a:lnTo>
                  <a:pt x="390056" y="445260"/>
                </a:lnTo>
                <a:lnTo>
                  <a:pt x="407015" y="437997"/>
                </a:lnTo>
                <a:lnTo>
                  <a:pt x="423974" y="430733"/>
                </a:lnTo>
                <a:lnTo>
                  <a:pt x="440933" y="423470"/>
                </a:lnTo>
                <a:lnTo>
                  <a:pt x="457892" y="416207"/>
                </a:lnTo>
                <a:lnTo>
                  <a:pt x="474851" y="408944"/>
                </a:lnTo>
                <a:lnTo>
                  <a:pt x="491810" y="401681"/>
                </a:lnTo>
                <a:lnTo>
                  <a:pt x="508769" y="394417"/>
                </a:lnTo>
                <a:lnTo>
                  <a:pt x="525728" y="387154"/>
                </a:lnTo>
                <a:lnTo>
                  <a:pt x="542687" y="379891"/>
                </a:lnTo>
                <a:lnTo>
                  <a:pt x="559646" y="372628"/>
                </a:lnTo>
                <a:lnTo>
                  <a:pt x="576605" y="365365"/>
                </a:lnTo>
                <a:lnTo>
                  <a:pt x="593564" y="358101"/>
                </a:lnTo>
                <a:lnTo>
                  <a:pt x="610523" y="350838"/>
                </a:lnTo>
                <a:lnTo>
                  <a:pt x="627482" y="343575"/>
                </a:lnTo>
                <a:lnTo>
                  <a:pt x="644441" y="336312"/>
                </a:lnTo>
                <a:lnTo>
                  <a:pt x="661400" y="329049"/>
                </a:lnTo>
                <a:lnTo>
                  <a:pt x="678359" y="321785"/>
                </a:lnTo>
                <a:lnTo>
                  <a:pt x="695317" y="314522"/>
                </a:lnTo>
                <a:lnTo>
                  <a:pt x="712276" y="307259"/>
                </a:lnTo>
                <a:lnTo>
                  <a:pt x="729235" y="299996"/>
                </a:lnTo>
                <a:lnTo>
                  <a:pt x="746194" y="292733"/>
                </a:lnTo>
                <a:lnTo>
                  <a:pt x="763153" y="285469"/>
                </a:lnTo>
                <a:lnTo>
                  <a:pt x="780112" y="278206"/>
                </a:lnTo>
                <a:lnTo>
                  <a:pt x="797071" y="270943"/>
                </a:lnTo>
                <a:lnTo>
                  <a:pt x="814030" y="263680"/>
                </a:lnTo>
                <a:lnTo>
                  <a:pt x="830989" y="256417"/>
                </a:lnTo>
                <a:lnTo>
                  <a:pt x="847948" y="249153"/>
                </a:lnTo>
                <a:lnTo>
                  <a:pt x="864907" y="241890"/>
                </a:lnTo>
                <a:lnTo>
                  <a:pt x="881866" y="234627"/>
                </a:lnTo>
                <a:lnTo>
                  <a:pt x="898825" y="227364"/>
                </a:lnTo>
                <a:lnTo>
                  <a:pt x="915784" y="220101"/>
                </a:lnTo>
                <a:lnTo>
                  <a:pt x="932743" y="212837"/>
                </a:lnTo>
                <a:lnTo>
                  <a:pt x="949702" y="205574"/>
                </a:lnTo>
                <a:lnTo>
                  <a:pt x="966661" y="198311"/>
                </a:lnTo>
                <a:lnTo>
                  <a:pt x="983620" y="191048"/>
                </a:lnTo>
                <a:lnTo>
                  <a:pt x="1000579" y="183785"/>
                </a:lnTo>
                <a:lnTo>
                  <a:pt x="1017538" y="176521"/>
                </a:lnTo>
                <a:lnTo>
                  <a:pt x="1034497" y="169258"/>
                </a:lnTo>
                <a:lnTo>
                  <a:pt x="1051456" y="161995"/>
                </a:lnTo>
                <a:lnTo>
                  <a:pt x="1068415" y="154732"/>
                </a:lnTo>
                <a:lnTo>
                  <a:pt x="1085374" y="147469"/>
                </a:lnTo>
                <a:lnTo>
                  <a:pt x="1102333" y="140205"/>
                </a:lnTo>
                <a:lnTo>
                  <a:pt x="1119292" y="132942"/>
                </a:lnTo>
                <a:lnTo>
                  <a:pt x="1136251" y="125679"/>
                </a:lnTo>
                <a:lnTo>
                  <a:pt x="1153209" y="118416"/>
                </a:lnTo>
                <a:lnTo>
                  <a:pt x="1170168" y="111153"/>
                </a:lnTo>
                <a:lnTo>
                  <a:pt x="1187127" y="103889"/>
                </a:lnTo>
                <a:lnTo>
                  <a:pt x="1204086" y="96626"/>
                </a:lnTo>
                <a:lnTo>
                  <a:pt x="1221045" y="89363"/>
                </a:lnTo>
                <a:lnTo>
                  <a:pt x="1238004" y="82100"/>
                </a:lnTo>
                <a:lnTo>
                  <a:pt x="1254963" y="74837"/>
                </a:lnTo>
                <a:lnTo>
                  <a:pt x="1271922" y="67573"/>
                </a:lnTo>
                <a:lnTo>
                  <a:pt x="1288881" y="60310"/>
                </a:lnTo>
                <a:lnTo>
                  <a:pt x="1305840" y="53047"/>
                </a:lnTo>
                <a:lnTo>
                  <a:pt x="1322799" y="45784"/>
                </a:lnTo>
                <a:lnTo>
                  <a:pt x="1339758" y="38521"/>
                </a:lnTo>
                <a:lnTo>
                  <a:pt x="1356717" y="31257"/>
                </a:lnTo>
                <a:lnTo>
                  <a:pt x="1373676" y="23994"/>
                </a:lnTo>
                <a:lnTo>
                  <a:pt x="1390635" y="16731"/>
                </a:lnTo>
                <a:lnTo>
                  <a:pt x="1407594" y="9468"/>
                </a:lnTo>
                <a:lnTo>
                  <a:pt x="1424553" y="2205"/>
                </a:lnTo>
                <a:lnTo>
                  <a:pt x="1429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97480"/>
            </a:solidFill>
            <a:prstDash val="solid"/>
          </a:ln>
        </p:spPr>
      </p:sp>
      <p:sp>
        <p:nvSpPr>
          <p:cNvPr id="281" name="Vector 281">
            <a:extLst xmlns:a="http://schemas.openxmlformats.org/drawingml/2006/main">
              <a:ext uri="{FF2B5EF4-FFF2-40B4-BE49-F238E27FC236}">
                <a16:creationId xmlns:a16="http://schemas.microsoft.com/office/drawing/2014/main" id="{459996C6-F19C-4C2A-988A-5AFCE581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884" y="5282809"/>
            <a:ext cx="1114144" cy="477167"/>
          </a:xfrm>
          <a:custGeom xmlns:a="http://schemas.openxmlformats.org/drawingml/2006/main">
            <a:pathLst>
              <a:path w="1114144" h="477167">
                <a:moveTo>
                  <a:pt x="0" y="477167"/>
                </a:moveTo>
                <a:lnTo>
                  <a:pt x="11812" y="472108"/>
                </a:lnTo>
                <a:lnTo>
                  <a:pt x="28770" y="464845"/>
                </a:lnTo>
                <a:lnTo>
                  <a:pt x="45729" y="457582"/>
                </a:lnTo>
                <a:lnTo>
                  <a:pt x="62688" y="450319"/>
                </a:lnTo>
                <a:lnTo>
                  <a:pt x="79647" y="443055"/>
                </a:lnTo>
                <a:lnTo>
                  <a:pt x="96606" y="435792"/>
                </a:lnTo>
                <a:lnTo>
                  <a:pt x="113565" y="428529"/>
                </a:lnTo>
                <a:lnTo>
                  <a:pt x="130524" y="421266"/>
                </a:lnTo>
                <a:lnTo>
                  <a:pt x="147483" y="414002"/>
                </a:lnTo>
                <a:lnTo>
                  <a:pt x="164442" y="406739"/>
                </a:lnTo>
                <a:lnTo>
                  <a:pt x="181401" y="399476"/>
                </a:lnTo>
                <a:lnTo>
                  <a:pt x="198360" y="392213"/>
                </a:lnTo>
                <a:lnTo>
                  <a:pt x="215319" y="384950"/>
                </a:lnTo>
                <a:lnTo>
                  <a:pt x="232278" y="377686"/>
                </a:lnTo>
                <a:lnTo>
                  <a:pt x="249237" y="370423"/>
                </a:lnTo>
                <a:lnTo>
                  <a:pt x="266196" y="363160"/>
                </a:lnTo>
                <a:lnTo>
                  <a:pt x="283155" y="355897"/>
                </a:lnTo>
                <a:lnTo>
                  <a:pt x="300114" y="348634"/>
                </a:lnTo>
                <a:lnTo>
                  <a:pt x="317073" y="341370"/>
                </a:lnTo>
                <a:lnTo>
                  <a:pt x="334032" y="334107"/>
                </a:lnTo>
                <a:lnTo>
                  <a:pt x="350991" y="326844"/>
                </a:lnTo>
                <a:lnTo>
                  <a:pt x="367950" y="319581"/>
                </a:lnTo>
                <a:lnTo>
                  <a:pt x="384909" y="312318"/>
                </a:lnTo>
                <a:lnTo>
                  <a:pt x="401868" y="305054"/>
                </a:lnTo>
                <a:lnTo>
                  <a:pt x="418827" y="297791"/>
                </a:lnTo>
                <a:lnTo>
                  <a:pt x="435786" y="290528"/>
                </a:lnTo>
                <a:lnTo>
                  <a:pt x="452745" y="283265"/>
                </a:lnTo>
                <a:lnTo>
                  <a:pt x="469704" y="276002"/>
                </a:lnTo>
                <a:lnTo>
                  <a:pt x="486662" y="268738"/>
                </a:lnTo>
                <a:lnTo>
                  <a:pt x="503621" y="261475"/>
                </a:lnTo>
                <a:lnTo>
                  <a:pt x="520580" y="254212"/>
                </a:lnTo>
                <a:lnTo>
                  <a:pt x="537539" y="246949"/>
                </a:lnTo>
                <a:lnTo>
                  <a:pt x="554498" y="239686"/>
                </a:lnTo>
                <a:lnTo>
                  <a:pt x="571457" y="232422"/>
                </a:lnTo>
                <a:lnTo>
                  <a:pt x="588416" y="225159"/>
                </a:lnTo>
                <a:lnTo>
                  <a:pt x="605375" y="217896"/>
                </a:lnTo>
                <a:lnTo>
                  <a:pt x="622334" y="210633"/>
                </a:lnTo>
                <a:lnTo>
                  <a:pt x="639293" y="203370"/>
                </a:lnTo>
                <a:lnTo>
                  <a:pt x="656252" y="196106"/>
                </a:lnTo>
                <a:lnTo>
                  <a:pt x="673211" y="188843"/>
                </a:lnTo>
                <a:lnTo>
                  <a:pt x="690170" y="181580"/>
                </a:lnTo>
                <a:lnTo>
                  <a:pt x="707129" y="174317"/>
                </a:lnTo>
                <a:lnTo>
                  <a:pt x="724088" y="167054"/>
                </a:lnTo>
                <a:lnTo>
                  <a:pt x="741047" y="159790"/>
                </a:lnTo>
                <a:lnTo>
                  <a:pt x="758006" y="152527"/>
                </a:lnTo>
                <a:lnTo>
                  <a:pt x="774965" y="145264"/>
                </a:lnTo>
                <a:lnTo>
                  <a:pt x="791924" y="138001"/>
                </a:lnTo>
                <a:lnTo>
                  <a:pt x="808883" y="130738"/>
                </a:lnTo>
                <a:lnTo>
                  <a:pt x="825842" y="123474"/>
                </a:lnTo>
                <a:lnTo>
                  <a:pt x="842801" y="116211"/>
                </a:lnTo>
                <a:lnTo>
                  <a:pt x="859760" y="108948"/>
                </a:lnTo>
                <a:lnTo>
                  <a:pt x="876719" y="101685"/>
                </a:lnTo>
                <a:lnTo>
                  <a:pt x="893678" y="94422"/>
                </a:lnTo>
                <a:lnTo>
                  <a:pt x="910637" y="87158"/>
                </a:lnTo>
                <a:lnTo>
                  <a:pt x="927596" y="79895"/>
                </a:lnTo>
                <a:lnTo>
                  <a:pt x="944554" y="72632"/>
                </a:lnTo>
                <a:lnTo>
                  <a:pt x="961513" y="65369"/>
                </a:lnTo>
                <a:lnTo>
                  <a:pt x="978472" y="58106"/>
                </a:lnTo>
                <a:lnTo>
                  <a:pt x="995431" y="50842"/>
                </a:lnTo>
                <a:lnTo>
                  <a:pt x="1012390" y="43579"/>
                </a:lnTo>
                <a:lnTo>
                  <a:pt x="1029349" y="36316"/>
                </a:lnTo>
                <a:lnTo>
                  <a:pt x="1046308" y="29053"/>
                </a:lnTo>
                <a:lnTo>
                  <a:pt x="1063267" y="21790"/>
                </a:lnTo>
                <a:lnTo>
                  <a:pt x="1080226" y="14526"/>
                </a:lnTo>
                <a:lnTo>
                  <a:pt x="1097185" y="7263"/>
                </a:lnTo>
                <a:lnTo>
                  <a:pt x="1114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5E00"/>
            </a:solidFill>
            <a:prstDash val="solid"/>
          </a:ln>
        </p:spPr>
      </p:sp>
      <p:sp>
        <p:nvSpPr>
          <p:cNvPr id="282" name="Vector 282">
            <a:extLst xmlns:a="http://schemas.openxmlformats.org/drawingml/2006/main">
              <a:ext uri="{FF2B5EF4-FFF2-40B4-BE49-F238E27FC236}">
                <a16:creationId xmlns:a16="http://schemas.microsoft.com/office/drawing/2014/main" id="{C0E05F30-E943-48AB-9D05-94DCB99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5718113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dash"/>
          </a:ln>
        </p:spPr>
      </p:sp>
      <p:sp>
        <p:nvSpPr>
          <p:cNvPr id="283" name="Vector 283">
            <a:extLst xmlns:a="http://schemas.openxmlformats.org/drawingml/2006/main">
              <a:ext uri="{FF2B5EF4-FFF2-40B4-BE49-F238E27FC236}">
                <a16:creationId xmlns:a16="http://schemas.microsoft.com/office/drawing/2014/main" id="{584BFB96-3869-459C-B235-72DE1B1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884" y="4870126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dot"/>
          </a:ln>
        </p:spPr>
      </p:sp>
      <p:sp>
        <p:nvSpPr>
          <p:cNvPr id="284" name="Vector 284">
            <a:extLst xmlns:a="http://schemas.openxmlformats.org/drawingml/2006/main">
              <a:ext uri="{FF2B5EF4-FFF2-40B4-BE49-F238E27FC236}">
                <a16:creationId xmlns:a16="http://schemas.microsoft.com/office/drawing/2014/main" id="{1EEEE94A-B818-4257-9DFE-D144F85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4870126"/>
            <a:ext cx="10" cy="1906997"/>
          </a:xfrm>
          <a:custGeom xmlns:a="http://schemas.openxmlformats.org/drawingml/2006/main">
            <a:pathLst>
              <a:path w="10" h="1906997">
                <a:moveTo>
                  <a:pt x="0" y="19069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5" name="Vector 285">
            <a:extLst xmlns:a="http://schemas.openxmlformats.org/drawingml/2006/main">
              <a:ext uri="{FF2B5EF4-FFF2-40B4-BE49-F238E27FC236}">
                <a16:creationId xmlns:a16="http://schemas.microsoft.com/office/drawing/2014/main" id="{F4B74DD0-D655-4A26-AF85-70A544A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6777123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6" name="Text 286: Interaction HR 1.212 (1.094–1.343)">
            <a:extLst xmlns:a="http://schemas.openxmlformats.org/drawingml/2006/main">
              <a:ext uri="{FF2B5EF4-FFF2-40B4-BE49-F238E27FC236}">
                <a16:creationId xmlns:a16="http://schemas.microsoft.com/office/drawing/2014/main" id="{E40E1BE8-C7C6-491E-B7B2-1260BC72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74" y="4926957"/>
            <a:ext cx="181705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HR 1.212 (1.094–1.343)</a:t>
            </a:r>
          </a:p>
        </p:txBody>
      </p:sp>
      <p:sp>
        <p:nvSpPr>
          <p:cNvPr id="287" name="Text 287: P &lt;.001">
            <a:extLst xmlns:a="http://schemas.openxmlformats.org/drawingml/2006/main">
              <a:ext uri="{FF2B5EF4-FFF2-40B4-BE49-F238E27FC236}">
                <a16:creationId xmlns:a16="http://schemas.microsoft.com/office/drawing/2014/main" id="{8D3C7C5F-806F-48FD-A10A-359F9389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74" y="5054948"/>
            <a:ext cx="42256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&lt;.001</a:t>
            </a:r>
          </a:p>
        </p:txBody>
      </p:sp>
      <p:sp>
        <p:nvSpPr>
          <p:cNvPr id="288" name="Text 288: D  ESCORT-1ST | OS">
            <a:extLst xmlns:a="http://schemas.openxmlformats.org/drawingml/2006/main">
              <a:ext uri="{FF2B5EF4-FFF2-40B4-BE49-F238E27FC236}">
                <a16:creationId xmlns:a16="http://schemas.microsoft.com/office/drawing/2014/main" id="{722885EA-9E21-44DC-8048-BAD1F5BE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8487" y="4664005"/>
            <a:ext cx="140445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ESCORT-1ST | OS</a:t>
            </a:r>
          </a:p>
        </p:txBody>
      </p:sp>
      <p:sp>
        <p:nvSpPr>
          <p:cNvPr id="289" name="Vector 289">
            <a:extLst xmlns:a="http://schemas.openxmlformats.org/drawingml/2006/main">
              <a:ext uri="{FF2B5EF4-FFF2-40B4-BE49-F238E27FC236}">
                <a16:creationId xmlns:a16="http://schemas.microsoft.com/office/drawing/2014/main" id="{1E5A8F8D-F2F1-44A9-83F0-60E09DC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7492247"/>
            <a:ext cx="4422913" cy="476749"/>
          </a:xfrm>
          <a:custGeom xmlns:a="http://schemas.openxmlformats.org/drawingml/2006/main">
            <a:pathLst>
              <a:path w="4422913" h="476749">
                <a:moveTo>
                  <a:pt x="0" y="476749"/>
                </a:moveTo>
                <a:lnTo>
                  <a:pt x="4422913" y="476749"/>
                </a:lnTo>
                <a:lnTo>
                  <a:pt x="442291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0" name="Vector 290">
            <a:extLst xmlns:a="http://schemas.openxmlformats.org/drawingml/2006/main">
              <a:ext uri="{FF2B5EF4-FFF2-40B4-BE49-F238E27FC236}">
                <a16:creationId xmlns:a16="http://schemas.microsoft.com/office/drawing/2014/main" id="{AA5C6794-A849-454A-81BF-9AD05889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528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1" name="Vector 291">
            <a:extLst xmlns:a="http://schemas.openxmlformats.org/drawingml/2006/main">
              <a:ext uri="{FF2B5EF4-FFF2-40B4-BE49-F238E27FC236}">
                <a16:creationId xmlns:a16="http://schemas.microsoft.com/office/drawing/2014/main" id="{E59A2677-5A05-4DC3-B34B-730249C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780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2" name="Vector 292">
            <a:extLst xmlns:a="http://schemas.openxmlformats.org/drawingml/2006/main">
              <a:ext uri="{FF2B5EF4-FFF2-40B4-BE49-F238E27FC236}">
                <a16:creationId xmlns:a16="http://schemas.microsoft.com/office/drawing/2014/main" id="{B8A66B58-B3E2-42C5-8D57-D1C39F0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031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3" name="Vector 293">
            <a:extLst xmlns:a="http://schemas.openxmlformats.org/drawingml/2006/main">
              <a:ext uri="{FF2B5EF4-FFF2-40B4-BE49-F238E27FC236}">
                <a16:creationId xmlns:a16="http://schemas.microsoft.com/office/drawing/2014/main" id="{98E2F609-BA1E-4F90-9F86-25EFDF6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283" y="7925056"/>
            <a:ext cx="127539" cy="43940"/>
          </a:xfrm>
          <a:custGeom xmlns:a="http://schemas.openxmlformats.org/drawingml/2006/main">
            <a:pathLst>
              <a:path w="127539" h="43940">
                <a:moveTo>
                  <a:pt x="0" y="43940"/>
                </a:moveTo>
                <a:lnTo>
                  <a:pt x="127539" y="4394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4" name="Vector 294">
            <a:extLst xmlns:a="http://schemas.openxmlformats.org/drawingml/2006/main">
              <a:ext uri="{FF2B5EF4-FFF2-40B4-BE49-F238E27FC236}">
                <a16:creationId xmlns:a16="http://schemas.microsoft.com/office/drawing/2014/main" id="{AAE07DFB-F8FB-4D0E-8375-43D2525C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534" y="7881116"/>
            <a:ext cx="127539" cy="87880"/>
          </a:xfrm>
          <a:custGeom xmlns:a="http://schemas.openxmlformats.org/drawingml/2006/main">
            <a:pathLst>
              <a:path w="127539" h="87880">
                <a:moveTo>
                  <a:pt x="0" y="87880"/>
                </a:moveTo>
                <a:lnTo>
                  <a:pt x="127539" y="878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5" name="Vector 295">
            <a:extLst xmlns:a="http://schemas.openxmlformats.org/drawingml/2006/main">
              <a:ext uri="{FF2B5EF4-FFF2-40B4-BE49-F238E27FC236}">
                <a16:creationId xmlns:a16="http://schemas.microsoft.com/office/drawing/2014/main" id="{650D47FD-9371-447D-BA73-507011EB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786" y="7881116"/>
            <a:ext cx="127539" cy="87880"/>
          </a:xfrm>
          <a:custGeom xmlns:a="http://schemas.openxmlformats.org/drawingml/2006/main">
            <a:pathLst>
              <a:path w="127539" h="87880">
                <a:moveTo>
                  <a:pt x="0" y="87880"/>
                </a:moveTo>
                <a:lnTo>
                  <a:pt x="127539" y="878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6" name="Vector 296">
            <a:extLst xmlns:a="http://schemas.openxmlformats.org/drawingml/2006/main">
              <a:ext uri="{FF2B5EF4-FFF2-40B4-BE49-F238E27FC236}">
                <a16:creationId xmlns:a16="http://schemas.microsoft.com/office/drawing/2014/main" id="{B068D922-ADF4-4A98-99E2-B36E8AB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037" y="7851823"/>
            <a:ext cx="127539" cy="117173"/>
          </a:xfrm>
          <a:custGeom xmlns:a="http://schemas.openxmlformats.org/drawingml/2006/main">
            <a:pathLst>
              <a:path w="127539" h="117173">
                <a:moveTo>
                  <a:pt x="0" y="117173"/>
                </a:moveTo>
                <a:lnTo>
                  <a:pt x="127539" y="11717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7" name="Vector 297">
            <a:extLst xmlns:a="http://schemas.openxmlformats.org/drawingml/2006/main">
              <a:ext uri="{FF2B5EF4-FFF2-40B4-BE49-F238E27FC236}">
                <a16:creationId xmlns:a16="http://schemas.microsoft.com/office/drawing/2014/main" id="{A8AFF3E0-9862-42FE-B8B6-A3025398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288" y="7749296"/>
            <a:ext cx="127539" cy="219700"/>
          </a:xfrm>
          <a:custGeom xmlns:a="http://schemas.openxmlformats.org/drawingml/2006/main">
            <a:pathLst>
              <a:path w="127539" h="219700">
                <a:moveTo>
                  <a:pt x="0" y="219700"/>
                </a:moveTo>
                <a:lnTo>
                  <a:pt x="127539" y="21970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8" name="Vector 298">
            <a:extLst xmlns:a="http://schemas.openxmlformats.org/drawingml/2006/main">
              <a:ext uri="{FF2B5EF4-FFF2-40B4-BE49-F238E27FC236}">
                <a16:creationId xmlns:a16="http://schemas.microsoft.com/office/drawing/2014/main" id="{8F8D038E-7B2D-4479-844E-EFFAFDF8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40" y="7749296"/>
            <a:ext cx="127539" cy="219700"/>
          </a:xfrm>
          <a:custGeom xmlns:a="http://schemas.openxmlformats.org/drawingml/2006/main">
            <a:pathLst>
              <a:path w="127539" h="219700">
                <a:moveTo>
                  <a:pt x="0" y="219700"/>
                </a:moveTo>
                <a:lnTo>
                  <a:pt x="127539" y="21970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99" name="Vector 299">
            <a:extLst xmlns:a="http://schemas.openxmlformats.org/drawingml/2006/main">
              <a:ext uri="{FF2B5EF4-FFF2-40B4-BE49-F238E27FC236}">
                <a16:creationId xmlns:a16="http://schemas.microsoft.com/office/drawing/2014/main" id="{84825F7F-F5DB-4056-A875-B745133C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791" y="7602829"/>
            <a:ext cx="127539" cy="366167"/>
          </a:xfrm>
          <a:custGeom xmlns:a="http://schemas.openxmlformats.org/drawingml/2006/main">
            <a:pathLst>
              <a:path w="127539" h="366167">
                <a:moveTo>
                  <a:pt x="0" y="366167"/>
                </a:moveTo>
                <a:lnTo>
                  <a:pt x="127539" y="36616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0" name="Vector 300">
            <a:extLst xmlns:a="http://schemas.openxmlformats.org/drawingml/2006/main">
              <a:ext uri="{FF2B5EF4-FFF2-40B4-BE49-F238E27FC236}">
                <a16:creationId xmlns:a16="http://schemas.microsoft.com/office/drawing/2014/main" id="{4D908660-8ACF-443D-BE50-CA7DEE2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043" y="7632122"/>
            <a:ext cx="127539" cy="336874"/>
          </a:xfrm>
          <a:custGeom xmlns:a="http://schemas.openxmlformats.org/drawingml/2006/main">
            <a:pathLst>
              <a:path w="127539" h="336874">
                <a:moveTo>
                  <a:pt x="0" y="336874"/>
                </a:moveTo>
                <a:lnTo>
                  <a:pt x="127539" y="33687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1" name="Vector 301">
            <a:extLst xmlns:a="http://schemas.openxmlformats.org/drawingml/2006/main">
              <a:ext uri="{FF2B5EF4-FFF2-40B4-BE49-F238E27FC236}">
                <a16:creationId xmlns:a16="http://schemas.microsoft.com/office/drawing/2014/main" id="{2A3529B1-5A65-4BFF-A22B-7D39084F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294" y="7544242"/>
            <a:ext cx="127539" cy="424754"/>
          </a:xfrm>
          <a:custGeom xmlns:a="http://schemas.openxmlformats.org/drawingml/2006/main">
            <a:pathLst>
              <a:path w="127539" h="424754">
                <a:moveTo>
                  <a:pt x="0" y="424754"/>
                </a:moveTo>
                <a:lnTo>
                  <a:pt x="127539" y="42475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2" name="Vector 302">
            <a:extLst xmlns:a="http://schemas.openxmlformats.org/drawingml/2006/main">
              <a:ext uri="{FF2B5EF4-FFF2-40B4-BE49-F238E27FC236}">
                <a16:creationId xmlns:a16="http://schemas.microsoft.com/office/drawing/2014/main" id="{1A2DEA36-78F6-44B7-8B1D-324944A7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546" y="7676063"/>
            <a:ext cx="127539" cy="292933"/>
          </a:xfrm>
          <a:custGeom xmlns:a="http://schemas.openxmlformats.org/drawingml/2006/main">
            <a:pathLst>
              <a:path w="127539" h="292933">
                <a:moveTo>
                  <a:pt x="0" y="292933"/>
                </a:moveTo>
                <a:lnTo>
                  <a:pt x="127539" y="29293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3" name="Vector 303">
            <a:extLst xmlns:a="http://schemas.openxmlformats.org/drawingml/2006/main">
              <a:ext uri="{FF2B5EF4-FFF2-40B4-BE49-F238E27FC236}">
                <a16:creationId xmlns:a16="http://schemas.microsoft.com/office/drawing/2014/main" id="{2FEECAE8-0B61-4E71-A267-FF76E49F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797" y="7544242"/>
            <a:ext cx="127539" cy="424754"/>
          </a:xfrm>
          <a:custGeom xmlns:a="http://schemas.openxmlformats.org/drawingml/2006/main">
            <a:pathLst>
              <a:path w="127539" h="424754">
                <a:moveTo>
                  <a:pt x="0" y="424754"/>
                </a:moveTo>
                <a:lnTo>
                  <a:pt x="127539" y="42475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4" name="Vector 304">
            <a:extLst xmlns:a="http://schemas.openxmlformats.org/drawingml/2006/main">
              <a:ext uri="{FF2B5EF4-FFF2-40B4-BE49-F238E27FC236}">
                <a16:creationId xmlns:a16="http://schemas.microsoft.com/office/drawing/2014/main" id="{9647BF88-0AD0-49BA-8A37-AAA50CCC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048" y="7661416"/>
            <a:ext cx="127539" cy="307580"/>
          </a:xfrm>
          <a:custGeom xmlns:a="http://schemas.openxmlformats.org/drawingml/2006/main">
            <a:pathLst>
              <a:path w="127539" h="307580">
                <a:moveTo>
                  <a:pt x="0" y="307580"/>
                </a:moveTo>
                <a:lnTo>
                  <a:pt x="127539" y="3075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5" name="Vector 305">
            <a:extLst xmlns:a="http://schemas.openxmlformats.org/drawingml/2006/main">
              <a:ext uri="{FF2B5EF4-FFF2-40B4-BE49-F238E27FC236}">
                <a16:creationId xmlns:a16="http://schemas.microsoft.com/office/drawing/2014/main" id="{30134FD0-9F99-435D-8AB3-BD563F45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300" y="7558889"/>
            <a:ext cx="127539" cy="410107"/>
          </a:xfrm>
          <a:custGeom xmlns:a="http://schemas.openxmlformats.org/drawingml/2006/main">
            <a:pathLst>
              <a:path w="127539" h="410107">
                <a:moveTo>
                  <a:pt x="0" y="410107"/>
                </a:moveTo>
                <a:lnTo>
                  <a:pt x="127539" y="41010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6" name="Vector 306">
            <a:extLst xmlns:a="http://schemas.openxmlformats.org/drawingml/2006/main">
              <a:ext uri="{FF2B5EF4-FFF2-40B4-BE49-F238E27FC236}">
                <a16:creationId xmlns:a16="http://schemas.microsoft.com/office/drawing/2014/main" id="{0D4BB874-5F83-40D8-AAB4-624E533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551" y="7632122"/>
            <a:ext cx="127539" cy="336874"/>
          </a:xfrm>
          <a:custGeom xmlns:a="http://schemas.openxmlformats.org/drawingml/2006/main">
            <a:pathLst>
              <a:path w="127539" h="336874">
                <a:moveTo>
                  <a:pt x="0" y="336874"/>
                </a:moveTo>
                <a:lnTo>
                  <a:pt x="127539" y="336874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7" name="Vector 307">
            <a:extLst xmlns:a="http://schemas.openxmlformats.org/drawingml/2006/main">
              <a:ext uri="{FF2B5EF4-FFF2-40B4-BE49-F238E27FC236}">
                <a16:creationId xmlns:a16="http://schemas.microsoft.com/office/drawing/2014/main" id="{19939105-0276-4441-B25A-5646AFF4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03" y="7514949"/>
            <a:ext cx="127539" cy="454047"/>
          </a:xfrm>
          <a:custGeom xmlns:a="http://schemas.openxmlformats.org/drawingml/2006/main">
            <a:pathLst>
              <a:path w="127539" h="454047">
                <a:moveTo>
                  <a:pt x="0" y="454047"/>
                </a:moveTo>
                <a:lnTo>
                  <a:pt x="127539" y="4540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8" name="Vector 308">
            <a:extLst xmlns:a="http://schemas.openxmlformats.org/drawingml/2006/main">
              <a:ext uri="{FF2B5EF4-FFF2-40B4-BE49-F238E27FC236}">
                <a16:creationId xmlns:a16="http://schemas.microsoft.com/office/drawing/2014/main" id="{3E10BF71-0CFD-4002-BFFC-8FEA9AD3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54" y="7763943"/>
            <a:ext cx="127539" cy="205053"/>
          </a:xfrm>
          <a:custGeom xmlns:a="http://schemas.openxmlformats.org/drawingml/2006/main">
            <a:pathLst>
              <a:path w="127539" h="205053">
                <a:moveTo>
                  <a:pt x="0" y="205053"/>
                </a:moveTo>
                <a:lnTo>
                  <a:pt x="127539" y="20505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09" name="Vector 309">
            <a:extLst xmlns:a="http://schemas.openxmlformats.org/drawingml/2006/main">
              <a:ext uri="{FF2B5EF4-FFF2-40B4-BE49-F238E27FC236}">
                <a16:creationId xmlns:a16="http://schemas.microsoft.com/office/drawing/2014/main" id="{305B1096-8CBE-43C1-A80C-63A7013D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305" y="7837176"/>
            <a:ext cx="127539" cy="131820"/>
          </a:xfrm>
          <a:custGeom xmlns:a="http://schemas.openxmlformats.org/drawingml/2006/main">
            <a:pathLst>
              <a:path w="127539" h="131820">
                <a:moveTo>
                  <a:pt x="0" y="131820"/>
                </a:moveTo>
                <a:lnTo>
                  <a:pt x="127539" y="13182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0" name="Vector 310">
            <a:extLst xmlns:a="http://schemas.openxmlformats.org/drawingml/2006/main">
              <a:ext uri="{FF2B5EF4-FFF2-40B4-BE49-F238E27FC236}">
                <a16:creationId xmlns:a16="http://schemas.microsoft.com/office/drawing/2014/main" id="{05DE8E25-578E-4F8E-A425-4C8A450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557" y="7720003"/>
            <a:ext cx="127539" cy="248993"/>
          </a:xfrm>
          <a:custGeom xmlns:a="http://schemas.openxmlformats.org/drawingml/2006/main">
            <a:pathLst>
              <a:path w="127539" h="248993">
                <a:moveTo>
                  <a:pt x="0" y="248993"/>
                </a:moveTo>
                <a:lnTo>
                  <a:pt x="127539" y="24899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1" name="Vector 311">
            <a:extLst xmlns:a="http://schemas.openxmlformats.org/drawingml/2006/main">
              <a:ext uri="{FF2B5EF4-FFF2-40B4-BE49-F238E27FC236}">
                <a16:creationId xmlns:a16="http://schemas.microsoft.com/office/drawing/2014/main" id="{C8A46D39-5EF2-4AA2-A969-23AEC80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08" y="7793236"/>
            <a:ext cx="127539" cy="175760"/>
          </a:xfrm>
          <a:custGeom xmlns:a="http://schemas.openxmlformats.org/drawingml/2006/main">
            <a:pathLst>
              <a:path w="127539" h="175760">
                <a:moveTo>
                  <a:pt x="0" y="175760"/>
                </a:moveTo>
                <a:lnTo>
                  <a:pt x="127539" y="17576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2" name="Vector 312">
            <a:extLst xmlns:a="http://schemas.openxmlformats.org/drawingml/2006/main">
              <a:ext uri="{FF2B5EF4-FFF2-40B4-BE49-F238E27FC236}">
                <a16:creationId xmlns:a16="http://schemas.microsoft.com/office/drawing/2014/main" id="{AD80B548-7668-4C32-AB98-79D553F9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60" y="7837176"/>
            <a:ext cx="127539" cy="131820"/>
          </a:xfrm>
          <a:custGeom xmlns:a="http://schemas.openxmlformats.org/drawingml/2006/main">
            <a:pathLst>
              <a:path w="127539" h="131820">
                <a:moveTo>
                  <a:pt x="0" y="131820"/>
                </a:moveTo>
                <a:lnTo>
                  <a:pt x="127539" y="13182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3" name="Vector 313">
            <a:extLst xmlns:a="http://schemas.openxmlformats.org/drawingml/2006/main">
              <a:ext uri="{FF2B5EF4-FFF2-40B4-BE49-F238E27FC236}">
                <a16:creationId xmlns:a16="http://schemas.microsoft.com/office/drawing/2014/main" id="{B526E0A6-2E7C-48BD-9074-C998FBF8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311" y="7881116"/>
            <a:ext cx="127539" cy="87880"/>
          </a:xfrm>
          <a:custGeom xmlns:a="http://schemas.openxmlformats.org/drawingml/2006/main">
            <a:pathLst>
              <a:path w="127539" h="87880">
                <a:moveTo>
                  <a:pt x="0" y="87880"/>
                </a:moveTo>
                <a:lnTo>
                  <a:pt x="127539" y="8788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4" name="Vector 314">
            <a:extLst xmlns:a="http://schemas.openxmlformats.org/drawingml/2006/main">
              <a:ext uri="{FF2B5EF4-FFF2-40B4-BE49-F238E27FC236}">
                <a16:creationId xmlns:a16="http://schemas.microsoft.com/office/drawing/2014/main" id="{5C2D0704-B020-4B04-9CAB-CD4ED15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563" y="7910409"/>
            <a:ext cx="127539" cy="58587"/>
          </a:xfrm>
          <a:custGeom xmlns:a="http://schemas.openxmlformats.org/drawingml/2006/main">
            <a:pathLst>
              <a:path w="127539" h="58587">
                <a:moveTo>
                  <a:pt x="0" y="58587"/>
                </a:moveTo>
                <a:lnTo>
                  <a:pt x="127539" y="5858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5" name="Vector 315">
            <a:extLst xmlns:a="http://schemas.openxmlformats.org/drawingml/2006/main">
              <a:ext uri="{FF2B5EF4-FFF2-40B4-BE49-F238E27FC236}">
                <a16:creationId xmlns:a16="http://schemas.microsoft.com/office/drawing/2014/main" id="{2748F1B0-F49E-4E19-8E14-AAFEFA8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4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6" name="Vector 316">
            <a:extLst xmlns:a="http://schemas.openxmlformats.org/drawingml/2006/main">
              <a:ext uri="{FF2B5EF4-FFF2-40B4-BE49-F238E27FC236}">
                <a16:creationId xmlns:a16="http://schemas.microsoft.com/office/drawing/2014/main" id="{787134B7-439E-4F19-977C-6B1F931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065" y="7939703"/>
            <a:ext cx="127539" cy="29293"/>
          </a:xfrm>
          <a:custGeom xmlns:a="http://schemas.openxmlformats.org/drawingml/2006/main">
            <a:pathLst>
              <a:path w="127539" h="29293">
                <a:moveTo>
                  <a:pt x="0" y="29293"/>
                </a:moveTo>
                <a:lnTo>
                  <a:pt x="127539" y="29293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7" name="Vector 317">
            <a:extLst xmlns:a="http://schemas.openxmlformats.org/drawingml/2006/main">
              <a:ext uri="{FF2B5EF4-FFF2-40B4-BE49-F238E27FC236}">
                <a16:creationId xmlns:a16="http://schemas.microsoft.com/office/drawing/2014/main" id="{7F1E8E1C-FF1A-4CDC-BBAC-23789E6C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317" y="7968996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8" name="Vector 318">
            <a:extLst xmlns:a="http://schemas.openxmlformats.org/drawingml/2006/main">
              <a:ext uri="{FF2B5EF4-FFF2-40B4-BE49-F238E27FC236}">
                <a16:creationId xmlns:a16="http://schemas.microsoft.com/office/drawing/2014/main" id="{D8EB92A6-3903-4803-ADBD-25C5061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568" y="7968996"/>
            <a:ext cx="127539" cy="10"/>
          </a:xfrm>
          <a:custGeom xmlns:a="http://schemas.openxmlformats.org/drawingml/2006/main">
            <a:pathLst>
              <a:path w="127539" h="10">
                <a:moveTo>
                  <a:pt x="0" y="0"/>
                </a:moveTo>
                <a:lnTo>
                  <a:pt x="127539" y="0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19" name="Vector 319">
            <a:extLst xmlns:a="http://schemas.openxmlformats.org/drawingml/2006/main">
              <a:ext uri="{FF2B5EF4-FFF2-40B4-BE49-F238E27FC236}">
                <a16:creationId xmlns:a16="http://schemas.microsoft.com/office/drawing/2014/main" id="{64681862-3C04-4FC7-B40E-361E533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2820" y="7954349"/>
            <a:ext cx="127539" cy="14647"/>
          </a:xfrm>
          <a:custGeom xmlns:a="http://schemas.openxmlformats.org/drawingml/2006/main">
            <a:pathLst>
              <a:path w="127539" h="14647">
                <a:moveTo>
                  <a:pt x="0" y="14647"/>
                </a:moveTo>
                <a:lnTo>
                  <a:pt x="127539" y="14647"/>
                </a:lnTo>
                <a:lnTo>
                  <a:pt x="1275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20" name="m2fe37c5cf0 320">
            <a:extLst xmlns:a="http://schemas.openxmlformats.org/drawingml/2006/main">
              <a:ext uri="{FF2B5EF4-FFF2-40B4-BE49-F238E27FC236}">
                <a16:creationId xmlns:a16="http://schemas.microsoft.com/office/drawing/2014/main" id="{DBA25FCA-8E49-49A7-A927-E30D504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29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1" name="Text 321: −8">
            <a:extLst xmlns:a="http://schemas.openxmlformats.org/drawingml/2006/main">
              <a:ext uri="{FF2B5EF4-FFF2-40B4-BE49-F238E27FC236}">
                <a16:creationId xmlns:a16="http://schemas.microsoft.com/office/drawing/2014/main" id="{287BD2B1-BBFA-4491-A5D2-BA3AE56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1939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−8</a:t>
            </a:r>
          </a:p>
        </p:txBody>
      </p:sp>
      <p:sp>
        <p:nvSpPr>
          <p:cNvPr id="322" name="m2fe37c5cf0 322">
            <a:extLst xmlns:a="http://schemas.openxmlformats.org/drawingml/2006/main">
              <a:ext uri="{FF2B5EF4-FFF2-40B4-BE49-F238E27FC236}">
                <a16:creationId xmlns:a16="http://schemas.microsoft.com/office/drawing/2014/main" id="{367B3E95-0A56-41B8-912F-7A7B2ADC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993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3" name="Text 323: −6">
            <a:extLst xmlns:a="http://schemas.openxmlformats.org/drawingml/2006/main">
              <a:ext uri="{FF2B5EF4-FFF2-40B4-BE49-F238E27FC236}">
                <a16:creationId xmlns:a16="http://schemas.microsoft.com/office/drawing/2014/main" id="{0202FD6B-8425-4E04-BBE3-43AC692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03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−6</a:t>
            </a:r>
          </a:p>
        </p:txBody>
      </p:sp>
      <p:sp>
        <p:nvSpPr>
          <p:cNvPr id="324" name="m2fe37c5cf0 324">
            <a:extLst xmlns:a="http://schemas.openxmlformats.org/drawingml/2006/main">
              <a:ext uri="{FF2B5EF4-FFF2-40B4-BE49-F238E27FC236}">
                <a16:creationId xmlns:a16="http://schemas.microsoft.com/office/drawing/2014/main" id="{9ABD27CB-1EF3-42B3-8B2F-D99ACB9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956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5" name="Text 325: −4">
            <a:extLst xmlns:a="http://schemas.openxmlformats.org/drawingml/2006/main">
              <a:ext uri="{FF2B5EF4-FFF2-40B4-BE49-F238E27FC236}">
                <a16:creationId xmlns:a16="http://schemas.microsoft.com/office/drawing/2014/main" id="{A76C27FF-8237-482B-AE19-B332815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866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−4</a:t>
            </a:r>
          </a:p>
        </p:txBody>
      </p:sp>
      <p:sp>
        <p:nvSpPr>
          <p:cNvPr id="326" name="m2fe37c5cf0 326">
            <a:extLst xmlns:a="http://schemas.openxmlformats.org/drawingml/2006/main">
              <a:ext uri="{FF2B5EF4-FFF2-40B4-BE49-F238E27FC236}">
                <a16:creationId xmlns:a16="http://schemas.microsoft.com/office/drawing/2014/main" id="{30CF1B74-5CFC-4AD6-B8E1-542324A9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7" name="Text 327: −2">
            <a:extLst xmlns:a="http://schemas.openxmlformats.org/drawingml/2006/main">
              <a:ext uri="{FF2B5EF4-FFF2-40B4-BE49-F238E27FC236}">
                <a16:creationId xmlns:a16="http://schemas.microsoft.com/office/drawing/2014/main" id="{D3D1AD9D-FCB2-4E51-B758-B2E4011F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8830" y="8036286"/>
            <a:ext cx="17018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−2</a:t>
            </a:r>
          </a:p>
        </p:txBody>
      </p:sp>
      <p:sp>
        <p:nvSpPr>
          <p:cNvPr id="328" name="m2fe37c5cf0 328">
            <a:extLst xmlns:a="http://schemas.openxmlformats.org/drawingml/2006/main">
              <a:ext uri="{FF2B5EF4-FFF2-40B4-BE49-F238E27FC236}">
                <a16:creationId xmlns:a16="http://schemas.microsoft.com/office/drawing/2014/main" id="{13041DD1-FDC3-41A0-A906-E34456AE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884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9" name="Text 329: 0">
            <a:extLst xmlns:a="http://schemas.openxmlformats.org/drawingml/2006/main">
              <a:ext uri="{FF2B5EF4-FFF2-40B4-BE49-F238E27FC236}">
                <a16:creationId xmlns:a16="http://schemas.microsoft.com/office/drawing/2014/main" id="{4BFCAB88-93A4-430D-9863-1415F55C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4878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0" name="m2fe37c5cf0 330">
            <a:extLst xmlns:a="http://schemas.openxmlformats.org/drawingml/2006/main">
              <a:ext uri="{FF2B5EF4-FFF2-40B4-BE49-F238E27FC236}">
                <a16:creationId xmlns:a16="http://schemas.microsoft.com/office/drawing/2014/main" id="{2FB75DC6-B5D9-4330-A6F3-C568009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47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31" name="Text 331: 2">
            <a:extLst xmlns:a="http://schemas.openxmlformats.org/drawingml/2006/main">
              <a:ext uri="{FF2B5EF4-FFF2-40B4-BE49-F238E27FC236}">
                <a16:creationId xmlns:a16="http://schemas.microsoft.com/office/drawing/2014/main" id="{D92056A1-5F50-41C9-B4BC-48128DF0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841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2" name="m2fe37c5cf0 332">
            <a:extLst xmlns:a="http://schemas.openxmlformats.org/drawingml/2006/main">
              <a:ext uri="{FF2B5EF4-FFF2-40B4-BE49-F238E27FC236}">
                <a16:creationId xmlns:a16="http://schemas.microsoft.com/office/drawing/2014/main" id="{2258E93B-F33B-4FAA-8EE3-57067D2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811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33" name="Text 333: 4">
            <a:extLst xmlns:a="http://schemas.openxmlformats.org/drawingml/2006/main">
              <a:ext uri="{FF2B5EF4-FFF2-40B4-BE49-F238E27FC236}">
                <a16:creationId xmlns:a16="http://schemas.microsoft.com/office/drawing/2014/main" id="{A97640AE-5E32-421F-BD57-8993860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805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4" name="m2fe37c5cf0 334">
            <a:extLst xmlns:a="http://schemas.openxmlformats.org/drawingml/2006/main">
              <a:ext uri="{FF2B5EF4-FFF2-40B4-BE49-F238E27FC236}">
                <a16:creationId xmlns:a16="http://schemas.microsoft.com/office/drawing/2014/main" id="{5E7983C2-11BC-4243-A366-DAC851B9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775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35" name="Text 335: 6">
            <a:extLst xmlns:a="http://schemas.openxmlformats.org/drawingml/2006/main">
              <a:ext uri="{FF2B5EF4-FFF2-40B4-BE49-F238E27FC236}">
                <a16:creationId xmlns:a16="http://schemas.microsoft.com/office/drawing/2014/main" id="{3B06E830-5386-4E70-8FA2-30EDD6D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769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6" name="m2fe37c5cf0 336">
            <a:extLst xmlns:a="http://schemas.openxmlformats.org/drawingml/2006/main">
              <a:ext uri="{FF2B5EF4-FFF2-40B4-BE49-F238E27FC236}">
                <a16:creationId xmlns:a16="http://schemas.microsoft.com/office/drawing/2014/main" id="{18566CD9-DF4E-44C2-806F-B05356D7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738" y="796899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37" name="Text 337: 8">
            <a:extLst xmlns:a="http://schemas.openxmlformats.org/drawingml/2006/main">
              <a:ext uri="{FF2B5EF4-FFF2-40B4-BE49-F238E27FC236}">
                <a16:creationId xmlns:a16="http://schemas.microsoft.com/office/drawing/2014/main" id="{6382E21C-F461-4FD7-9510-E67D75F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0732" y="803628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8" name="Text 338: Predicted log HR(z)">
            <a:extLst xmlns:a="http://schemas.openxmlformats.org/drawingml/2006/main">
              <a:ext uri="{FF2B5EF4-FFF2-40B4-BE49-F238E27FC236}">
                <a16:creationId xmlns:a16="http://schemas.microsoft.com/office/drawing/2014/main" id="{025E9033-37AA-4F1C-9EA4-A5F3084C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3269" y="8209998"/>
            <a:ext cx="113334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Predicted log HR(z)</a:t>
            </a:r>
          </a:p>
        </p:txBody>
      </p:sp>
      <p:sp>
        <p:nvSpPr>
          <p:cNvPr id="339" name="m5b7ecc52a7 339">
            <a:extLst xmlns:a="http://schemas.openxmlformats.org/drawingml/2006/main">
              <a:ext uri="{FF2B5EF4-FFF2-40B4-BE49-F238E27FC236}">
                <a16:creationId xmlns:a16="http://schemas.microsoft.com/office/drawing/2014/main" id="{895B31D4-4F46-43D4-A2C5-F2A50073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796899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40" name="Text 340: 0">
            <a:extLst xmlns:a="http://schemas.openxmlformats.org/drawingml/2006/main">
              <a:ext uri="{FF2B5EF4-FFF2-40B4-BE49-F238E27FC236}">
                <a16:creationId xmlns:a16="http://schemas.microsoft.com/office/drawing/2014/main" id="{E76E9FA6-25ED-4BE5-80C8-30DD4D6B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575" y="7899136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1" name="m5b7ecc52a7 341">
            <a:extLst xmlns:a="http://schemas.openxmlformats.org/drawingml/2006/main">
              <a:ext uri="{FF2B5EF4-FFF2-40B4-BE49-F238E27FC236}">
                <a16:creationId xmlns:a16="http://schemas.microsoft.com/office/drawing/2014/main" id="{8874AB09-667B-4708-BE1F-93F78345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037" y="76028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42" name="Text 342: 25">
            <a:extLst xmlns:a="http://schemas.openxmlformats.org/drawingml/2006/main">
              <a:ext uri="{FF2B5EF4-FFF2-40B4-BE49-F238E27FC236}">
                <a16:creationId xmlns:a16="http://schemas.microsoft.com/office/drawing/2014/main" id="{20C8B715-9C2E-406B-8DF8-B5EA8733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2963" y="7532969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43" name="Text 343: Patients">
            <a:extLst xmlns:a="http://schemas.openxmlformats.org/drawingml/2006/main">
              <a:ext uri="{FF2B5EF4-FFF2-40B4-BE49-F238E27FC236}">
                <a16:creationId xmlns:a16="http://schemas.microsoft.com/office/drawing/2014/main" id="{E13DA8FB-5A31-4CA9-AF89-71A710C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202222" y="7656326"/>
            <a:ext cx="43836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44" name="Vector 344">
            <a:extLst xmlns:a="http://schemas.openxmlformats.org/drawingml/2006/main">
              <a:ext uri="{FF2B5EF4-FFF2-40B4-BE49-F238E27FC236}">
                <a16:creationId xmlns:a16="http://schemas.microsoft.com/office/drawing/2014/main" id="{B911051F-644B-4484-83B3-3252995E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7492247"/>
            <a:ext cx="10" cy="476749"/>
          </a:xfrm>
          <a:custGeom xmlns:a="http://schemas.openxmlformats.org/drawingml/2006/main">
            <a:pathLst>
              <a:path w="10" h="476749">
                <a:moveTo>
                  <a:pt x="0" y="4767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45" name="Vector 345">
            <a:extLst xmlns:a="http://schemas.openxmlformats.org/drawingml/2006/main">
              <a:ext uri="{FF2B5EF4-FFF2-40B4-BE49-F238E27FC236}">
                <a16:creationId xmlns:a16="http://schemas.microsoft.com/office/drawing/2014/main" id="{B38CC31E-23DE-4CB0-B047-586B3E3A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487" y="7968996"/>
            <a:ext cx="4422913" cy="10"/>
          </a:xfrm>
          <a:custGeom xmlns:a="http://schemas.openxmlformats.org/drawingml/2006/main">
            <a:pathLst>
              <a:path w="4422913" h="10">
                <a:moveTo>
                  <a:pt x="0" y="0"/>
                </a:moveTo>
                <a:lnTo>
                  <a:pt x="442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46" name="Text 346: Figure S3 | Continuous treatment interactions">
            <a:extLst xmlns:a="http://schemas.openxmlformats.org/drawingml/2006/main">
              <a:ext uri="{FF2B5EF4-FFF2-40B4-BE49-F238E27FC236}">
                <a16:creationId xmlns:a16="http://schemas.microsoft.com/office/drawing/2014/main" id="{CC8A6CA7-3F7D-456A-B714-FB9B3283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2289" y="156232"/>
            <a:ext cx="4365422" cy="280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S3 | Continuous treatment interactions</a:t>
            </a:r>
          </a:p>
        </p:txBody>
      </p:sp>
      <p:sp>
        <p:nvSpPr>
          <p:cNvPr id="347" name="Text 347: Raw predicted log HR(z); separate treatment × score Cox evaluation models">
            <a:extLst xmlns:a="http://schemas.openxmlformats.org/drawingml/2006/main">
              <a:ext uri="{FF2B5EF4-FFF2-40B4-BE49-F238E27FC236}">
                <a16:creationId xmlns:a16="http://schemas.microsoft.com/office/drawing/2014/main" id="{6E98A8BF-6B4F-4C50-921D-0B55D58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05968"/>
            <a:ext cx="432028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predicted log HR(z); separate treatment × score Cox evaluation models</a:t>
            </a:r>
          </a:p>
        </p:txBody>
      </p:sp>
      <p:sp>
        <p:nvSpPr>
          <p:cNvPr id="348" name="Text 348: Pointwise robust 95% CIs. JUPITER: ten-fold OOF, stratified by fold. ESCORT: frozen external, no fold strata.">
            <a:extLst xmlns:a="http://schemas.openxmlformats.org/drawingml/2006/main">
              <a:ext uri="{FF2B5EF4-FFF2-40B4-BE49-F238E27FC236}">
                <a16:creationId xmlns:a16="http://schemas.microsoft.com/office/drawing/2014/main" id="{41B9FFD4-329B-4961-9465-D0393EF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790838"/>
            <a:ext cx="557069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Pointwise robust 95% CIs. JUPITER: ten-fold OOF, stratified by fold. ESCORT: frozen external, no fold strata.</a:t>
            </a:r>
          </a:p>
        </p:txBody>
      </p:sp>
      <p:sp>
        <p:nvSpPr>
          <p:cNvPr id="349" name="Text 349: OS evaluates the PFS-derived score; the interaction HR is per one raw score unit.">
            <a:extLst xmlns:a="http://schemas.openxmlformats.org/drawingml/2006/main">
              <a:ext uri="{FF2B5EF4-FFF2-40B4-BE49-F238E27FC236}">
                <a16:creationId xmlns:a16="http://schemas.microsoft.com/office/drawing/2014/main" id="{6680C82B-CF54-48BB-8CB9-B0597C5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918829"/>
            <a:ext cx="416728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 evaluates the PFS-derived score; the interaction HR is per one raw score unit.</a:t>
            </a:r>
          </a:p>
        </p:txBody>
      </p:sp>
      <p:sp>
        <p:nvSpPr>
          <p:cNvPr id="350" name="Text 350: SIMULATED DATA — workflow demonstration only">
            <a:extLst xmlns:a="http://schemas.openxmlformats.org/drawingml/2006/main">
              <a:ext uri="{FF2B5EF4-FFF2-40B4-BE49-F238E27FC236}">
                <a16:creationId xmlns:a16="http://schemas.microsoft.com/office/drawing/2014/main" id="{2DFCCAA0-F914-423D-8CF0-26973FA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2783" y="9327261"/>
            <a:ext cx="342443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33122"/>
                </a:solidFill>
                <a:latin typeface="Arial"/>
                <a:ea typeface="Arial"/>
                <a:cs typeface="Arial"/>
              </a:rPr>
              <a:t>SIMULATED DATA — workflow demonstration only</a:t>
            </a:r>
          </a:p>
        </p:txBody>
      </p:sp>
    </p:spTree>
    <p:extLst>
      <p:ext uri="{BB962C8B-B14F-4D97-AF65-F5344CB8AC3E}">
        <p14:creationId xmlns:p14="http://schemas.microsoft.com/office/powerpoint/2010/main" val="855188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2026-10-08T15:51:55.8510000Z</dcterms:created>
  <dcterms:modified xsi:type="dcterms:W3CDTF">2026-10-08T15:51:55.8520000Z</dcterms:modified>
</coreProperties>
</file>